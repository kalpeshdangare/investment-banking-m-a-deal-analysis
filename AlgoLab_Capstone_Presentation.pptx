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8" d="100"/>
          <a:sy n="88" d="100"/>
        </p:scale>
        <p:origin x="72"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rpreet Saluja" userId="739967c6d792d1f7" providerId="LiveId" clId="{5E45DEEB-4EA0-47A5-89E7-24DE51ACFB5A}"/>
    <pc:docChg chg="modSld">
      <pc:chgData name="Gurpreet Saluja" userId="739967c6d792d1f7" providerId="LiveId" clId="{5E45DEEB-4EA0-47A5-89E7-24DE51ACFB5A}" dt="2026-05-24T12:43:12.341" v="12" actId="1035"/>
      <pc:docMkLst>
        <pc:docMk/>
      </pc:docMkLst>
      <pc:sldChg chg="modSp mod">
        <pc:chgData name="Gurpreet Saluja" userId="739967c6d792d1f7" providerId="LiveId" clId="{5E45DEEB-4EA0-47A5-89E7-24DE51ACFB5A}" dt="2026-05-24T12:43:12.341" v="12" actId="1035"/>
        <pc:sldMkLst>
          <pc:docMk/>
          <pc:sldMk cId="0" sldId="270"/>
        </pc:sldMkLst>
        <pc:spChg chg="mod">
          <ac:chgData name="Gurpreet Saluja" userId="739967c6d792d1f7" providerId="LiveId" clId="{5E45DEEB-4EA0-47A5-89E7-24DE51ACFB5A}" dt="2026-05-24T12:43:12.341" v="12" actId="1035"/>
          <ac:spMkLst>
            <pc:docMk/>
            <pc:sldMk cId="0" sldId="270"/>
            <ac:spMk id="11"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321040" y="-91440"/>
            <a:ext cx="4023360" cy="70408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321040" y="-91440"/>
            <a:ext cx="54864" cy="7040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flipV="1">
            <a:off x="8686800" y="4663440"/>
            <a:ext cx="365760" cy="457200"/>
          </a:xfrm>
          <a:prstGeom prst="bentConnector3">
            <a:avLst/>
          </a:prstGeom>
          <a:ln w="31750">
            <a:solidFill>
              <a:srgbClr val="93C5FD"/>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052560" y="4663440"/>
            <a:ext cx="365760" cy="274320"/>
          </a:xfrm>
          <a:prstGeom prst="bentConnector3">
            <a:avLst/>
          </a:prstGeom>
          <a:ln w="31750">
            <a:solidFill>
              <a:srgbClr val="93C5FD"/>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9418320" y="4023360"/>
            <a:ext cx="365760" cy="914400"/>
          </a:xfrm>
          <a:prstGeom prst="bentConnector3">
            <a:avLst/>
          </a:prstGeom>
          <a:ln w="31750">
            <a:solidFill>
              <a:srgbClr val="93C5FD"/>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784080" y="4023360"/>
            <a:ext cx="365760" cy="274320"/>
          </a:xfrm>
          <a:prstGeom prst="bentConnector3">
            <a:avLst/>
          </a:prstGeom>
          <a:ln w="31750">
            <a:solidFill>
              <a:srgbClr val="93C5FD"/>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149840" y="3291840"/>
            <a:ext cx="365760" cy="1005840"/>
          </a:xfrm>
          <a:prstGeom prst="bentConnector3">
            <a:avLst/>
          </a:prstGeom>
          <a:ln w="31750">
            <a:solidFill>
              <a:srgbClr val="93C5FD"/>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515600" y="3291840"/>
            <a:ext cx="365760" cy="274320"/>
          </a:xfrm>
          <a:prstGeom prst="bentConnector3">
            <a:avLst/>
          </a:prstGeom>
          <a:ln w="31750">
            <a:solidFill>
              <a:srgbClr val="93C5FD"/>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0881360" y="2468880"/>
            <a:ext cx="365760" cy="1097280"/>
          </a:xfrm>
          <a:prstGeom prst="bentConnector3">
            <a:avLst/>
          </a:prstGeom>
          <a:ln w="31750">
            <a:solidFill>
              <a:srgbClr val="93C5FD"/>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247120" y="2468880"/>
            <a:ext cx="365760" cy="274320"/>
          </a:xfrm>
          <a:prstGeom prst="bentConnector3">
            <a:avLst/>
          </a:prstGeom>
          <a:ln w="31750">
            <a:solidFill>
              <a:srgbClr val="93C5FD"/>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612880" y="1920240"/>
            <a:ext cx="274320" cy="822960"/>
          </a:xfrm>
          <a:prstGeom prst="bentConnector3">
            <a:avLst/>
          </a:prstGeom>
          <a:ln w="31750">
            <a:solidFill>
              <a:srgbClr val="93C5FD"/>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641080" y="5074920"/>
            <a:ext cx="91440" cy="91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372600" y="4892040"/>
            <a:ext cx="91440" cy="91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104119" y="4251960"/>
            <a:ext cx="91440" cy="91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835640" y="3520440"/>
            <a:ext cx="91440" cy="91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567159" y="2697480"/>
            <a:ext cx="91440" cy="91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77240" y="914400"/>
            <a:ext cx="3185962" cy="29260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928115"/>
            <a:ext cx="3185962" cy="274320"/>
          </a:xfrm>
          <a:prstGeom prst="rect">
            <a:avLst/>
          </a:prstGeom>
          <a:noFill/>
        </p:spPr>
        <p:txBody>
          <a:bodyPr wrap="square" lIns="0" tIns="0" rIns="0" bIns="0" anchor="ctr">
            <a:spAutoFit/>
          </a:bodyPr>
          <a:lstStyle/>
          <a:p>
            <a:pPr algn="ctr">
              <a:lnSpc>
                <a:spcPct val="100000"/>
              </a:lnSpc>
              <a:spcBef>
                <a:spcPts val="0"/>
              </a:spcBef>
              <a:spcAft>
                <a:spcPts val="400"/>
              </a:spcAft>
            </a:pPr>
            <a:r>
              <a:rPr sz="1000" b="0" i="0">
                <a:solidFill>
                  <a:srgbClr val="FFFFFF"/>
                </a:solidFill>
                <a:latin typeface="Segoe UI"/>
              </a:rPr>
              <a:t>IIM MUMBAI  ·  CAPSTONE PROJECT  ·  GROUP 6</a:t>
            </a:r>
          </a:p>
        </p:txBody>
      </p:sp>
      <p:sp>
        <p:nvSpPr>
          <p:cNvPr id="21" name="TextBox 20"/>
          <p:cNvSpPr txBox="1"/>
          <p:nvPr/>
        </p:nvSpPr>
        <p:spPr>
          <a:xfrm>
            <a:off x="731520" y="1783080"/>
            <a:ext cx="7498079" cy="2194560"/>
          </a:xfrm>
          <a:prstGeom prst="rect">
            <a:avLst/>
          </a:prstGeom>
          <a:noFill/>
        </p:spPr>
        <p:txBody>
          <a:bodyPr wrap="square" lIns="0" tIns="0" rIns="0" bIns="0" anchor="t">
            <a:spAutoFit/>
          </a:bodyPr>
          <a:lstStyle/>
          <a:p>
            <a:pPr algn="l">
              <a:lnSpc>
                <a:spcPct val="102000"/>
              </a:lnSpc>
              <a:spcBef>
                <a:spcPts val="0"/>
              </a:spcBef>
              <a:spcAft>
                <a:spcPts val="400"/>
              </a:spcAft>
            </a:pPr>
            <a:r>
              <a:rPr sz="4400" b="0" i="0">
                <a:solidFill>
                  <a:srgbClr val="FFFFFF"/>
                </a:solidFill>
                <a:latin typeface="Segoe UI"/>
              </a:rPr>
              <a:t>End-to-End </a:t>
            </a:r>
            <a:r>
              <a:rPr sz="4400" b="0" i="0">
                <a:solidFill>
                  <a:srgbClr val="93C5FD"/>
                </a:solidFill>
                <a:latin typeface="Segoe UI"/>
              </a:rPr>
              <a:t>Algorithmic
Trading System</a:t>
            </a:r>
          </a:p>
        </p:txBody>
      </p:sp>
      <p:sp>
        <p:nvSpPr>
          <p:cNvPr id="22" name="TextBox 21"/>
          <p:cNvSpPr txBox="1"/>
          <p:nvPr/>
        </p:nvSpPr>
        <p:spPr>
          <a:xfrm>
            <a:off x="777240" y="3886200"/>
            <a:ext cx="7315200" cy="548640"/>
          </a:xfrm>
          <a:prstGeom prst="rect">
            <a:avLst/>
          </a:prstGeom>
          <a:noFill/>
        </p:spPr>
        <p:txBody>
          <a:bodyPr wrap="square" lIns="0" tIns="0" rIns="0" bIns="0" anchor="t">
            <a:spAutoFit/>
          </a:bodyPr>
          <a:lstStyle/>
          <a:p>
            <a:pPr algn="l">
              <a:lnSpc>
                <a:spcPct val="100000"/>
              </a:lnSpc>
              <a:spcBef>
                <a:spcPts val="0"/>
              </a:spcBef>
              <a:spcAft>
                <a:spcPts val="400"/>
              </a:spcAft>
            </a:pPr>
            <a:r>
              <a:rPr sz="2200" b="0" i="0">
                <a:solidFill>
                  <a:srgbClr val="C7D2FE"/>
                </a:solidFill>
                <a:latin typeface="Segoe UI"/>
              </a:rPr>
              <a:t>with Backtesting &amp; Risk Control</a:t>
            </a:r>
          </a:p>
        </p:txBody>
      </p:sp>
      <p:sp>
        <p:nvSpPr>
          <p:cNvPr id="23" name="Rectangle 22"/>
          <p:cNvSpPr/>
          <p:nvPr/>
        </p:nvSpPr>
        <p:spPr>
          <a:xfrm>
            <a:off x="777240" y="4572000"/>
            <a:ext cx="6400800" cy="16459"/>
          </a:xfrm>
          <a:prstGeom prst="rect">
            <a:avLst/>
          </a:prstGeom>
          <a:solidFill>
            <a:srgbClr val="334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4754880"/>
            <a:ext cx="7315200" cy="914400"/>
          </a:xfrm>
          <a:prstGeom prst="rect">
            <a:avLst/>
          </a:prstGeom>
          <a:noFill/>
        </p:spPr>
        <p:txBody>
          <a:bodyPr wrap="square" lIns="0" tIns="0" rIns="0" bIns="0" anchor="t">
            <a:spAutoFit/>
          </a:bodyPr>
          <a:lstStyle/>
          <a:p>
            <a:pPr algn="l">
              <a:lnSpc>
                <a:spcPct val="115000"/>
              </a:lnSpc>
              <a:spcBef>
                <a:spcPts val="0"/>
              </a:spcBef>
              <a:spcAft>
                <a:spcPts val="400"/>
              </a:spcAft>
            </a:pPr>
            <a:r>
              <a:rPr sz="1500" b="0" i="1">
                <a:solidFill>
                  <a:srgbClr val="C7D2FE"/>
                </a:solidFill>
                <a:latin typeface="Segoe UI"/>
              </a:rPr>
              <a:t>“Can a rule-based trading strategy generate consistent </a:t>
            </a:r>
          </a:p>
          <a:p>
            <a:pPr algn="l">
              <a:lnSpc>
                <a:spcPct val="115000"/>
              </a:lnSpc>
              <a:spcBef>
                <a:spcPts val="0"/>
              </a:spcBef>
              <a:spcAft>
                <a:spcPts val="400"/>
              </a:spcAft>
            </a:pPr>
            <a:r>
              <a:rPr sz="1500" b="0" i="1">
                <a:solidFill>
                  <a:srgbClr val="C7D2FE"/>
                </a:solidFill>
                <a:latin typeface="Segoe UI"/>
              </a:rPr>
              <a:t>returns after accounting for risk?”</a:t>
            </a:r>
          </a:p>
        </p:txBody>
      </p:sp>
      <p:sp>
        <p:nvSpPr>
          <p:cNvPr id="25" name="TextBox 24"/>
          <p:cNvSpPr txBox="1"/>
          <p:nvPr/>
        </p:nvSpPr>
        <p:spPr>
          <a:xfrm>
            <a:off x="777240" y="5989320"/>
            <a:ext cx="7315200" cy="45720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94A3B8"/>
                </a:solidFill>
                <a:latin typeface="Segoe UI"/>
              </a:rPr>
              <a:t>Faculty Advisor:  </a:t>
            </a:r>
            <a:r>
              <a:rPr sz="1100" b="1" i="0">
                <a:solidFill>
                  <a:srgbClr val="FFFFFF"/>
                </a:solidFill>
                <a:latin typeface="Segoe UI"/>
              </a:rPr>
              <a:t>Prof. Rakesh Verma</a:t>
            </a:r>
            <a:r>
              <a:rPr sz="1100" b="0" i="0">
                <a:solidFill>
                  <a:srgbClr val="94A3B8"/>
                </a:solidFill>
                <a:latin typeface="Segoe UI"/>
              </a:rPr>
              <a:t>        AlgoLab — a backtesting workbench for NSE equities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2563EB"/>
                </a:solidFill>
                <a:latin typeface="Segoe UI"/>
              </a:rPr>
              <a:t>CONTENTS</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What we'll walk through — start to finish</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02</a:t>
            </a:r>
          </a:p>
        </p:txBody>
      </p:sp>
      <p:sp>
        <p:nvSpPr>
          <p:cNvPr id="9" name="TextBox 8"/>
          <p:cNvSpPr txBox="1"/>
          <p:nvPr/>
        </p:nvSpPr>
        <p:spPr>
          <a:xfrm>
            <a:off x="594360" y="1481328"/>
            <a:ext cx="10972800" cy="36576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4B5563"/>
                </a:solidFill>
                <a:latin typeface="Segoe UI"/>
              </a:rPr>
              <a:t>No prior knowledge is assumed. We begin with the absolute basics and build up, one idea at a time.</a:t>
            </a:r>
          </a:p>
        </p:txBody>
      </p:sp>
      <p:sp>
        <p:nvSpPr>
          <p:cNvPr id="10" name="Rounded Rectangle 9"/>
          <p:cNvSpPr/>
          <p:nvPr/>
        </p:nvSpPr>
        <p:spPr>
          <a:xfrm>
            <a:off x="594360" y="1920240"/>
            <a:ext cx="3593592" cy="15544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94360" y="2066544"/>
            <a:ext cx="64008" cy="1261872"/>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2103120"/>
            <a:ext cx="1280160" cy="640080"/>
          </a:xfrm>
          <a:prstGeom prst="rect">
            <a:avLst/>
          </a:prstGeom>
          <a:noFill/>
        </p:spPr>
        <p:txBody>
          <a:bodyPr wrap="square" lIns="0" tIns="0" rIns="0" bIns="0" anchor="t">
            <a:spAutoFit/>
          </a:bodyPr>
          <a:lstStyle/>
          <a:p>
            <a:pPr algn="l">
              <a:lnSpc>
                <a:spcPct val="100000"/>
              </a:lnSpc>
              <a:spcBef>
                <a:spcPts val="0"/>
              </a:spcBef>
              <a:spcAft>
                <a:spcPts val="400"/>
              </a:spcAft>
            </a:pPr>
            <a:r>
              <a:rPr sz="3000" b="0" i="0">
                <a:solidFill>
                  <a:srgbClr val="2563EB"/>
                </a:solidFill>
                <a:latin typeface="Segoe UI"/>
              </a:rPr>
              <a:t>01</a:t>
            </a:r>
          </a:p>
        </p:txBody>
      </p:sp>
      <p:sp>
        <p:nvSpPr>
          <p:cNvPr id="13" name="TextBox 12"/>
          <p:cNvSpPr txBox="1"/>
          <p:nvPr/>
        </p:nvSpPr>
        <p:spPr>
          <a:xfrm>
            <a:off x="886968" y="2670048"/>
            <a:ext cx="3044952"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0" i="0">
                <a:solidFill>
                  <a:srgbClr val="0F172A"/>
                </a:solidFill>
                <a:latin typeface="Segoe UI"/>
              </a:rPr>
              <a:t>The basics &amp; the problem</a:t>
            </a:r>
          </a:p>
        </p:txBody>
      </p:sp>
      <p:sp>
        <p:nvSpPr>
          <p:cNvPr id="14" name="TextBox 13"/>
          <p:cNvSpPr txBox="1"/>
          <p:nvPr/>
        </p:nvSpPr>
        <p:spPr>
          <a:xfrm>
            <a:off x="886968" y="3017520"/>
            <a:ext cx="3090672" cy="457200"/>
          </a:xfrm>
          <a:prstGeom prst="rect">
            <a:avLst/>
          </a:prstGeom>
          <a:noFill/>
        </p:spPr>
        <p:txBody>
          <a:bodyPr wrap="square" lIns="0" tIns="0" rIns="0" bIns="0" anchor="t">
            <a:spAutoFit/>
          </a:bodyPr>
          <a:lstStyle/>
          <a:p>
            <a:pPr algn="l">
              <a:lnSpc>
                <a:spcPct val="105000"/>
              </a:lnSpc>
              <a:spcBef>
                <a:spcPts val="0"/>
              </a:spcBef>
              <a:spcAft>
                <a:spcPts val="400"/>
              </a:spcAft>
            </a:pPr>
            <a:r>
              <a:rPr sz="1050" b="0" i="0">
                <a:solidFill>
                  <a:srgbClr val="4B5563"/>
                </a:solidFill>
                <a:latin typeface="Segoe UI"/>
              </a:rPr>
              <a:t>What a share is, what we're really asking, and why it's hard</a:t>
            </a:r>
          </a:p>
        </p:txBody>
      </p:sp>
      <p:sp>
        <p:nvSpPr>
          <p:cNvPr id="15" name="Rounded Rectangle 14"/>
          <p:cNvSpPr/>
          <p:nvPr/>
        </p:nvSpPr>
        <p:spPr>
          <a:xfrm>
            <a:off x="4434840" y="1920240"/>
            <a:ext cx="3593592" cy="15544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434840" y="2066544"/>
            <a:ext cx="64008" cy="1261872"/>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27448" y="2103120"/>
            <a:ext cx="1280160" cy="640080"/>
          </a:xfrm>
          <a:prstGeom prst="rect">
            <a:avLst/>
          </a:prstGeom>
          <a:noFill/>
        </p:spPr>
        <p:txBody>
          <a:bodyPr wrap="square" lIns="0" tIns="0" rIns="0" bIns="0" anchor="t">
            <a:spAutoFit/>
          </a:bodyPr>
          <a:lstStyle/>
          <a:p>
            <a:pPr algn="l">
              <a:lnSpc>
                <a:spcPct val="100000"/>
              </a:lnSpc>
              <a:spcBef>
                <a:spcPts val="0"/>
              </a:spcBef>
              <a:spcAft>
                <a:spcPts val="400"/>
              </a:spcAft>
            </a:pPr>
            <a:r>
              <a:rPr sz="3000" b="0" i="0">
                <a:solidFill>
                  <a:srgbClr val="059669"/>
                </a:solidFill>
                <a:latin typeface="Segoe UI"/>
              </a:rPr>
              <a:t>02</a:t>
            </a:r>
          </a:p>
        </p:txBody>
      </p:sp>
      <p:sp>
        <p:nvSpPr>
          <p:cNvPr id="18" name="TextBox 17"/>
          <p:cNvSpPr txBox="1"/>
          <p:nvPr/>
        </p:nvSpPr>
        <p:spPr>
          <a:xfrm>
            <a:off x="4727448" y="2670048"/>
            <a:ext cx="3044952"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0" i="0">
                <a:solidFill>
                  <a:srgbClr val="0F172A"/>
                </a:solidFill>
                <a:latin typeface="Segoe UI"/>
              </a:rPr>
              <a:t>The key ideas</a:t>
            </a:r>
          </a:p>
        </p:txBody>
      </p:sp>
      <p:sp>
        <p:nvSpPr>
          <p:cNvPr id="19" name="TextBox 18"/>
          <p:cNvSpPr txBox="1"/>
          <p:nvPr/>
        </p:nvSpPr>
        <p:spPr>
          <a:xfrm>
            <a:off x="4727448" y="3017520"/>
            <a:ext cx="3090672" cy="457200"/>
          </a:xfrm>
          <a:prstGeom prst="rect">
            <a:avLst/>
          </a:prstGeom>
          <a:noFill/>
        </p:spPr>
        <p:txBody>
          <a:bodyPr wrap="square" lIns="0" tIns="0" rIns="0" bIns="0" anchor="t">
            <a:spAutoFit/>
          </a:bodyPr>
          <a:lstStyle/>
          <a:p>
            <a:pPr algn="l">
              <a:lnSpc>
                <a:spcPct val="105000"/>
              </a:lnSpc>
              <a:spcBef>
                <a:spcPts val="0"/>
              </a:spcBef>
              <a:spcAft>
                <a:spcPts val="400"/>
              </a:spcAft>
            </a:pPr>
            <a:r>
              <a:rPr sz="1050" b="0" i="0">
                <a:solidFill>
                  <a:srgbClr val="4B5563"/>
                </a:solidFill>
                <a:latin typeface="Segoe UI"/>
              </a:rPr>
              <a:t>Strategies, backtesting, and the app we built to test them</a:t>
            </a:r>
          </a:p>
        </p:txBody>
      </p:sp>
      <p:sp>
        <p:nvSpPr>
          <p:cNvPr id="20" name="Rounded Rectangle 19"/>
          <p:cNvSpPr/>
          <p:nvPr/>
        </p:nvSpPr>
        <p:spPr>
          <a:xfrm>
            <a:off x="8275320" y="1920240"/>
            <a:ext cx="3593592" cy="15544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275320" y="2066544"/>
            <a:ext cx="64008" cy="1261872"/>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67928" y="2103120"/>
            <a:ext cx="1280160" cy="640080"/>
          </a:xfrm>
          <a:prstGeom prst="rect">
            <a:avLst/>
          </a:prstGeom>
          <a:noFill/>
        </p:spPr>
        <p:txBody>
          <a:bodyPr wrap="square" lIns="0" tIns="0" rIns="0" bIns="0" anchor="t">
            <a:spAutoFit/>
          </a:bodyPr>
          <a:lstStyle/>
          <a:p>
            <a:pPr algn="l">
              <a:lnSpc>
                <a:spcPct val="100000"/>
              </a:lnSpc>
              <a:spcBef>
                <a:spcPts val="0"/>
              </a:spcBef>
              <a:spcAft>
                <a:spcPts val="400"/>
              </a:spcAft>
            </a:pPr>
            <a:r>
              <a:rPr sz="3000" b="0" i="0">
                <a:solidFill>
                  <a:srgbClr val="7C3AED"/>
                </a:solidFill>
                <a:latin typeface="Segoe UI"/>
              </a:rPr>
              <a:t>03</a:t>
            </a:r>
          </a:p>
        </p:txBody>
      </p:sp>
      <p:sp>
        <p:nvSpPr>
          <p:cNvPr id="23" name="TextBox 22"/>
          <p:cNvSpPr txBox="1"/>
          <p:nvPr/>
        </p:nvSpPr>
        <p:spPr>
          <a:xfrm>
            <a:off x="8567928" y="2670048"/>
            <a:ext cx="3044952"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0" i="0">
                <a:solidFill>
                  <a:srgbClr val="0F172A"/>
                </a:solidFill>
                <a:latin typeface="Segoe UI"/>
              </a:rPr>
              <a:t>The four strategies</a:t>
            </a:r>
          </a:p>
        </p:txBody>
      </p:sp>
      <p:sp>
        <p:nvSpPr>
          <p:cNvPr id="24" name="TextBox 23"/>
          <p:cNvSpPr txBox="1"/>
          <p:nvPr/>
        </p:nvSpPr>
        <p:spPr>
          <a:xfrm>
            <a:off x="8567928" y="3017520"/>
            <a:ext cx="3090672" cy="457200"/>
          </a:xfrm>
          <a:prstGeom prst="rect">
            <a:avLst/>
          </a:prstGeom>
          <a:noFill/>
        </p:spPr>
        <p:txBody>
          <a:bodyPr wrap="square" lIns="0" tIns="0" rIns="0" bIns="0" anchor="t">
            <a:spAutoFit/>
          </a:bodyPr>
          <a:lstStyle/>
          <a:p>
            <a:pPr algn="l">
              <a:lnSpc>
                <a:spcPct val="105000"/>
              </a:lnSpc>
              <a:spcBef>
                <a:spcPts val="0"/>
              </a:spcBef>
              <a:spcAft>
                <a:spcPts val="400"/>
              </a:spcAft>
            </a:pPr>
            <a:r>
              <a:rPr sz="1050" b="0" i="0">
                <a:solidFill>
                  <a:srgbClr val="4B5563"/>
                </a:solidFill>
                <a:latin typeface="Segoe UI"/>
              </a:rPr>
              <a:t>Each trading rule, in plain words, and why we chose it</a:t>
            </a:r>
          </a:p>
        </p:txBody>
      </p:sp>
      <p:sp>
        <p:nvSpPr>
          <p:cNvPr id="25" name="Rounded Rectangle 24"/>
          <p:cNvSpPr/>
          <p:nvPr/>
        </p:nvSpPr>
        <p:spPr>
          <a:xfrm>
            <a:off x="594360" y="3749039"/>
            <a:ext cx="3593592" cy="15544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94360" y="3895344"/>
            <a:ext cx="64008" cy="1261872"/>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6968" y="3931920"/>
            <a:ext cx="1280160" cy="640080"/>
          </a:xfrm>
          <a:prstGeom prst="rect">
            <a:avLst/>
          </a:prstGeom>
          <a:noFill/>
        </p:spPr>
        <p:txBody>
          <a:bodyPr wrap="square" lIns="0" tIns="0" rIns="0" bIns="0" anchor="t">
            <a:spAutoFit/>
          </a:bodyPr>
          <a:lstStyle/>
          <a:p>
            <a:pPr algn="l">
              <a:lnSpc>
                <a:spcPct val="100000"/>
              </a:lnSpc>
              <a:spcBef>
                <a:spcPts val="0"/>
              </a:spcBef>
              <a:spcAft>
                <a:spcPts val="400"/>
              </a:spcAft>
            </a:pPr>
            <a:r>
              <a:rPr sz="3000" b="0" i="0">
                <a:solidFill>
                  <a:srgbClr val="D97706"/>
                </a:solidFill>
                <a:latin typeface="Segoe UI"/>
              </a:rPr>
              <a:t>04</a:t>
            </a:r>
          </a:p>
        </p:txBody>
      </p:sp>
      <p:sp>
        <p:nvSpPr>
          <p:cNvPr id="28" name="TextBox 27"/>
          <p:cNvSpPr txBox="1"/>
          <p:nvPr/>
        </p:nvSpPr>
        <p:spPr>
          <a:xfrm>
            <a:off x="886968" y="4498848"/>
            <a:ext cx="3044952"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0" i="0">
                <a:solidFill>
                  <a:srgbClr val="0F172A"/>
                </a:solidFill>
                <a:latin typeface="Segoe UI"/>
              </a:rPr>
              <a:t>Risk, costs &amp; scoring</a:t>
            </a:r>
          </a:p>
        </p:txBody>
      </p:sp>
      <p:sp>
        <p:nvSpPr>
          <p:cNvPr id="29" name="TextBox 28"/>
          <p:cNvSpPr txBox="1"/>
          <p:nvPr/>
        </p:nvSpPr>
        <p:spPr>
          <a:xfrm>
            <a:off x="886968" y="4846320"/>
            <a:ext cx="3090672" cy="457200"/>
          </a:xfrm>
          <a:prstGeom prst="rect">
            <a:avLst/>
          </a:prstGeom>
          <a:noFill/>
        </p:spPr>
        <p:txBody>
          <a:bodyPr wrap="square" lIns="0" tIns="0" rIns="0" bIns="0" anchor="t">
            <a:spAutoFit/>
          </a:bodyPr>
          <a:lstStyle/>
          <a:p>
            <a:pPr algn="l">
              <a:lnSpc>
                <a:spcPct val="105000"/>
              </a:lnSpc>
              <a:spcBef>
                <a:spcPts val="0"/>
              </a:spcBef>
              <a:spcAft>
                <a:spcPts val="400"/>
              </a:spcAft>
            </a:pPr>
            <a:r>
              <a:rPr sz="1050" b="0" i="0">
                <a:solidFill>
                  <a:srgbClr val="4B5563"/>
                </a:solidFill>
                <a:latin typeface="Segoe UI"/>
              </a:rPr>
              <a:t>How we limit losses, count real costs, and grade results</a:t>
            </a:r>
          </a:p>
        </p:txBody>
      </p:sp>
      <p:sp>
        <p:nvSpPr>
          <p:cNvPr id="30" name="Rounded Rectangle 29"/>
          <p:cNvSpPr/>
          <p:nvPr/>
        </p:nvSpPr>
        <p:spPr>
          <a:xfrm>
            <a:off x="4434840" y="3749039"/>
            <a:ext cx="3593592" cy="15544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4434840" y="3895344"/>
            <a:ext cx="64008" cy="1261872"/>
          </a:xfrm>
          <a:prstGeom prst="roundRect">
            <a:avLst>
              <a:gd name="adj" fmla="val 50000"/>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27448" y="3931920"/>
            <a:ext cx="1280160" cy="640080"/>
          </a:xfrm>
          <a:prstGeom prst="rect">
            <a:avLst/>
          </a:prstGeom>
          <a:noFill/>
        </p:spPr>
        <p:txBody>
          <a:bodyPr wrap="square" lIns="0" tIns="0" rIns="0" bIns="0" anchor="t">
            <a:spAutoFit/>
          </a:bodyPr>
          <a:lstStyle/>
          <a:p>
            <a:pPr algn="l">
              <a:lnSpc>
                <a:spcPct val="100000"/>
              </a:lnSpc>
              <a:spcBef>
                <a:spcPts val="0"/>
              </a:spcBef>
              <a:spcAft>
                <a:spcPts val="400"/>
              </a:spcAft>
            </a:pPr>
            <a:r>
              <a:rPr sz="3000" b="0" i="0">
                <a:solidFill>
                  <a:srgbClr val="0891B2"/>
                </a:solidFill>
                <a:latin typeface="Segoe UI"/>
              </a:rPr>
              <a:t>05</a:t>
            </a:r>
          </a:p>
        </p:txBody>
      </p:sp>
      <p:sp>
        <p:nvSpPr>
          <p:cNvPr id="33" name="TextBox 32"/>
          <p:cNvSpPr txBox="1"/>
          <p:nvPr/>
        </p:nvSpPr>
        <p:spPr>
          <a:xfrm>
            <a:off x="4727448" y="4498848"/>
            <a:ext cx="3044952"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0" i="0">
                <a:solidFill>
                  <a:srgbClr val="0F172A"/>
                </a:solidFill>
                <a:latin typeface="Segoe UI"/>
              </a:rPr>
              <a:t>The app in action</a:t>
            </a:r>
          </a:p>
        </p:txBody>
      </p:sp>
      <p:sp>
        <p:nvSpPr>
          <p:cNvPr id="34" name="TextBox 33"/>
          <p:cNvSpPr txBox="1"/>
          <p:nvPr/>
        </p:nvSpPr>
        <p:spPr>
          <a:xfrm>
            <a:off x="4727448" y="4846320"/>
            <a:ext cx="3090672" cy="457200"/>
          </a:xfrm>
          <a:prstGeom prst="rect">
            <a:avLst/>
          </a:prstGeom>
          <a:noFill/>
        </p:spPr>
        <p:txBody>
          <a:bodyPr wrap="square" lIns="0" tIns="0" rIns="0" bIns="0" anchor="t">
            <a:spAutoFit/>
          </a:bodyPr>
          <a:lstStyle/>
          <a:p>
            <a:pPr algn="l">
              <a:lnSpc>
                <a:spcPct val="105000"/>
              </a:lnSpc>
              <a:spcBef>
                <a:spcPts val="0"/>
              </a:spcBef>
              <a:spcAft>
                <a:spcPts val="400"/>
              </a:spcAft>
            </a:pPr>
            <a:r>
              <a:rPr sz="1050" b="0" i="0">
                <a:solidFill>
                  <a:srgbClr val="4B5563"/>
                </a:solidFill>
                <a:latin typeface="Segoe UI"/>
              </a:rPr>
              <a:t>Running tests, comparing rules, and understanding each trade</a:t>
            </a:r>
          </a:p>
        </p:txBody>
      </p:sp>
      <p:sp>
        <p:nvSpPr>
          <p:cNvPr id="35" name="Rounded Rectangle 34"/>
          <p:cNvSpPr/>
          <p:nvPr/>
        </p:nvSpPr>
        <p:spPr>
          <a:xfrm>
            <a:off x="8275320" y="3749039"/>
            <a:ext cx="3593592" cy="15544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275320" y="3895344"/>
            <a:ext cx="64008" cy="1261872"/>
          </a:xfrm>
          <a:prstGeom prst="roundRect">
            <a:avLst>
              <a:gd name="adj" fmla="val 50000"/>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567928" y="3931920"/>
            <a:ext cx="1280160" cy="640080"/>
          </a:xfrm>
          <a:prstGeom prst="rect">
            <a:avLst/>
          </a:prstGeom>
          <a:noFill/>
        </p:spPr>
        <p:txBody>
          <a:bodyPr wrap="square" lIns="0" tIns="0" rIns="0" bIns="0" anchor="t">
            <a:spAutoFit/>
          </a:bodyPr>
          <a:lstStyle/>
          <a:p>
            <a:pPr algn="l">
              <a:lnSpc>
                <a:spcPct val="100000"/>
              </a:lnSpc>
              <a:spcBef>
                <a:spcPts val="0"/>
              </a:spcBef>
              <a:spcAft>
                <a:spcPts val="400"/>
              </a:spcAft>
            </a:pPr>
            <a:r>
              <a:rPr sz="3000" b="0" i="0">
                <a:solidFill>
                  <a:srgbClr val="DB2777"/>
                </a:solidFill>
                <a:latin typeface="Segoe UI"/>
              </a:rPr>
              <a:t>06</a:t>
            </a:r>
          </a:p>
        </p:txBody>
      </p:sp>
      <p:sp>
        <p:nvSpPr>
          <p:cNvPr id="38" name="TextBox 37"/>
          <p:cNvSpPr txBox="1"/>
          <p:nvPr/>
        </p:nvSpPr>
        <p:spPr>
          <a:xfrm>
            <a:off x="8567928" y="4498848"/>
            <a:ext cx="3044952"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0" i="0">
                <a:solidFill>
                  <a:srgbClr val="0F172A"/>
                </a:solidFill>
                <a:latin typeface="Segoe UI"/>
              </a:rPr>
              <a:t>Findings &amp; close</a:t>
            </a:r>
          </a:p>
        </p:txBody>
      </p:sp>
      <p:sp>
        <p:nvSpPr>
          <p:cNvPr id="39" name="TextBox 38"/>
          <p:cNvSpPr txBox="1"/>
          <p:nvPr/>
        </p:nvSpPr>
        <p:spPr>
          <a:xfrm>
            <a:off x="8567928" y="4846320"/>
            <a:ext cx="3090672" cy="457200"/>
          </a:xfrm>
          <a:prstGeom prst="rect">
            <a:avLst/>
          </a:prstGeom>
          <a:noFill/>
        </p:spPr>
        <p:txBody>
          <a:bodyPr wrap="square" lIns="0" tIns="0" rIns="0" bIns="0" anchor="t">
            <a:spAutoFit/>
          </a:bodyPr>
          <a:lstStyle/>
          <a:p>
            <a:pPr algn="l">
              <a:lnSpc>
                <a:spcPct val="105000"/>
              </a:lnSpc>
              <a:spcBef>
                <a:spcPts val="0"/>
              </a:spcBef>
              <a:spcAft>
                <a:spcPts val="400"/>
              </a:spcAft>
            </a:pPr>
            <a:r>
              <a:rPr sz="1050" b="0" i="0">
                <a:solidFill>
                  <a:srgbClr val="4B5563"/>
                </a:solidFill>
                <a:latin typeface="Segoe UI"/>
              </a:rPr>
              <a:t>What we found, what we learned, and our honest answer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2563EB"/>
                </a:solidFill>
                <a:latin typeface="Segoe UI"/>
              </a:rPr>
              <a:t>01 · THE BASICS</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First, the absolute basics</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03</a:t>
            </a:r>
          </a:p>
        </p:txBody>
      </p:sp>
      <p:sp>
        <p:nvSpPr>
          <p:cNvPr id="9" name="TextBox 8"/>
          <p:cNvSpPr txBox="1"/>
          <p:nvPr/>
        </p:nvSpPr>
        <p:spPr>
          <a:xfrm>
            <a:off x="594360" y="1645920"/>
            <a:ext cx="6903720" cy="4023360"/>
          </a:xfrm>
          <a:prstGeom prst="rect">
            <a:avLst/>
          </a:prstGeom>
          <a:noFill/>
        </p:spPr>
        <p:txBody>
          <a:bodyPr wrap="square" lIns="0" tIns="0" rIns="0" bIns="0">
            <a:spAutoFit/>
          </a:bodyPr>
          <a:lstStyle/>
          <a:p>
            <a:pPr>
              <a:lnSpc>
                <a:spcPct val="112000"/>
              </a:lnSpc>
              <a:spcBef>
                <a:spcPts val="0"/>
              </a:spcBef>
              <a:spcAft>
                <a:spcPts val="1300"/>
              </a:spcAft>
            </a:pPr>
            <a:r>
              <a:rPr sz="1350" b="1" i="0">
                <a:solidFill>
                  <a:srgbClr val="2563EB"/>
                </a:solidFill>
                <a:latin typeface="Segoe UI"/>
              </a:rPr>
              <a:t>▸  </a:t>
            </a:r>
            <a:r>
              <a:rPr sz="1350" b="0" i="0">
                <a:solidFill>
                  <a:srgbClr val="0F172A"/>
                </a:solidFill>
                <a:latin typeface="Segoe UI"/>
              </a:rPr>
              <a:t>A share is a tiny piece of ownership in a company. If a company were a giant pizza, one share would be a single slice — own it, and you own that slice of the business.</a:t>
            </a:r>
          </a:p>
          <a:p>
            <a:pPr>
              <a:lnSpc>
                <a:spcPct val="112000"/>
              </a:lnSpc>
              <a:spcBef>
                <a:spcPts val="0"/>
              </a:spcBef>
              <a:spcAft>
                <a:spcPts val="1300"/>
              </a:spcAft>
            </a:pPr>
            <a:r>
              <a:rPr sz="1350" b="1" i="0">
                <a:solidFill>
                  <a:srgbClr val="2563EB"/>
                </a:solidFill>
                <a:latin typeface="Segoe UI"/>
              </a:rPr>
              <a:t>▸  </a:t>
            </a:r>
            <a:r>
              <a:rPr sz="1350" b="0" i="0">
                <a:solidFill>
                  <a:srgbClr val="0F172A"/>
                </a:solidFill>
                <a:latin typeface="Segoe UI"/>
              </a:rPr>
              <a:t>Shares are bought and sold all day on a stock exchange. In India, the largest one is the NSE (National Stock Exchange). “Trading” simply means buying and selling these shares.</a:t>
            </a:r>
          </a:p>
          <a:p>
            <a:pPr>
              <a:lnSpc>
                <a:spcPct val="112000"/>
              </a:lnSpc>
              <a:spcBef>
                <a:spcPts val="0"/>
              </a:spcBef>
              <a:spcAft>
                <a:spcPts val="1300"/>
              </a:spcAft>
            </a:pPr>
            <a:r>
              <a:rPr sz="1350" b="1" i="0">
                <a:solidFill>
                  <a:srgbClr val="2563EB"/>
                </a:solidFill>
                <a:latin typeface="Segoe UI"/>
              </a:rPr>
              <a:t>▸  </a:t>
            </a:r>
            <a:r>
              <a:rPr sz="1350" b="0" i="0">
                <a:solidFill>
                  <a:srgbClr val="0F172A"/>
                </a:solidFill>
                <a:latin typeface="Segoe UI"/>
              </a:rPr>
              <a:t>A share’s price moves all the time because it reflects what thousands of buyers and sellers think the company is worth right now. More buyers push the price up; more sellers push it down.</a:t>
            </a:r>
          </a:p>
          <a:p>
            <a:pPr>
              <a:lnSpc>
                <a:spcPct val="112000"/>
              </a:lnSpc>
              <a:spcBef>
                <a:spcPts val="0"/>
              </a:spcBef>
              <a:spcAft>
                <a:spcPts val="1300"/>
              </a:spcAft>
            </a:pPr>
            <a:r>
              <a:rPr sz="1350" b="1" i="0">
                <a:solidFill>
                  <a:srgbClr val="2563EB"/>
                </a:solidFill>
                <a:latin typeface="Segoe UI"/>
              </a:rPr>
              <a:t>▸  </a:t>
            </a:r>
            <a:r>
              <a:rPr sz="1350" b="0" i="0">
                <a:solidFill>
                  <a:srgbClr val="0F172A"/>
                </a:solidFill>
                <a:latin typeface="Segoe UI"/>
              </a:rPr>
              <a:t>A trader tries to buy a share when its price is low and sell it later when the price is higher, keeping the difference as profit. If the price falls instead, that difference becomes a loss.</a:t>
            </a:r>
          </a:p>
        </p:txBody>
      </p:sp>
      <p:sp>
        <p:nvSpPr>
          <p:cNvPr id="10" name="Rounded Rectangle 9"/>
          <p:cNvSpPr/>
          <p:nvPr/>
        </p:nvSpPr>
        <p:spPr>
          <a:xfrm>
            <a:off x="7726679" y="1783080"/>
            <a:ext cx="3886200" cy="2286000"/>
          </a:xfrm>
          <a:prstGeom prst="roundRect">
            <a:avLst>
              <a:gd name="adj" fmla="val 6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19288" y="1929384"/>
            <a:ext cx="333756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0" i="0">
                <a:solidFill>
                  <a:srgbClr val="1D4ED8"/>
                </a:solidFill>
                <a:latin typeface="Segoe UI"/>
              </a:rPr>
              <a:t>THE WHOLE GAME IN ONE LINE</a:t>
            </a:r>
          </a:p>
        </p:txBody>
      </p:sp>
      <p:sp>
        <p:nvSpPr>
          <p:cNvPr id="12" name="TextBox 11"/>
          <p:cNvSpPr txBox="1"/>
          <p:nvPr/>
        </p:nvSpPr>
        <p:spPr>
          <a:xfrm>
            <a:off x="8019288" y="2203704"/>
            <a:ext cx="3319272" cy="1755648"/>
          </a:xfrm>
          <a:prstGeom prst="rect">
            <a:avLst/>
          </a:prstGeom>
          <a:noFill/>
        </p:spPr>
        <p:txBody>
          <a:bodyPr wrap="square" lIns="0" tIns="0" rIns="0" bIns="0" anchor="t">
            <a:spAutoFit/>
          </a:bodyPr>
          <a:lstStyle/>
          <a:p>
            <a:pPr algn="l">
              <a:lnSpc>
                <a:spcPct val="114000"/>
              </a:lnSpc>
              <a:spcBef>
                <a:spcPts val="0"/>
              </a:spcBef>
              <a:spcAft>
                <a:spcPts val="400"/>
              </a:spcAft>
            </a:pPr>
            <a:r>
              <a:rPr sz="1400" b="0" i="0">
                <a:solidFill>
                  <a:srgbClr val="0F172A"/>
                </a:solidFill>
                <a:latin typeface="Segoe UI"/>
              </a:rPr>
              <a:t>Buy low, sell higher — and do it often enough, and safely enough, that the small profits stack up into a real, reliable gain over time.</a:t>
            </a:r>
          </a:p>
        </p:txBody>
      </p:sp>
      <p:sp>
        <p:nvSpPr>
          <p:cNvPr id="13" name="Rounded Rectangle 12"/>
          <p:cNvSpPr/>
          <p:nvPr/>
        </p:nvSpPr>
        <p:spPr>
          <a:xfrm>
            <a:off x="7726679" y="4251960"/>
            <a:ext cx="3886200" cy="17830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726679" y="4398264"/>
            <a:ext cx="64008" cy="1490472"/>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82711" y="4416552"/>
            <a:ext cx="34290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D97706"/>
                </a:solidFill>
                <a:latin typeface="Segoe UI"/>
              </a:rPr>
              <a:t>The catch</a:t>
            </a:r>
          </a:p>
        </p:txBody>
      </p:sp>
      <p:sp>
        <p:nvSpPr>
          <p:cNvPr id="16" name="TextBox 15"/>
          <p:cNvSpPr txBox="1"/>
          <p:nvPr/>
        </p:nvSpPr>
        <p:spPr>
          <a:xfrm>
            <a:off x="8019288" y="4709160"/>
            <a:ext cx="3383280" cy="1280160"/>
          </a:xfrm>
          <a:prstGeom prst="rect">
            <a:avLst/>
          </a:prstGeom>
          <a:noFill/>
        </p:spPr>
        <p:txBody>
          <a:bodyPr wrap="square" lIns="0" tIns="0" rIns="0" bIns="0" anchor="t">
            <a:spAutoFit/>
          </a:bodyPr>
          <a:lstStyle/>
          <a:p>
            <a:pPr algn="l">
              <a:lnSpc>
                <a:spcPct val="116000"/>
              </a:lnSpc>
              <a:spcBef>
                <a:spcPts val="0"/>
              </a:spcBef>
              <a:spcAft>
                <a:spcPts val="400"/>
              </a:spcAft>
            </a:pPr>
            <a:r>
              <a:rPr sz="1150" b="0" i="0">
                <a:solidFill>
                  <a:srgbClr val="4B5563"/>
                </a:solidFill>
                <a:latin typeface="Segoe UI"/>
              </a:rPr>
              <a:t>Nobody knows the future. So the real question is not “what will go up?” but “is there a sensible, repeatable way to decide when to buy and sell that comes out ahead over many trades?”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2563EB"/>
                </a:solidFill>
                <a:latin typeface="Segoe UI"/>
              </a:rPr>
              <a:t>01 · THE BASICS</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What does “rule-based” or “algorithmic” trading mean?</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04</a:t>
            </a:r>
          </a:p>
        </p:txBody>
      </p:sp>
      <p:sp>
        <p:nvSpPr>
          <p:cNvPr id="9" name="Rounded Rectangle 8"/>
          <p:cNvSpPr/>
          <p:nvPr/>
        </p:nvSpPr>
        <p:spPr>
          <a:xfrm>
            <a:off x="594360" y="1600200"/>
            <a:ext cx="11002975" cy="1005840"/>
          </a:xfrm>
          <a:prstGeom prst="roundRect">
            <a:avLst>
              <a:gd name="adj" fmla="val 6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746504"/>
            <a:ext cx="10454335"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0" i="0">
                <a:solidFill>
                  <a:srgbClr val="1D4ED8"/>
                </a:solidFill>
                <a:latin typeface="Segoe UI"/>
              </a:rPr>
              <a:t>IN PLAIN ENGLISH</a:t>
            </a:r>
          </a:p>
        </p:txBody>
      </p:sp>
      <p:sp>
        <p:nvSpPr>
          <p:cNvPr id="11" name="TextBox 10"/>
          <p:cNvSpPr txBox="1"/>
          <p:nvPr/>
        </p:nvSpPr>
        <p:spPr>
          <a:xfrm>
            <a:off x="886968" y="2020824"/>
            <a:ext cx="10436047" cy="475488"/>
          </a:xfrm>
          <a:prstGeom prst="rect">
            <a:avLst/>
          </a:prstGeom>
          <a:noFill/>
        </p:spPr>
        <p:txBody>
          <a:bodyPr wrap="square" lIns="0" tIns="0" rIns="0" bIns="0" anchor="t">
            <a:spAutoFit/>
          </a:bodyPr>
          <a:lstStyle/>
          <a:p>
            <a:pPr algn="l">
              <a:lnSpc>
                <a:spcPct val="114000"/>
              </a:lnSpc>
              <a:spcBef>
                <a:spcPts val="0"/>
              </a:spcBef>
              <a:spcAft>
                <a:spcPts val="400"/>
              </a:spcAft>
            </a:pPr>
            <a:r>
              <a:rPr sz="1350" b="0" i="0">
                <a:solidFill>
                  <a:srgbClr val="0F172A"/>
                </a:solidFill>
                <a:latin typeface="Segoe UI"/>
              </a:rPr>
              <a:t>Algorithmic trading means deciding when to buy and sell using a fixed set of rules written as a computer program — instead of relying on gut feeling, tips, or emotion.</a:t>
            </a:r>
          </a:p>
        </p:txBody>
      </p:sp>
      <p:sp>
        <p:nvSpPr>
          <p:cNvPr id="12" name="TextBox 11"/>
          <p:cNvSpPr txBox="1"/>
          <p:nvPr/>
        </p:nvSpPr>
        <p:spPr>
          <a:xfrm>
            <a:off x="594360" y="2834640"/>
            <a:ext cx="6858000" cy="3200400"/>
          </a:xfrm>
          <a:prstGeom prst="rect">
            <a:avLst/>
          </a:prstGeom>
          <a:noFill/>
        </p:spPr>
        <p:txBody>
          <a:bodyPr wrap="square" lIns="0" tIns="0" rIns="0" bIns="0">
            <a:spAutoFit/>
          </a:bodyPr>
          <a:lstStyle/>
          <a:p>
            <a:pPr>
              <a:lnSpc>
                <a:spcPct val="112000"/>
              </a:lnSpc>
              <a:spcBef>
                <a:spcPts val="0"/>
              </a:spcBef>
              <a:spcAft>
                <a:spcPts val="1100"/>
              </a:spcAft>
            </a:pPr>
            <a:r>
              <a:rPr sz="1300" b="1" i="0">
                <a:solidFill>
                  <a:srgbClr val="2563EB"/>
                </a:solidFill>
                <a:latin typeface="Segoe UI"/>
              </a:rPr>
              <a:t>▸  </a:t>
            </a:r>
            <a:r>
              <a:rPr sz="1300" b="0" i="0">
                <a:solidFill>
                  <a:srgbClr val="0F172A"/>
                </a:solidFill>
                <a:latin typeface="Segoe UI"/>
              </a:rPr>
              <a:t>A human trader is emotional — they panic and sell when prices fall, and turn greedy when prices rise. A program follows the very same rule every single time, with no fear and no hope.</a:t>
            </a:r>
          </a:p>
          <a:p>
            <a:pPr>
              <a:lnSpc>
                <a:spcPct val="112000"/>
              </a:lnSpc>
              <a:spcBef>
                <a:spcPts val="0"/>
              </a:spcBef>
              <a:spcAft>
                <a:spcPts val="1100"/>
              </a:spcAft>
            </a:pPr>
            <a:r>
              <a:rPr sz="1300" b="1" i="0">
                <a:solidFill>
                  <a:srgbClr val="2563EB"/>
                </a:solidFill>
                <a:latin typeface="Segoe UI"/>
              </a:rPr>
              <a:t>▸  </a:t>
            </a:r>
            <a:r>
              <a:rPr sz="1300" b="0" i="0">
                <a:solidFill>
                  <a:srgbClr val="0F172A"/>
                </a:solidFill>
                <a:latin typeface="Segoe UI"/>
              </a:rPr>
              <a:t>Because the rules are written as code, we can replay them over many years of real past prices and measure, exactly, how well they would have done.</a:t>
            </a:r>
          </a:p>
          <a:p>
            <a:pPr>
              <a:lnSpc>
                <a:spcPct val="112000"/>
              </a:lnSpc>
              <a:spcBef>
                <a:spcPts val="0"/>
              </a:spcBef>
              <a:spcAft>
                <a:spcPts val="1100"/>
              </a:spcAft>
            </a:pPr>
            <a:r>
              <a:rPr sz="1300" b="1" i="0">
                <a:solidFill>
                  <a:srgbClr val="2563EB"/>
                </a:solidFill>
                <a:latin typeface="Segoe UI"/>
              </a:rPr>
              <a:t>▸  </a:t>
            </a:r>
            <a:r>
              <a:rPr sz="1300" b="1" i="0">
                <a:solidFill>
                  <a:srgbClr val="0F172A"/>
                </a:solidFill>
                <a:latin typeface="Segoe UI"/>
              </a:rPr>
              <a:t>A rule can be as simple as:</a:t>
            </a:r>
            <a:r>
              <a:rPr sz="1300" b="0" i="0">
                <a:solidFill>
                  <a:srgbClr val="0F172A"/>
                </a:solidFill>
                <a:latin typeface="Segoe UI"/>
              </a:rPr>
              <a:t> “buy when the price has been climbing steadily, and sell when it starts to slip.” Clear, mechanical, and repeatable by anyone.</a:t>
            </a:r>
          </a:p>
          <a:p>
            <a:pPr>
              <a:lnSpc>
                <a:spcPct val="112000"/>
              </a:lnSpc>
              <a:spcBef>
                <a:spcPts val="0"/>
              </a:spcBef>
              <a:spcAft>
                <a:spcPts val="1100"/>
              </a:spcAft>
            </a:pPr>
            <a:r>
              <a:rPr sz="1300" b="1" i="0">
                <a:solidFill>
                  <a:srgbClr val="2563EB"/>
                </a:solidFill>
                <a:latin typeface="Segoe UI"/>
              </a:rPr>
              <a:t>▸  </a:t>
            </a:r>
            <a:r>
              <a:rPr sz="1300" b="0" i="0">
                <a:solidFill>
                  <a:srgbClr val="0F172A"/>
                </a:solidFill>
                <a:latin typeface="Segoe UI"/>
              </a:rPr>
              <a:t>This project builds four such rule-sets and, most importantly, checks whether they truly make money once real-world costs and risks are taken into account.</a:t>
            </a:r>
          </a:p>
        </p:txBody>
      </p:sp>
      <p:sp>
        <p:nvSpPr>
          <p:cNvPr id="13" name="Rounded Rectangle 12"/>
          <p:cNvSpPr/>
          <p:nvPr/>
        </p:nvSpPr>
        <p:spPr>
          <a:xfrm>
            <a:off x="7680960" y="2834640"/>
            <a:ext cx="3931920" cy="2743200"/>
          </a:xfrm>
          <a:prstGeom prst="roundRect">
            <a:avLst>
              <a:gd name="adj" fmla="val 6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73568" y="2980944"/>
            <a:ext cx="3383279"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0" i="0">
                <a:solidFill>
                  <a:srgbClr val="059669"/>
                </a:solidFill>
                <a:latin typeface="Segoe UI"/>
              </a:rPr>
              <a:t>A SIMPLE ANALOGY</a:t>
            </a:r>
          </a:p>
        </p:txBody>
      </p:sp>
      <p:sp>
        <p:nvSpPr>
          <p:cNvPr id="15" name="TextBox 14"/>
          <p:cNvSpPr txBox="1"/>
          <p:nvPr/>
        </p:nvSpPr>
        <p:spPr>
          <a:xfrm>
            <a:off x="7973568" y="3255264"/>
            <a:ext cx="3364991" cy="2212848"/>
          </a:xfrm>
          <a:prstGeom prst="rect">
            <a:avLst/>
          </a:prstGeom>
          <a:noFill/>
        </p:spPr>
        <p:txBody>
          <a:bodyPr wrap="square" lIns="0" tIns="0" rIns="0" bIns="0" anchor="t">
            <a:spAutoFit/>
          </a:bodyPr>
          <a:lstStyle/>
          <a:p>
            <a:pPr algn="l">
              <a:lnSpc>
                <a:spcPct val="114000"/>
              </a:lnSpc>
              <a:spcBef>
                <a:spcPts val="0"/>
              </a:spcBef>
              <a:spcAft>
                <a:spcPts val="400"/>
              </a:spcAft>
            </a:pPr>
            <a:r>
              <a:rPr sz="1300" b="0" i="0">
                <a:solidFill>
                  <a:srgbClr val="0F172A"/>
                </a:solidFill>
                <a:latin typeface="Segoe UI"/>
              </a:rPr>
              <a:t>It’s like a cooking recipe: anyone — or any computer — who follows the exact same steps gets the exact same dish. No improvising, no mood swings, no “I had a feeling about this one.”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2563EB"/>
                </a:solidFill>
                <a:latin typeface="Segoe UI"/>
              </a:rPr>
              <a:t>01 · THE BASICS</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Our problem statement &amp; the one question we answer</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05</a:t>
            </a:r>
          </a:p>
        </p:txBody>
      </p:sp>
      <p:sp>
        <p:nvSpPr>
          <p:cNvPr id="9" name="Rounded Rectangle 8"/>
          <p:cNvSpPr/>
          <p:nvPr/>
        </p:nvSpPr>
        <p:spPr>
          <a:xfrm>
            <a:off x="594360" y="1600200"/>
            <a:ext cx="6720840" cy="1783080"/>
          </a:xfrm>
          <a:prstGeom prst="roundRect">
            <a:avLst>
              <a:gd name="adj" fmla="val 5000"/>
            </a:avLst>
          </a:prstGeom>
          <a:solidFill>
            <a:srgbClr val="0F172A"/>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792224"/>
            <a:ext cx="6126480" cy="365760"/>
          </a:xfrm>
          <a:prstGeom prst="rect">
            <a:avLst/>
          </a:prstGeom>
          <a:noFill/>
        </p:spPr>
        <p:txBody>
          <a:bodyPr wrap="square" lIns="0" tIns="0" rIns="0" bIns="0" anchor="t">
            <a:spAutoFit/>
          </a:bodyPr>
          <a:lstStyle/>
          <a:p>
            <a:pPr algn="l">
              <a:lnSpc>
                <a:spcPct val="100000"/>
              </a:lnSpc>
              <a:spcBef>
                <a:spcPts val="0"/>
              </a:spcBef>
              <a:spcAft>
                <a:spcPts val="400"/>
              </a:spcAft>
            </a:pPr>
            <a:r>
              <a:rPr sz="1050" b="0" i="0">
                <a:solidFill>
                  <a:srgbClr val="93C5FD"/>
                </a:solidFill>
                <a:latin typeface="Segoe UI"/>
              </a:rPr>
              <a:t>THE QUESTION THIS PROJECT SETS OUT TO ANSWER</a:t>
            </a:r>
          </a:p>
        </p:txBody>
      </p:sp>
      <p:sp>
        <p:nvSpPr>
          <p:cNvPr id="11" name="TextBox 10"/>
          <p:cNvSpPr txBox="1"/>
          <p:nvPr/>
        </p:nvSpPr>
        <p:spPr>
          <a:xfrm>
            <a:off x="914400" y="2139696"/>
            <a:ext cx="6172200" cy="1188720"/>
          </a:xfrm>
          <a:prstGeom prst="rect">
            <a:avLst/>
          </a:prstGeom>
          <a:noFill/>
        </p:spPr>
        <p:txBody>
          <a:bodyPr wrap="square" lIns="0" tIns="0" rIns="0" bIns="0" anchor="t">
            <a:spAutoFit/>
          </a:bodyPr>
          <a:lstStyle/>
          <a:p>
            <a:pPr algn="l">
              <a:lnSpc>
                <a:spcPct val="112000"/>
              </a:lnSpc>
              <a:spcBef>
                <a:spcPts val="0"/>
              </a:spcBef>
              <a:spcAft>
                <a:spcPts val="400"/>
              </a:spcAft>
            </a:pPr>
            <a:r>
              <a:rPr sz="1800" b="0" i="0">
                <a:solidFill>
                  <a:srgbClr val="FFFFFF"/>
                </a:solidFill>
                <a:latin typeface="Segoe UI"/>
              </a:rPr>
              <a:t>“Can a rule-based trading strategy generate consistent returns after accounting for risk?”</a:t>
            </a:r>
          </a:p>
        </p:txBody>
      </p:sp>
      <p:sp>
        <p:nvSpPr>
          <p:cNvPr id="12" name="TextBox 11"/>
          <p:cNvSpPr txBox="1"/>
          <p:nvPr/>
        </p:nvSpPr>
        <p:spPr>
          <a:xfrm>
            <a:off x="7589520" y="1691640"/>
            <a:ext cx="4069080" cy="4297680"/>
          </a:xfrm>
          <a:prstGeom prst="rect">
            <a:avLst/>
          </a:prstGeom>
          <a:noFill/>
        </p:spPr>
        <p:txBody>
          <a:bodyPr wrap="square" lIns="0" tIns="0" rIns="0" bIns="0">
            <a:spAutoFit/>
          </a:bodyPr>
          <a:lstStyle/>
          <a:p>
            <a:pPr>
              <a:lnSpc>
                <a:spcPct val="112000"/>
              </a:lnSpc>
              <a:spcBef>
                <a:spcPts val="0"/>
              </a:spcBef>
              <a:spcAft>
                <a:spcPts val="1300"/>
              </a:spcAft>
            </a:pPr>
            <a:r>
              <a:rPr sz="1250" b="1" i="0">
                <a:solidFill>
                  <a:srgbClr val="2563EB"/>
                </a:solidFill>
                <a:latin typeface="Segoe UI"/>
              </a:rPr>
              <a:t>▸  </a:t>
            </a:r>
            <a:r>
              <a:rPr sz="1250" b="1" i="0">
                <a:solidFill>
                  <a:srgbClr val="0F172A"/>
                </a:solidFill>
                <a:latin typeface="Segoe UI"/>
              </a:rPr>
              <a:t>In plain words:</a:t>
            </a:r>
            <a:r>
              <a:rPr sz="1250" b="0" i="0">
                <a:solidFill>
                  <a:srgbClr val="0F172A"/>
                </a:solidFill>
                <a:latin typeface="Segoe UI"/>
              </a:rPr>
              <a:t> if we trade strictly by rules, will we reliably end up with more money than we started — without taking dangerous gambles to get there?</a:t>
            </a:r>
          </a:p>
          <a:p>
            <a:pPr>
              <a:lnSpc>
                <a:spcPct val="112000"/>
              </a:lnSpc>
              <a:spcBef>
                <a:spcPts val="0"/>
              </a:spcBef>
              <a:spcAft>
                <a:spcPts val="1300"/>
              </a:spcAft>
            </a:pPr>
            <a:r>
              <a:rPr sz="1250" b="1" i="0">
                <a:solidFill>
                  <a:srgbClr val="2563EB"/>
                </a:solidFill>
                <a:latin typeface="Segoe UI"/>
              </a:rPr>
              <a:t>▸  </a:t>
            </a:r>
            <a:r>
              <a:rPr sz="1250" b="0" i="0">
                <a:solidFill>
                  <a:srgbClr val="0F172A"/>
                </a:solidFill>
                <a:latin typeface="Segoe UI"/>
              </a:rPr>
              <a:t>“Consistent” is the key word. Anyone can get lucky once. We want results that hold up across hundreds of trades, many different stocks, and good and bad markets alike.</a:t>
            </a:r>
          </a:p>
          <a:p>
            <a:pPr>
              <a:lnSpc>
                <a:spcPct val="112000"/>
              </a:lnSpc>
              <a:spcBef>
                <a:spcPts val="0"/>
              </a:spcBef>
              <a:spcAft>
                <a:spcPts val="1300"/>
              </a:spcAft>
            </a:pPr>
            <a:r>
              <a:rPr sz="1250" b="1" i="0">
                <a:solidFill>
                  <a:srgbClr val="2563EB"/>
                </a:solidFill>
                <a:latin typeface="Segoe UI"/>
              </a:rPr>
              <a:t>▸  </a:t>
            </a:r>
            <a:r>
              <a:rPr sz="1250" b="0" i="0">
                <a:solidFill>
                  <a:srgbClr val="0F172A"/>
                </a:solidFill>
                <a:latin typeface="Segoe UI"/>
              </a:rPr>
              <a:t>“After accounting for risk” means we refuse to celebrate a big profit if it was earned by nearly wiping out the account along the way.</a:t>
            </a:r>
          </a:p>
        </p:txBody>
      </p:sp>
      <p:sp>
        <p:nvSpPr>
          <p:cNvPr id="13" name="Rounded Rectangle 12"/>
          <p:cNvSpPr/>
          <p:nvPr/>
        </p:nvSpPr>
        <p:spPr>
          <a:xfrm>
            <a:off x="594360" y="3611880"/>
            <a:ext cx="6720840" cy="251460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94360" y="3758184"/>
            <a:ext cx="64008" cy="2221992"/>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3776472"/>
            <a:ext cx="626364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0F172A"/>
                </a:solidFill>
                <a:latin typeface="Segoe UI"/>
              </a:rPr>
              <a:t>Why this question is genuinely hard</a:t>
            </a:r>
          </a:p>
        </p:txBody>
      </p:sp>
      <p:sp>
        <p:nvSpPr>
          <p:cNvPr id="16" name="TextBox 15"/>
          <p:cNvSpPr txBox="1"/>
          <p:nvPr/>
        </p:nvSpPr>
        <p:spPr>
          <a:xfrm>
            <a:off x="914400" y="4114800"/>
            <a:ext cx="6263640" cy="1920240"/>
          </a:xfrm>
          <a:prstGeom prst="rect">
            <a:avLst/>
          </a:prstGeom>
          <a:noFill/>
        </p:spPr>
        <p:txBody>
          <a:bodyPr wrap="square" lIns="0" tIns="0" rIns="0" bIns="0">
            <a:spAutoFit/>
          </a:bodyPr>
          <a:lstStyle/>
          <a:p>
            <a:pPr>
              <a:lnSpc>
                <a:spcPct val="112000"/>
              </a:lnSpc>
              <a:spcBef>
                <a:spcPts val="0"/>
              </a:spcBef>
              <a:spcAft>
                <a:spcPts val="700"/>
              </a:spcAft>
            </a:pPr>
            <a:r>
              <a:rPr sz="1150" b="1" i="0">
                <a:solidFill>
                  <a:srgbClr val="2563EB"/>
                </a:solidFill>
                <a:latin typeface="Segoe UI"/>
              </a:rPr>
              <a:t>▸  </a:t>
            </a:r>
            <a:r>
              <a:rPr sz="1150" b="1" i="0">
                <a:solidFill>
                  <a:srgbClr val="0F172A"/>
                </a:solidFill>
                <a:latin typeface="Segoe UI"/>
              </a:rPr>
              <a:t>Markets are noisy:</a:t>
            </a:r>
            <a:r>
              <a:rPr sz="1150" b="0" i="0">
                <a:solidFill>
                  <a:srgbClr val="0F172A"/>
                </a:solidFill>
                <a:latin typeface="Segoe UI"/>
              </a:rPr>
              <a:t> a rule can look brilliant on one stock or one year, then fail badly on the next.</a:t>
            </a:r>
          </a:p>
          <a:p>
            <a:pPr>
              <a:lnSpc>
                <a:spcPct val="112000"/>
              </a:lnSpc>
              <a:spcBef>
                <a:spcPts val="0"/>
              </a:spcBef>
              <a:spcAft>
                <a:spcPts val="700"/>
              </a:spcAft>
            </a:pPr>
            <a:r>
              <a:rPr sz="1150" b="1" i="0">
                <a:solidFill>
                  <a:srgbClr val="2563EB"/>
                </a:solidFill>
                <a:latin typeface="Segoe UI"/>
              </a:rPr>
              <a:t>▸  </a:t>
            </a:r>
            <a:r>
              <a:rPr sz="1150" b="1" i="0">
                <a:solidFill>
                  <a:srgbClr val="0F172A"/>
                </a:solidFill>
                <a:latin typeface="Segoe UI"/>
              </a:rPr>
              <a:t>Costs bite:</a:t>
            </a:r>
            <a:r>
              <a:rPr sz="1150" b="0" i="0">
                <a:solidFill>
                  <a:srgbClr val="0F172A"/>
                </a:solidFill>
                <a:latin typeface="Segoe UI"/>
              </a:rPr>
              <a:t> brokerage and taxes quietly eat away an edge that looked great “on paper”.</a:t>
            </a:r>
          </a:p>
          <a:p>
            <a:pPr>
              <a:lnSpc>
                <a:spcPct val="112000"/>
              </a:lnSpc>
              <a:spcBef>
                <a:spcPts val="0"/>
              </a:spcBef>
              <a:spcAft>
                <a:spcPts val="700"/>
              </a:spcAft>
            </a:pPr>
            <a:r>
              <a:rPr sz="1150" b="1" i="0">
                <a:solidFill>
                  <a:srgbClr val="2563EB"/>
                </a:solidFill>
                <a:latin typeface="Segoe UI"/>
              </a:rPr>
              <a:t>▸  </a:t>
            </a:r>
            <a:r>
              <a:rPr sz="1150" b="1" i="0">
                <a:solidFill>
                  <a:srgbClr val="0F172A"/>
                </a:solidFill>
                <a:latin typeface="Segoe UI"/>
              </a:rPr>
              <a:t>Risk is not the same as return:</a:t>
            </a:r>
            <a:r>
              <a:rPr sz="1150" b="0" i="0">
                <a:solidFill>
                  <a:srgbClr val="0F172A"/>
                </a:solidFill>
                <a:latin typeface="Segoe UI"/>
              </a:rPr>
              <a:t> a high profit earned through stomach-churning crashes is not something anyone could actually live with.</a:t>
            </a:r>
          </a:p>
          <a:p>
            <a:pPr>
              <a:lnSpc>
                <a:spcPct val="112000"/>
              </a:lnSpc>
              <a:spcBef>
                <a:spcPts val="0"/>
              </a:spcBef>
              <a:spcAft>
                <a:spcPts val="700"/>
              </a:spcAft>
            </a:pPr>
            <a:r>
              <a:rPr sz="1150" b="1" i="0">
                <a:solidFill>
                  <a:srgbClr val="2563EB"/>
                </a:solidFill>
                <a:latin typeface="Segoe UI"/>
              </a:rPr>
              <a:t>▸  </a:t>
            </a:r>
            <a:r>
              <a:rPr sz="1150" b="1" i="0">
                <a:solidFill>
                  <a:srgbClr val="0F172A"/>
                </a:solidFill>
                <a:latin typeface="Segoe UI"/>
              </a:rPr>
              <a:t>Backtests can deceive:</a:t>
            </a:r>
            <a:r>
              <a:rPr sz="1150" b="0" i="0">
                <a:solidFill>
                  <a:srgbClr val="0F172A"/>
                </a:solidFill>
                <a:latin typeface="Segoe UI"/>
              </a:rPr>
              <a:t> small mistakes can make a losing idea look like a winner — so honest testing is most of the real 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059669"/>
                </a:solidFill>
                <a:latin typeface="Segoe UI"/>
              </a:rPr>
              <a:t>02 · THE KEY IDEAS</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Two ideas you need: a “strategy” and a “backtest”</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06</a:t>
            </a:r>
          </a:p>
        </p:txBody>
      </p:sp>
      <p:sp>
        <p:nvSpPr>
          <p:cNvPr id="9" name="Rounded Rectangle 8"/>
          <p:cNvSpPr/>
          <p:nvPr/>
        </p:nvSpPr>
        <p:spPr>
          <a:xfrm>
            <a:off x="594360" y="1645920"/>
            <a:ext cx="5486400" cy="196596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94360" y="1792224"/>
            <a:ext cx="64008" cy="1673351"/>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 y="1810512"/>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0F172A"/>
                </a:solidFill>
                <a:latin typeface="Segoe UI"/>
              </a:rPr>
              <a:t>①  A strategy = the rulebook</a:t>
            </a:r>
          </a:p>
        </p:txBody>
      </p:sp>
      <p:sp>
        <p:nvSpPr>
          <p:cNvPr id="12" name="TextBox 11"/>
          <p:cNvSpPr txBox="1"/>
          <p:nvPr/>
        </p:nvSpPr>
        <p:spPr>
          <a:xfrm>
            <a:off x="886968" y="2121408"/>
            <a:ext cx="4937760" cy="1371600"/>
          </a:xfrm>
          <a:prstGeom prst="rect">
            <a:avLst/>
          </a:prstGeom>
          <a:noFill/>
        </p:spPr>
        <p:txBody>
          <a:bodyPr wrap="square" lIns="0" tIns="0" rIns="0" bIns="0" anchor="t">
            <a:spAutoFit/>
          </a:bodyPr>
          <a:lstStyle/>
          <a:p>
            <a:pPr algn="l">
              <a:lnSpc>
                <a:spcPct val="118000"/>
              </a:lnSpc>
              <a:spcBef>
                <a:spcPts val="0"/>
              </a:spcBef>
              <a:spcAft>
                <a:spcPts val="400"/>
              </a:spcAft>
            </a:pPr>
            <a:r>
              <a:rPr sz="1250" b="0" i="0">
                <a:solidFill>
                  <a:srgbClr val="4B5563"/>
                </a:solidFill>
                <a:latin typeface="Segoe UI"/>
              </a:rPr>
              <a:t>A strategy is the exact, written set of conditions that decide when to buy and when to sell — with no exceptions and no guessing. If the condition is true, it acts; if not, it waits. That is the whole of it.</a:t>
            </a:r>
          </a:p>
        </p:txBody>
      </p:sp>
      <p:sp>
        <p:nvSpPr>
          <p:cNvPr id="13" name="Rounded Rectangle 12"/>
          <p:cNvSpPr/>
          <p:nvPr/>
        </p:nvSpPr>
        <p:spPr>
          <a:xfrm>
            <a:off x="6263640" y="1645920"/>
            <a:ext cx="5349240" cy="196596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263640" y="1792224"/>
            <a:ext cx="64008" cy="1673351"/>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19672" y="1810512"/>
            <a:ext cx="489204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0F172A"/>
                </a:solidFill>
                <a:latin typeface="Segoe UI"/>
              </a:rPr>
              <a:t>②  A backtest = a test-drive through history</a:t>
            </a:r>
          </a:p>
        </p:txBody>
      </p:sp>
      <p:sp>
        <p:nvSpPr>
          <p:cNvPr id="16" name="TextBox 15"/>
          <p:cNvSpPr txBox="1"/>
          <p:nvPr/>
        </p:nvSpPr>
        <p:spPr>
          <a:xfrm>
            <a:off x="6556248" y="2121408"/>
            <a:ext cx="4800600" cy="1371600"/>
          </a:xfrm>
          <a:prstGeom prst="rect">
            <a:avLst/>
          </a:prstGeom>
          <a:noFill/>
        </p:spPr>
        <p:txBody>
          <a:bodyPr wrap="square" lIns="0" tIns="0" rIns="0" bIns="0" anchor="t">
            <a:spAutoFit/>
          </a:bodyPr>
          <a:lstStyle/>
          <a:p>
            <a:pPr algn="l">
              <a:lnSpc>
                <a:spcPct val="118000"/>
              </a:lnSpc>
              <a:spcBef>
                <a:spcPts val="0"/>
              </a:spcBef>
              <a:spcAft>
                <a:spcPts val="400"/>
              </a:spcAft>
            </a:pPr>
            <a:r>
              <a:rPr sz="1250" b="0" i="0">
                <a:solidFill>
                  <a:srgbClr val="4B5563"/>
                </a:solidFill>
                <a:latin typeface="Segoe UI"/>
              </a:rPr>
              <a:t>A backtest takes a strategy and replays it across years of real past prices, pretending we were trading back then. It lets us see exactly how the rules would have performed — without risking a single rupee.</a:t>
            </a:r>
          </a:p>
        </p:txBody>
      </p:sp>
      <p:sp>
        <p:nvSpPr>
          <p:cNvPr id="17" name="Rounded Rectangle 16"/>
          <p:cNvSpPr/>
          <p:nvPr/>
        </p:nvSpPr>
        <p:spPr>
          <a:xfrm>
            <a:off x="594360" y="3794760"/>
            <a:ext cx="6400800" cy="1417320"/>
          </a:xfrm>
          <a:prstGeom prst="roundRect">
            <a:avLst>
              <a:gd name="adj" fmla="val 6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 y="3941064"/>
            <a:ext cx="585216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0" i="0">
                <a:solidFill>
                  <a:srgbClr val="059669"/>
                </a:solidFill>
                <a:latin typeface="Segoe UI"/>
              </a:rPr>
              <a:t>THE ANALOGY THAT MAKES IT CLICK</a:t>
            </a:r>
          </a:p>
        </p:txBody>
      </p:sp>
      <p:sp>
        <p:nvSpPr>
          <p:cNvPr id="19" name="TextBox 18"/>
          <p:cNvSpPr txBox="1"/>
          <p:nvPr/>
        </p:nvSpPr>
        <p:spPr>
          <a:xfrm>
            <a:off x="886968" y="4215384"/>
            <a:ext cx="5833872" cy="886968"/>
          </a:xfrm>
          <a:prstGeom prst="rect">
            <a:avLst/>
          </a:prstGeom>
          <a:noFill/>
        </p:spPr>
        <p:txBody>
          <a:bodyPr wrap="square" lIns="0" tIns="0" rIns="0" bIns="0" anchor="t">
            <a:spAutoFit/>
          </a:bodyPr>
          <a:lstStyle/>
          <a:p>
            <a:pPr algn="l">
              <a:lnSpc>
                <a:spcPct val="114000"/>
              </a:lnSpc>
              <a:spcBef>
                <a:spcPts val="0"/>
              </a:spcBef>
              <a:spcAft>
                <a:spcPts val="400"/>
              </a:spcAft>
            </a:pPr>
            <a:r>
              <a:rPr sz="1300" b="0" i="0">
                <a:solidFill>
                  <a:srgbClr val="0F172A"/>
                </a:solidFill>
                <a:latin typeface="Segoe UI"/>
              </a:rPr>
              <a:t>A backtest is a flight simulator for trading. Pilots rehearse emergencies safely on the ground before ever flying a real plane. We test trading rules safely on past data before risking real money.</a:t>
            </a:r>
          </a:p>
        </p:txBody>
      </p:sp>
      <p:sp>
        <p:nvSpPr>
          <p:cNvPr id="20" name="Rounded Rectangle 19"/>
          <p:cNvSpPr/>
          <p:nvPr/>
        </p:nvSpPr>
        <p:spPr>
          <a:xfrm>
            <a:off x="7178040" y="3794760"/>
            <a:ext cx="4434840" cy="141732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178040" y="3941064"/>
            <a:ext cx="64008" cy="1124712"/>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34071" y="3959352"/>
            <a:ext cx="3977639"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DC2626"/>
                </a:solidFill>
                <a:latin typeface="Segoe UI"/>
              </a:rPr>
              <a:t>⚠  A backtest can fool you</a:t>
            </a:r>
          </a:p>
        </p:txBody>
      </p:sp>
      <p:sp>
        <p:nvSpPr>
          <p:cNvPr id="23" name="TextBox 22"/>
          <p:cNvSpPr txBox="1"/>
          <p:nvPr/>
        </p:nvSpPr>
        <p:spPr>
          <a:xfrm>
            <a:off x="7470648" y="4224528"/>
            <a:ext cx="3931920" cy="914400"/>
          </a:xfrm>
          <a:prstGeom prst="rect">
            <a:avLst/>
          </a:prstGeom>
          <a:noFill/>
        </p:spPr>
        <p:txBody>
          <a:bodyPr wrap="square" lIns="0" tIns="0" rIns="0" bIns="0" anchor="t">
            <a:spAutoFit/>
          </a:bodyPr>
          <a:lstStyle/>
          <a:p>
            <a:pPr algn="l">
              <a:lnSpc>
                <a:spcPct val="114000"/>
              </a:lnSpc>
              <a:spcBef>
                <a:spcPts val="0"/>
              </a:spcBef>
              <a:spcAft>
                <a:spcPts val="400"/>
              </a:spcAft>
            </a:pPr>
            <a:r>
              <a:rPr sz="1100" b="0" i="0">
                <a:solidFill>
                  <a:srgbClr val="4B5563"/>
                </a:solidFill>
                <a:latin typeface="Segoe UI"/>
              </a:rPr>
              <a:t>If you accidentally let the rules “peek” at future prices, or forget to subtract trading costs, a losing idea can look like a winner. Avoiding these traps is the hard part.</a:t>
            </a:r>
          </a:p>
        </p:txBody>
      </p:sp>
      <p:sp>
        <p:nvSpPr>
          <p:cNvPr id="24" name="TextBox 23"/>
          <p:cNvSpPr txBox="1"/>
          <p:nvPr/>
        </p:nvSpPr>
        <p:spPr>
          <a:xfrm>
            <a:off x="594360" y="5440680"/>
            <a:ext cx="11002975" cy="548640"/>
          </a:xfrm>
          <a:prstGeom prst="rect">
            <a:avLst/>
          </a:prstGeom>
          <a:noFill/>
        </p:spPr>
        <p:txBody>
          <a:bodyPr wrap="square" lIns="0" tIns="0" rIns="0" bIns="0" anchor="t">
            <a:spAutoFit/>
          </a:bodyPr>
          <a:lstStyle/>
          <a:p>
            <a:pPr algn="l">
              <a:lnSpc>
                <a:spcPct val="110000"/>
              </a:lnSpc>
              <a:spcBef>
                <a:spcPts val="0"/>
              </a:spcBef>
              <a:spcAft>
                <a:spcPts val="400"/>
              </a:spcAft>
            </a:pPr>
            <a:r>
              <a:rPr sz="1300" b="1" i="0">
                <a:solidFill>
                  <a:srgbClr val="0F172A"/>
                </a:solidFill>
                <a:latin typeface="Segoe UI"/>
              </a:rPr>
              <a:t>Our project, in one sentence:  </a:t>
            </a:r>
            <a:r>
              <a:rPr sz="1300" b="0" i="0">
                <a:solidFill>
                  <a:srgbClr val="4B5563"/>
                </a:solidFill>
                <a:latin typeface="Segoe UI"/>
              </a:rPr>
              <a:t>we wrote four strategies, backtested each one honestly on real Indian stocks, and measured whether any of them truly comes out ahead.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059669"/>
                </a:solidFill>
                <a:latin typeface="Segoe UI"/>
              </a:rPr>
              <a:t>02 · THE KEY IDEAS</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Our solution — AlgoLab, in plain words</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07</a:t>
            </a:r>
          </a:p>
        </p:txBody>
      </p:sp>
      <p:sp>
        <p:nvSpPr>
          <p:cNvPr id="9" name="Rounded Rectangle 8"/>
          <p:cNvSpPr/>
          <p:nvPr/>
        </p:nvSpPr>
        <p:spPr>
          <a:xfrm>
            <a:off x="594360" y="1600200"/>
            <a:ext cx="11002975" cy="1051560"/>
          </a:xfrm>
          <a:prstGeom prst="roundRect">
            <a:avLst>
              <a:gd name="adj" fmla="val 6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746504"/>
            <a:ext cx="10454335"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0" i="0">
                <a:solidFill>
                  <a:srgbClr val="059669"/>
                </a:solidFill>
                <a:latin typeface="Segoe UI"/>
              </a:rPr>
              <a:t>WHAT ALGOLAB IS</a:t>
            </a:r>
          </a:p>
        </p:txBody>
      </p:sp>
      <p:sp>
        <p:nvSpPr>
          <p:cNvPr id="11" name="TextBox 10"/>
          <p:cNvSpPr txBox="1"/>
          <p:nvPr/>
        </p:nvSpPr>
        <p:spPr>
          <a:xfrm>
            <a:off x="886968" y="2020824"/>
            <a:ext cx="10436047" cy="521207"/>
          </a:xfrm>
          <a:prstGeom prst="rect">
            <a:avLst/>
          </a:prstGeom>
          <a:noFill/>
        </p:spPr>
        <p:txBody>
          <a:bodyPr wrap="square" lIns="0" tIns="0" rIns="0" bIns="0" anchor="t">
            <a:spAutoFit/>
          </a:bodyPr>
          <a:lstStyle/>
          <a:p>
            <a:pPr algn="l">
              <a:lnSpc>
                <a:spcPct val="114000"/>
              </a:lnSpc>
              <a:spcBef>
                <a:spcPts val="0"/>
              </a:spcBef>
              <a:spcAft>
                <a:spcPts val="400"/>
              </a:spcAft>
            </a:pPr>
            <a:r>
              <a:rPr sz="1350" b="0" i="0">
                <a:solidFill>
                  <a:srgbClr val="0F172A"/>
                </a:solidFill>
                <a:latin typeface="Segoe UI"/>
              </a:rPr>
              <a:t>AlgoLab is the desktop app we built. You pick an Indian stock, choose a strategy, and AlgoLab shows you exactly how that strategy would have performed on that stock in the past — with realistic costs already deducted.</a:t>
            </a:r>
          </a:p>
        </p:txBody>
      </p:sp>
      <p:sp>
        <p:nvSpPr>
          <p:cNvPr id="12" name="TextBox 11"/>
          <p:cNvSpPr txBox="1"/>
          <p:nvPr/>
        </p:nvSpPr>
        <p:spPr>
          <a:xfrm>
            <a:off x="594360" y="2788920"/>
            <a:ext cx="5486400" cy="32004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94A3B8"/>
                </a:solidFill>
                <a:latin typeface="Segoe UI"/>
              </a:rPr>
              <a:t>WHAT YOU DO — FOUR SIMPLE STEPS</a:t>
            </a:r>
          </a:p>
        </p:txBody>
      </p:sp>
      <p:sp>
        <p:nvSpPr>
          <p:cNvPr id="13" name="Rounded Rectangle 12"/>
          <p:cNvSpPr/>
          <p:nvPr/>
        </p:nvSpPr>
        <p:spPr>
          <a:xfrm>
            <a:off x="594360" y="3154680"/>
            <a:ext cx="2715768" cy="1874519"/>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94360" y="3300984"/>
            <a:ext cx="64008" cy="1581911"/>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50392" y="3346704"/>
            <a:ext cx="457200" cy="457200"/>
          </a:xfrm>
          <a:prstGeom prst="roundRect">
            <a:avLst>
              <a:gd name="adj" fmla="val 3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0392" y="3383280"/>
            <a:ext cx="457200" cy="411480"/>
          </a:xfrm>
          <a:prstGeom prst="rect">
            <a:avLst/>
          </a:prstGeom>
          <a:noFill/>
        </p:spPr>
        <p:txBody>
          <a:bodyPr wrap="square" lIns="0" tIns="0" rIns="0" bIns="0" anchor="ctr">
            <a:spAutoFit/>
          </a:bodyPr>
          <a:lstStyle/>
          <a:p>
            <a:pPr algn="ctr">
              <a:lnSpc>
                <a:spcPct val="100000"/>
              </a:lnSpc>
              <a:spcBef>
                <a:spcPts val="0"/>
              </a:spcBef>
              <a:spcAft>
                <a:spcPts val="400"/>
              </a:spcAft>
            </a:pPr>
            <a:r>
              <a:rPr sz="2000" b="0" i="0">
                <a:solidFill>
                  <a:srgbClr val="FFFFFF"/>
                </a:solidFill>
                <a:latin typeface="Segoe UI"/>
              </a:rPr>
              <a:t>1</a:t>
            </a:r>
          </a:p>
        </p:txBody>
      </p:sp>
      <p:sp>
        <p:nvSpPr>
          <p:cNvPr id="17" name="TextBox 16"/>
          <p:cNvSpPr txBox="1"/>
          <p:nvPr/>
        </p:nvSpPr>
        <p:spPr>
          <a:xfrm>
            <a:off x="850392" y="3913632"/>
            <a:ext cx="2258568" cy="365760"/>
          </a:xfrm>
          <a:prstGeom prst="rect">
            <a:avLst/>
          </a:prstGeom>
          <a:noFill/>
        </p:spPr>
        <p:txBody>
          <a:bodyPr wrap="square" lIns="0" tIns="0" rIns="0" bIns="0" anchor="t">
            <a:spAutoFit/>
          </a:bodyPr>
          <a:lstStyle/>
          <a:p>
            <a:pPr algn="l">
              <a:lnSpc>
                <a:spcPct val="100000"/>
              </a:lnSpc>
              <a:spcBef>
                <a:spcPts val="0"/>
              </a:spcBef>
              <a:spcAft>
                <a:spcPts val="400"/>
              </a:spcAft>
            </a:pPr>
            <a:r>
              <a:rPr sz="1350" b="0" i="0">
                <a:solidFill>
                  <a:srgbClr val="0F172A"/>
                </a:solidFill>
                <a:latin typeface="Segoe UI"/>
              </a:rPr>
              <a:t>Pick a stock</a:t>
            </a:r>
          </a:p>
        </p:txBody>
      </p:sp>
      <p:sp>
        <p:nvSpPr>
          <p:cNvPr id="18" name="TextBox 17"/>
          <p:cNvSpPr txBox="1"/>
          <p:nvPr/>
        </p:nvSpPr>
        <p:spPr>
          <a:xfrm>
            <a:off x="850392" y="4297680"/>
            <a:ext cx="2240280" cy="685800"/>
          </a:xfrm>
          <a:prstGeom prst="rect">
            <a:avLst/>
          </a:prstGeom>
          <a:noFill/>
        </p:spPr>
        <p:txBody>
          <a:bodyPr wrap="square" lIns="0" tIns="0" rIns="0" bIns="0" anchor="t">
            <a:spAutoFit/>
          </a:bodyPr>
          <a:lstStyle/>
          <a:p>
            <a:pPr algn="l">
              <a:lnSpc>
                <a:spcPct val="110000"/>
              </a:lnSpc>
              <a:spcBef>
                <a:spcPts val="0"/>
              </a:spcBef>
              <a:spcAft>
                <a:spcPts val="400"/>
              </a:spcAft>
            </a:pPr>
            <a:r>
              <a:rPr sz="1050" b="0" i="0">
                <a:solidFill>
                  <a:srgbClr val="4B5563"/>
                </a:solidFill>
                <a:latin typeface="Segoe UI"/>
              </a:rPr>
              <a:t>Log in securely and choose any NSE company — say Reliance or HDFC Bank.</a:t>
            </a:r>
          </a:p>
        </p:txBody>
      </p:sp>
      <p:sp>
        <p:nvSpPr>
          <p:cNvPr id="19" name="TextBox 18"/>
          <p:cNvSpPr txBox="1"/>
          <p:nvPr/>
        </p:nvSpPr>
        <p:spPr>
          <a:xfrm>
            <a:off x="3291840" y="3657600"/>
            <a:ext cx="274320" cy="457200"/>
          </a:xfrm>
          <a:prstGeom prst="rect">
            <a:avLst/>
          </a:prstGeom>
          <a:noFill/>
        </p:spPr>
        <p:txBody>
          <a:bodyPr wrap="square" lIns="0" tIns="0" rIns="0" bIns="0" anchor="t">
            <a:spAutoFit/>
          </a:bodyPr>
          <a:lstStyle/>
          <a:p>
            <a:pPr algn="l">
              <a:lnSpc>
                <a:spcPct val="100000"/>
              </a:lnSpc>
              <a:spcBef>
                <a:spcPts val="0"/>
              </a:spcBef>
              <a:spcAft>
                <a:spcPts val="400"/>
              </a:spcAft>
            </a:pPr>
            <a:r>
              <a:rPr sz="2000" b="0" i="0">
                <a:solidFill>
                  <a:srgbClr val="94A3B8"/>
                </a:solidFill>
                <a:latin typeface="Segoe UI"/>
              </a:rPr>
              <a:t>→</a:t>
            </a:r>
          </a:p>
        </p:txBody>
      </p:sp>
      <p:sp>
        <p:nvSpPr>
          <p:cNvPr id="20" name="Rounded Rectangle 19"/>
          <p:cNvSpPr/>
          <p:nvPr/>
        </p:nvSpPr>
        <p:spPr>
          <a:xfrm>
            <a:off x="3456432" y="3154680"/>
            <a:ext cx="2715768" cy="1874519"/>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456432" y="3300984"/>
            <a:ext cx="64008" cy="1581911"/>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712464" y="3346704"/>
            <a:ext cx="457200" cy="457200"/>
          </a:xfrm>
          <a:prstGeom prst="roundRect">
            <a:avLst>
              <a:gd name="adj" fmla="val 3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712464" y="3383280"/>
            <a:ext cx="457200" cy="411480"/>
          </a:xfrm>
          <a:prstGeom prst="rect">
            <a:avLst/>
          </a:prstGeom>
          <a:noFill/>
        </p:spPr>
        <p:txBody>
          <a:bodyPr wrap="square" lIns="0" tIns="0" rIns="0" bIns="0" anchor="ctr">
            <a:spAutoFit/>
          </a:bodyPr>
          <a:lstStyle/>
          <a:p>
            <a:pPr algn="ctr">
              <a:lnSpc>
                <a:spcPct val="100000"/>
              </a:lnSpc>
              <a:spcBef>
                <a:spcPts val="0"/>
              </a:spcBef>
              <a:spcAft>
                <a:spcPts val="400"/>
              </a:spcAft>
            </a:pPr>
            <a:r>
              <a:rPr sz="2000" b="0" i="0">
                <a:solidFill>
                  <a:srgbClr val="FFFFFF"/>
                </a:solidFill>
                <a:latin typeface="Segoe UI"/>
              </a:rPr>
              <a:t>2</a:t>
            </a:r>
          </a:p>
        </p:txBody>
      </p:sp>
      <p:sp>
        <p:nvSpPr>
          <p:cNvPr id="24" name="TextBox 23"/>
          <p:cNvSpPr txBox="1"/>
          <p:nvPr/>
        </p:nvSpPr>
        <p:spPr>
          <a:xfrm>
            <a:off x="3712464" y="3913632"/>
            <a:ext cx="2258568" cy="365760"/>
          </a:xfrm>
          <a:prstGeom prst="rect">
            <a:avLst/>
          </a:prstGeom>
          <a:noFill/>
        </p:spPr>
        <p:txBody>
          <a:bodyPr wrap="square" lIns="0" tIns="0" rIns="0" bIns="0" anchor="t">
            <a:spAutoFit/>
          </a:bodyPr>
          <a:lstStyle/>
          <a:p>
            <a:pPr algn="l">
              <a:lnSpc>
                <a:spcPct val="100000"/>
              </a:lnSpc>
              <a:spcBef>
                <a:spcPts val="0"/>
              </a:spcBef>
              <a:spcAft>
                <a:spcPts val="400"/>
              </a:spcAft>
            </a:pPr>
            <a:r>
              <a:rPr sz="1350" b="0" i="0">
                <a:solidFill>
                  <a:srgbClr val="0F172A"/>
                </a:solidFill>
                <a:latin typeface="Segoe UI"/>
              </a:rPr>
              <a:t>Choose a strategy</a:t>
            </a:r>
          </a:p>
        </p:txBody>
      </p:sp>
      <p:sp>
        <p:nvSpPr>
          <p:cNvPr id="25" name="TextBox 24"/>
          <p:cNvSpPr txBox="1"/>
          <p:nvPr/>
        </p:nvSpPr>
        <p:spPr>
          <a:xfrm>
            <a:off x="3712464" y="4297680"/>
            <a:ext cx="2240280" cy="685800"/>
          </a:xfrm>
          <a:prstGeom prst="rect">
            <a:avLst/>
          </a:prstGeom>
          <a:noFill/>
        </p:spPr>
        <p:txBody>
          <a:bodyPr wrap="square" lIns="0" tIns="0" rIns="0" bIns="0" anchor="t">
            <a:spAutoFit/>
          </a:bodyPr>
          <a:lstStyle/>
          <a:p>
            <a:pPr algn="l">
              <a:lnSpc>
                <a:spcPct val="110000"/>
              </a:lnSpc>
              <a:spcBef>
                <a:spcPts val="0"/>
              </a:spcBef>
              <a:spcAft>
                <a:spcPts val="400"/>
              </a:spcAft>
            </a:pPr>
            <a:r>
              <a:rPr sz="1050" b="0" i="0">
                <a:solidFill>
                  <a:srgbClr val="4B5563"/>
                </a:solidFill>
                <a:latin typeface="Segoe UI"/>
              </a:rPr>
              <a:t>Select one of the four trading rules and the time period to test.</a:t>
            </a:r>
          </a:p>
        </p:txBody>
      </p:sp>
      <p:sp>
        <p:nvSpPr>
          <p:cNvPr id="26" name="TextBox 25"/>
          <p:cNvSpPr txBox="1"/>
          <p:nvPr/>
        </p:nvSpPr>
        <p:spPr>
          <a:xfrm>
            <a:off x="6153912" y="3657600"/>
            <a:ext cx="274320" cy="457200"/>
          </a:xfrm>
          <a:prstGeom prst="rect">
            <a:avLst/>
          </a:prstGeom>
          <a:noFill/>
        </p:spPr>
        <p:txBody>
          <a:bodyPr wrap="square" lIns="0" tIns="0" rIns="0" bIns="0" anchor="t">
            <a:spAutoFit/>
          </a:bodyPr>
          <a:lstStyle/>
          <a:p>
            <a:pPr algn="l">
              <a:lnSpc>
                <a:spcPct val="100000"/>
              </a:lnSpc>
              <a:spcBef>
                <a:spcPts val="0"/>
              </a:spcBef>
              <a:spcAft>
                <a:spcPts val="400"/>
              </a:spcAft>
            </a:pPr>
            <a:r>
              <a:rPr sz="2000" b="0" i="0">
                <a:solidFill>
                  <a:srgbClr val="94A3B8"/>
                </a:solidFill>
                <a:latin typeface="Segoe UI"/>
              </a:rPr>
              <a:t>→</a:t>
            </a:r>
          </a:p>
        </p:txBody>
      </p:sp>
      <p:sp>
        <p:nvSpPr>
          <p:cNvPr id="27" name="Rounded Rectangle 26"/>
          <p:cNvSpPr/>
          <p:nvPr/>
        </p:nvSpPr>
        <p:spPr>
          <a:xfrm>
            <a:off x="6318504" y="3154680"/>
            <a:ext cx="2715768" cy="1874519"/>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318504" y="3300984"/>
            <a:ext cx="64008" cy="1581911"/>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574536" y="3346704"/>
            <a:ext cx="457200" cy="457200"/>
          </a:xfrm>
          <a:prstGeom prst="roundRect">
            <a:avLst>
              <a:gd name="adj" fmla="val 3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74536" y="3383280"/>
            <a:ext cx="457200" cy="411480"/>
          </a:xfrm>
          <a:prstGeom prst="rect">
            <a:avLst/>
          </a:prstGeom>
          <a:noFill/>
        </p:spPr>
        <p:txBody>
          <a:bodyPr wrap="square" lIns="0" tIns="0" rIns="0" bIns="0" anchor="ctr">
            <a:spAutoFit/>
          </a:bodyPr>
          <a:lstStyle/>
          <a:p>
            <a:pPr algn="ctr">
              <a:lnSpc>
                <a:spcPct val="100000"/>
              </a:lnSpc>
              <a:spcBef>
                <a:spcPts val="0"/>
              </a:spcBef>
              <a:spcAft>
                <a:spcPts val="400"/>
              </a:spcAft>
            </a:pPr>
            <a:r>
              <a:rPr sz="2000" b="0" i="0">
                <a:solidFill>
                  <a:srgbClr val="FFFFFF"/>
                </a:solidFill>
                <a:latin typeface="Segoe UI"/>
              </a:rPr>
              <a:t>3</a:t>
            </a:r>
          </a:p>
        </p:txBody>
      </p:sp>
      <p:sp>
        <p:nvSpPr>
          <p:cNvPr id="31" name="TextBox 30"/>
          <p:cNvSpPr txBox="1"/>
          <p:nvPr/>
        </p:nvSpPr>
        <p:spPr>
          <a:xfrm>
            <a:off x="6574536" y="3913632"/>
            <a:ext cx="2258568" cy="365760"/>
          </a:xfrm>
          <a:prstGeom prst="rect">
            <a:avLst/>
          </a:prstGeom>
          <a:noFill/>
        </p:spPr>
        <p:txBody>
          <a:bodyPr wrap="square" lIns="0" tIns="0" rIns="0" bIns="0" anchor="t">
            <a:spAutoFit/>
          </a:bodyPr>
          <a:lstStyle/>
          <a:p>
            <a:pPr algn="l">
              <a:lnSpc>
                <a:spcPct val="100000"/>
              </a:lnSpc>
              <a:spcBef>
                <a:spcPts val="0"/>
              </a:spcBef>
              <a:spcAft>
                <a:spcPts val="400"/>
              </a:spcAft>
            </a:pPr>
            <a:r>
              <a:rPr sz="1350" b="0" i="0">
                <a:solidFill>
                  <a:srgbClr val="0F172A"/>
                </a:solidFill>
                <a:latin typeface="Segoe UI"/>
              </a:rPr>
              <a:t>Click “Run”</a:t>
            </a:r>
          </a:p>
        </p:txBody>
      </p:sp>
      <p:sp>
        <p:nvSpPr>
          <p:cNvPr id="32" name="TextBox 31"/>
          <p:cNvSpPr txBox="1"/>
          <p:nvPr/>
        </p:nvSpPr>
        <p:spPr>
          <a:xfrm>
            <a:off x="6574536" y="4297680"/>
            <a:ext cx="2240280" cy="685800"/>
          </a:xfrm>
          <a:prstGeom prst="rect">
            <a:avLst/>
          </a:prstGeom>
          <a:noFill/>
        </p:spPr>
        <p:txBody>
          <a:bodyPr wrap="square" lIns="0" tIns="0" rIns="0" bIns="0" anchor="t">
            <a:spAutoFit/>
          </a:bodyPr>
          <a:lstStyle/>
          <a:p>
            <a:pPr algn="l">
              <a:lnSpc>
                <a:spcPct val="110000"/>
              </a:lnSpc>
              <a:spcBef>
                <a:spcPts val="0"/>
              </a:spcBef>
              <a:spcAft>
                <a:spcPts val="400"/>
              </a:spcAft>
            </a:pPr>
            <a:r>
              <a:rPr sz="1050" b="0" i="0">
                <a:solidFill>
                  <a:srgbClr val="4B5563"/>
                </a:solidFill>
                <a:latin typeface="Segoe UI"/>
              </a:rPr>
              <a:t>AlgoLab replays history day by day and trades strictly by the rules.</a:t>
            </a:r>
          </a:p>
        </p:txBody>
      </p:sp>
      <p:sp>
        <p:nvSpPr>
          <p:cNvPr id="33" name="TextBox 32"/>
          <p:cNvSpPr txBox="1"/>
          <p:nvPr/>
        </p:nvSpPr>
        <p:spPr>
          <a:xfrm>
            <a:off x="9015984" y="3657600"/>
            <a:ext cx="274320" cy="457200"/>
          </a:xfrm>
          <a:prstGeom prst="rect">
            <a:avLst/>
          </a:prstGeom>
          <a:noFill/>
        </p:spPr>
        <p:txBody>
          <a:bodyPr wrap="square" lIns="0" tIns="0" rIns="0" bIns="0" anchor="t">
            <a:spAutoFit/>
          </a:bodyPr>
          <a:lstStyle/>
          <a:p>
            <a:pPr algn="l">
              <a:lnSpc>
                <a:spcPct val="100000"/>
              </a:lnSpc>
              <a:spcBef>
                <a:spcPts val="0"/>
              </a:spcBef>
              <a:spcAft>
                <a:spcPts val="400"/>
              </a:spcAft>
            </a:pPr>
            <a:r>
              <a:rPr sz="2000" b="0" i="0">
                <a:solidFill>
                  <a:srgbClr val="94A3B8"/>
                </a:solidFill>
                <a:latin typeface="Segoe UI"/>
              </a:rPr>
              <a:t>→</a:t>
            </a:r>
          </a:p>
        </p:txBody>
      </p:sp>
      <p:sp>
        <p:nvSpPr>
          <p:cNvPr id="34" name="Rounded Rectangle 33"/>
          <p:cNvSpPr/>
          <p:nvPr/>
        </p:nvSpPr>
        <p:spPr>
          <a:xfrm>
            <a:off x="9180576" y="3154680"/>
            <a:ext cx="2715768" cy="1874519"/>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180576" y="3300984"/>
            <a:ext cx="64008" cy="1581911"/>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9436608" y="3346704"/>
            <a:ext cx="457200" cy="457200"/>
          </a:xfrm>
          <a:prstGeom prst="roundRect">
            <a:avLst>
              <a:gd name="adj" fmla="val 3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436608" y="3383280"/>
            <a:ext cx="457200" cy="411480"/>
          </a:xfrm>
          <a:prstGeom prst="rect">
            <a:avLst/>
          </a:prstGeom>
          <a:noFill/>
        </p:spPr>
        <p:txBody>
          <a:bodyPr wrap="square" lIns="0" tIns="0" rIns="0" bIns="0" anchor="ctr">
            <a:spAutoFit/>
          </a:bodyPr>
          <a:lstStyle/>
          <a:p>
            <a:pPr algn="ctr">
              <a:lnSpc>
                <a:spcPct val="100000"/>
              </a:lnSpc>
              <a:spcBef>
                <a:spcPts val="0"/>
              </a:spcBef>
              <a:spcAft>
                <a:spcPts val="400"/>
              </a:spcAft>
            </a:pPr>
            <a:r>
              <a:rPr sz="2000" b="0" i="0">
                <a:solidFill>
                  <a:srgbClr val="FFFFFF"/>
                </a:solidFill>
                <a:latin typeface="Segoe UI"/>
              </a:rPr>
              <a:t>4</a:t>
            </a:r>
          </a:p>
        </p:txBody>
      </p:sp>
      <p:sp>
        <p:nvSpPr>
          <p:cNvPr id="38" name="TextBox 37"/>
          <p:cNvSpPr txBox="1"/>
          <p:nvPr/>
        </p:nvSpPr>
        <p:spPr>
          <a:xfrm>
            <a:off x="9436608" y="3913632"/>
            <a:ext cx="2258568" cy="365760"/>
          </a:xfrm>
          <a:prstGeom prst="rect">
            <a:avLst/>
          </a:prstGeom>
          <a:noFill/>
        </p:spPr>
        <p:txBody>
          <a:bodyPr wrap="square" lIns="0" tIns="0" rIns="0" bIns="0" anchor="t">
            <a:spAutoFit/>
          </a:bodyPr>
          <a:lstStyle/>
          <a:p>
            <a:pPr algn="l">
              <a:lnSpc>
                <a:spcPct val="100000"/>
              </a:lnSpc>
              <a:spcBef>
                <a:spcPts val="0"/>
              </a:spcBef>
              <a:spcAft>
                <a:spcPts val="400"/>
              </a:spcAft>
            </a:pPr>
            <a:r>
              <a:rPr sz="1350" b="0" i="0">
                <a:solidFill>
                  <a:srgbClr val="0F172A"/>
                </a:solidFill>
                <a:latin typeface="Segoe UI"/>
              </a:rPr>
              <a:t>Read the results</a:t>
            </a:r>
          </a:p>
        </p:txBody>
      </p:sp>
      <p:sp>
        <p:nvSpPr>
          <p:cNvPr id="39" name="TextBox 38"/>
          <p:cNvSpPr txBox="1"/>
          <p:nvPr/>
        </p:nvSpPr>
        <p:spPr>
          <a:xfrm>
            <a:off x="9436608" y="4297680"/>
            <a:ext cx="2240280" cy="685800"/>
          </a:xfrm>
          <a:prstGeom prst="rect">
            <a:avLst/>
          </a:prstGeom>
          <a:noFill/>
        </p:spPr>
        <p:txBody>
          <a:bodyPr wrap="square" lIns="0" tIns="0" rIns="0" bIns="0" anchor="t">
            <a:spAutoFit/>
          </a:bodyPr>
          <a:lstStyle/>
          <a:p>
            <a:pPr algn="l">
              <a:lnSpc>
                <a:spcPct val="110000"/>
              </a:lnSpc>
              <a:spcBef>
                <a:spcPts val="0"/>
              </a:spcBef>
              <a:spcAft>
                <a:spcPts val="400"/>
              </a:spcAft>
            </a:pPr>
            <a:r>
              <a:rPr sz="1050" b="0" i="0">
                <a:solidFill>
                  <a:srgbClr val="4B5563"/>
                </a:solidFill>
                <a:latin typeface="Segoe UI"/>
              </a:rPr>
              <a:t>See the profit or loss, a chart of every trade, and clear risk scores.</a:t>
            </a:r>
          </a:p>
        </p:txBody>
      </p:sp>
      <p:sp>
        <p:nvSpPr>
          <p:cNvPr id="40" name="Rounded Rectangle 39"/>
          <p:cNvSpPr/>
          <p:nvPr/>
        </p:nvSpPr>
        <p:spPr>
          <a:xfrm>
            <a:off x="594360" y="5257800"/>
            <a:ext cx="11002975" cy="868680"/>
          </a:xfrm>
          <a:prstGeom prst="roundRect">
            <a:avLst>
              <a:gd name="adj" fmla="val 5000"/>
            </a:avLst>
          </a:prstGeom>
          <a:solidFill>
            <a:srgbClr val="FEE2E2"/>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14400" y="5257800"/>
            <a:ext cx="10362895" cy="868680"/>
          </a:xfrm>
          <a:prstGeom prst="rect">
            <a:avLst/>
          </a:prstGeom>
          <a:noFill/>
        </p:spPr>
        <p:txBody>
          <a:bodyPr wrap="square" lIns="0" tIns="0" rIns="0" bIns="0" anchor="ctr">
            <a:spAutoFit/>
          </a:bodyPr>
          <a:lstStyle/>
          <a:p>
            <a:pPr algn="l">
              <a:lnSpc>
                <a:spcPct val="112000"/>
              </a:lnSpc>
              <a:spcBef>
                <a:spcPts val="0"/>
              </a:spcBef>
              <a:spcAft>
                <a:spcPts val="400"/>
              </a:spcAft>
            </a:pPr>
            <a:r>
              <a:rPr sz="1250" b="1" i="0">
                <a:solidFill>
                  <a:srgbClr val="DC2626"/>
                </a:solidFill>
                <a:latin typeface="Segoe UI"/>
              </a:rPr>
              <a:t>Important — this is a learning &amp; research tool only:  </a:t>
            </a:r>
            <a:r>
              <a:rPr sz="1250" b="0" i="0">
                <a:solidFill>
                  <a:srgbClr val="0F172A"/>
                </a:solidFill>
                <a:latin typeface="Segoe UI"/>
              </a:rPr>
              <a:t>AlgoLab never places a real order. There is deliberately no “buy” button wired to anyone’s money. It exists to study and explain strategies safely.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059669"/>
                </a:solidFill>
                <a:latin typeface="Segoe UI"/>
              </a:rPr>
              <a:t>02 · THE KEY IDEAS</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How a backtest actually runs, step by step</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08</a:t>
            </a:r>
          </a:p>
        </p:txBody>
      </p:sp>
      <p:sp>
        <p:nvSpPr>
          <p:cNvPr id="9" name="TextBox 8"/>
          <p:cNvSpPr txBox="1"/>
          <p:nvPr/>
        </p:nvSpPr>
        <p:spPr>
          <a:xfrm>
            <a:off x="594360" y="1481328"/>
            <a:ext cx="10972800" cy="36576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4B5563"/>
                </a:solidFill>
                <a:latin typeface="Segoe UI"/>
              </a:rPr>
              <a:t>Here is everything that happens between your click and the result — explained without jargon.</a:t>
            </a:r>
          </a:p>
        </p:txBody>
      </p:sp>
      <p:sp>
        <p:nvSpPr>
          <p:cNvPr id="10" name="Rounded Rectangle 9"/>
          <p:cNvSpPr/>
          <p:nvPr/>
        </p:nvSpPr>
        <p:spPr>
          <a:xfrm>
            <a:off x="594360" y="1965960"/>
            <a:ext cx="11002975" cy="749808"/>
          </a:xfrm>
          <a:prstGeom prst="roundRect">
            <a:avLst>
              <a:gd name="adj" fmla="val 5000"/>
            </a:avLst>
          </a:prstGeom>
          <a:solidFill>
            <a:srgbClr val="FFFFFF"/>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77240" y="2112264"/>
            <a:ext cx="457200" cy="457200"/>
          </a:xfrm>
          <a:prstGeom prst="roundRect">
            <a:avLst>
              <a:gd name="adj" fmla="val 3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30552"/>
            <a:ext cx="457200" cy="420624"/>
          </a:xfrm>
          <a:prstGeom prst="rect">
            <a:avLst/>
          </a:prstGeom>
          <a:noFill/>
        </p:spPr>
        <p:txBody>
          <a:bodyPr wrap="square" lIns="0" tIns="0" rIns="0" bIns="0" anchor="ctr">
            <a:spAutoFit/>
          </a:bodyPr>
          <a:lstStyle/>
          <a:p>
            <a:pPr algn="ctr">
              <a:lnSpc>
                <a:spcPct val="100000"/>
              </a:lnSpc>
              <a:spcBef>
                <a:spcPts val="0"/>
              </a:spcBef>
              <a:spcAft>
                <a:spcPts val="400"/>
              </a:spcAft>
            </a:pPr>
            <a:r>
              <a:rPr sz="1800" b="0" i="0">
                <a:solidFill>
                  <a:srgbClr val="FFFFFF"/>
                </a:solidFill>
                <a:latin typeface="Segoe UI"/>
              </a:rPr>
              <a:t>1</a:t>
            </a:r>
          </a:p>
        </p:txBody>
      </p:sp>
      <p:sp>
        <p:nvSpPr>
          <p:cNvPr id="13" name="TextBox 12"/>
          <p:cNvSpPr txBox="1"/>
          <p:nvPr/>
        </p:nvSpPr>
        <p:spPr>
          <a:xfrm>
            <a:off x="1417320" y="1965960"/>
            <a:ext cx="3108960" cy="749808"/>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0F172A"/>
                </a:solidFill>
                <a:latin typeface="Segoe UI"/>
              </a:rPr>
              <a:t>Get the real data</a:t>
            </a:r>
          </a:p>
        </p:txBody>
      </p:sp>
      <p:sp>
        <p:nvSpPr>
          <p:cNvPr id="14" name="TextBox 13"/>
          <p:cNvSpPr txBox="1"/>
          <p:nvPr/>
        </p:nvSpPr>
        <p:spPr>
          <a:xfrm>
            <a:off x="4572000" y="1965960"/>
            <a:ext cx="7040880" cy="749808"/>
          </a:xfrm>
          <a:prstGeom prst="rect">
            <a:avLst/>
          </a:prstGeom>
          <a:noFill/>
        </p:spPr>
        <p:txBody>
          <a:bodyPr wrap="square" lIns="0" tIns="0" rIns="0" bIns="0" anchor="ctr">
            <a:spAutoFit/>
          </a:bodyPr>
          <a:lstStyle/>
          <a:p>
            <a:pPr algn="l">
              <a:lnSpc>
                <a:spcPct val="108000"/>
              </a:lnSpc>
              <a:spcBef>
                <a:spcPts val="0"/>
              </a:spcBef>
              <a:spcAft>
                <a:spcPts val="400"/>
              </a:spcAft>
            </a:pPr>
            <a:r>
              <a:rPr sz="1100" b="0" i="0">
                <a:solidFill>
                  <a:srgbClr val="4B5563"/>
                </a:solidFill>
                <a:latin typeface="Segoe UI"/>
              </a:rPr>
              <a:t>AlgoLab securely logs in to Upstox (a stockbroker) and downloads the genuine past price history of the stock you picked — real numbers, not made-up ones.</a:t>
            </a:r>
          </a:p>
        </p:txBody>
      </p:sp>
      <p:sp>
        <p:nvSpPr>
          <p:cNvPr id="15" name="Rounded Rectangle 14"/>
          <p:cNvSpPr/>
          <p:nvPr/>
        </p:nvSpPr>
        <p:spPr>
          <a:xfrm>
            <a:off x="594360" y="2788920"/>
            <a:ext cx="11002975" cy="749808"/>
          </a:xfrm>
          <a:prstGeom prst="roundRect">
            <a:avLst>
              <a:gd name="adj" fmla="val 5000"/>
            </a:avLst>
          </a:prstGeom>
          <a:solidFill>
            <a:srgbClr val="F5F7FB"/>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77240" y="2935224"/>
            <a:ext cx="457200" cy="457200"/>
          </a:xfrm>
          <a:prstGeom prst="roundRect">
            <a:avLst>
              <a:gd name="adj" fmla="val 3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2953512"/>
            <a:ext cx="457200" cy="420624"/>
          </a:xfrm>
          <a:prstGeom prst="rect">
            <a:avLst/>
          </a:prstGeom>
          <a:noFill/>
        </p:spPr>
        <p:txBody>
          <a:bodyPr wrap="square" lIns="0" tIns="0" rIns="0" bIns="0" anchor="ctr">
            <a:spAutoFit/>
          </a:bodyPr>
          <a:lstStyle/>
          <a:p>
            <a:pPr algn="ctr">
              <a:lnSpc>
                <a:spcPct val="100000"/>
              </a:lnSpc>
              <a:spcBef>
                <a:spcPts val="0"/>
              </a:spcBef>
              <a:spcAft>
                <a:spcPts val="400"/>
              </a:spcAft>
            </a:pPr>
            <a:r>
              <a:rPr sz="1800" b="0" i="0">
                <a:solidFill>
                  <a:srgbClr val="FFFFFF"/>
                </a:solidFill>
                <a:latin typeface="Segoe UI"/>
              </a:rPr>
              <a:t>2</a:t>
            </a:r>
          </a:p>
        </p:txBody>
      </p:sp>
      <p:sp>
        <p:nvSpPr>
          <p:cNvPr id="18" name="TextBox 17"/>
          <p:cNvSpPr txBox="1"/>
          <p:nvPr/>
        </p:nvSpPr>
        <p:spPr>
          <a:xfrm>
            <a:off x="1417320" y="2788920"/>
            <a:ext cx="3108960" cy="749808"/>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0F172A"/>
                </a:solidFill>
                <a:latin typeface="Segoe UI"/>
              </a:rPr>
              <a:t>Move through time, one day at a time</a:t>
            </a:r>
          </a:p>
        </p:txBody>
      </p:sp>
      <p:sp>
        <p:nvSpPr>
          <p:cNvPr id="19" name="TextBox 18"/>
          <p:cNvSpPr txBox="1"/>
          <p:nvPr/>
        </p:nvSpPr>
        <p:spPr>
          <a:xfrm>
            <a:off x="4572000" y="2788920"/>
            <a:ext cx="7040880" cy="749808"/>
          </a:xfrm>
          <a:prstGeom prst="rect">
            <a:avLst/>
          </a:prstGeom>
          <a:noFill/>
        </p:spPr>
        <p:txBody>
          <a:bodyPr wrap="square" lIns="0" tIns="0" rIns="0" bIns="0" anchor="ctr">
            <a:spAutoFit/>
          </a:bodyPr>
          <a:lstStyle/>
          <a:p>
            <a:pPr algn="l">
              <a:lnSpc>
                <a:spcPct val="108000"/>
              </a:lnSpc>
              <a:spcBef>
                <a:spcPts val="0"/>
              </a:spcBef>
              <a:spcAft>
                <a:spcPts val="400"/>
              </a:spcAft>
            </a:pPr>
            <a:r>
              <a:rPr sz="1100" b="0" i="0">
                <a:solidFill>
                  <a:srgbClr val="4B5563"/>
                </a:solidFill>
                <a:latin typeface="Segoe UI"/>
              </a:rPr>
              <a:t>Starting from the first day, the program looks only at prices up to “today” in the replay — never tomorrow’s — so it can never cheat by peeking ahead.</a:t>
            </a:r>
          </a:p>
        </p:txBody>
      </p:sp>
      <p:sp>
        <p:nvSpPr>
          <p:cNvPr id="20" name="Rounded Rectangle 19"/>
          <p:cNvSpPr/>
          <p:nvPr/>
        </p:nvSpPr>
        <p:spPr>
          <a:xfrm>
            <a:off x="594360" y="3611879"/>
            <a:ext cx="11002975" cy="749808"/>
          </a:xfrm>
          <a:prstGeom prst="roundRect">
            <a:avLst>
              <a:gd name="adj" fmla="val 5000"/>
            </a:avLst>
          </a:prstGeom>
          <a:solidFill>
            <a:srgbClr val="FFFFFF"/>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77240" y="3758183"/>
            <a:ext cx="457200" cy="457200"/>
          </a:xfrm>
          <a:prstGeom prst="roundRect">
            <a:avLst>
              <a:gd name="adj" fmla="val 30000"/>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3776472"/>
            <a:ext cx="457200" cy="420624"/>
          </a:xfrm>
          <a:prstGeom prst="rect">
            <a:avLst/>
          </a:prstGeom>
          <a:noFill/>
        </p:spPr>
        <p:txBody>
          <a:bodyPr wrap="square" lIns="0" tIns="0" rIns="0" bIns="0" anchor="ctr">
            <a:spAutoFit/>
          </a:bodyPr>
          <a:lstStyle/>
          <a:p>
            <a:pPr algn="ctr">
              <a:lnSpc>
                <a:spcPct val="100000"/>
              </a:lnSpc>
              <a:spcBef>
                <a:spcPts val="0"/>
              </a:spcBef>
              <a:spcAft>
                <a:spcPts val="400"/>
              </a:spcAft>
            </a:pPr>
            <a:r>
              <a:rPr sz="1800" b="0" i="0">
                <a:solidFill>
                  <a:srgbClr val="FFFFFF"/>
                </a:solidFill>
                <a:latin typeface="Segoe UI"/>
              </a:rPr>
              <a:t>3</a:t>
            </a:r>
          </a:p>
        </p:txBody>
      </p:sp>
      <p:sp>
        <p:nvSpPr>
          <p:cNvPr id="23" name="TextBox 22"/>
          <p:cNvSpPr txBox="1"/>
          <p:nvPr/>
        </p:nvSpPr>
        <p:spPr>
          <a:xfrm>
            <a:off x="1417320" y="3611879"/>
            <a:ext cx="3108960" cy="749808"/>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0F172A"/>
                </a:solidFill>
                <a:latin typeface="Segoe UI"/>
              </a:rPr>
              <a:t>Check the rules each day</a:t>
            </a:r>
          </a:p>
        </p:txBody>
      </p:sp>
      <p:sp>
        <p:nvSpPr>
          <p:cNvPr id="24" name="TextBox 23"/>
          <p:cNvSpPr txBox="1"/>
          <p:nvPr/>
        </p:nvSpPr>
        <p:spPr>
          <a:xfrm>
            <a:off x="4572000" y="3611879"/>
            <a:ext cx="7040880" cy="749808"/>
          </a:xfrm>
          <a:prstGeom prst="rect">
            <a:avLst/>
          </a:prstGeom>
          <a:noFill/>
        </p:spPr>
        <p:txBody>
          <a:bodyPr wrap="square" lIns="0" tIns="0" rIns="0" bIns="0" anchor="ctr">
            <a:spAutoFit/>
          </a:bodyPr>
          <a:lstStyle/>
          <a:p>
            <a:pPr algn="l">
              <a:lnSpc>
                <a:spcPct val="108000"/>
              </a:lnSpc>
              <a:spcBef>
                <a:spcPts val="0"/>
              </a:spcBef>
              <a:spcAft>
                <a:spcPts val="400"/>
              </a:spcAft>
            </a:pPr>
            <a:r>
              <a:rPr sz="1100" b="0" i="0">
                <a:solidFill>
                  <a:srgbClr val="4B5563"/>
                </a:solidFill>
                <a:latin typeface="Segoe UI"/>
              </a:rPr>
              <a:t>Every day it asks: “do my buy or sell conditions hold right now?” It buys, sells, or simply waits — only ever acting when a rule says so.</a:t>
            </a:r>
          </a:p>
        </p:txBody>
      </p:sp>
      <p:sp>
        <p:nvSpPr>
          <p:cNvPr id="25" name="Rounded Rectangle 24"/>
          <p:cNvSpPr/>
          <p:nvPr/>
        </p:nvSpPr>
        <p:spPr>
          <a:xfrm>
            <a:off x="594360" y="4434840"/>
            <a:ext cx="11002975" cy="749808"/>
          </a:xfrm>
          <a:prstGeom prst="roundRect">
            <a:avLst>
              <a:gd name="adj" fmla="val 5000"/>
            </a:avLst>
          </a:prstGeom>
          <a:solidFill>
            <a:srgbClr val="F5F7FB"/>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777240" y="4581144"/>
            <a:ext cx="457200" cy="457200"/>
          </a:xfrm>
          <a:prstGeom prst="roundRect">
            <a:avLst>
              <a:gd name="adj" fmla="val 3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4599431"/>
            <a:ext cx="457200" cy="420624"/>
          </a:xfrm>
          <a:prstGeom prst="rect">
            <a:avLst/>
          </a:prstGeom>
          <a:noFill/>
        </p:spPr>
        <p:txBody>
          <a:bodyPr wrap="square" lIns="0" tIns="0" rIns="0" bIns="0" anchor="ctr">
            <a:spAutoFit/>
          </a:bodyPr>
          <a:lstStyle/>
          <a:p>
            <a:pPr algn="ctr">
              <a:lnSpc>
                <a:spcPct val="100000"/>
              </a:lnSpc>
              <a:spcBef>
                <a:spcPts val="0"/>
              </a:spcBef>
              <a:spcAft>
                <a:spcPts val="400"/>
              </a:spcAft>
            </a:pPr>
            <a:r>
              <a:rPr sz="1800" b="0" i="0">
                <a:solidFill>
                  <a:srgbClr val="FFFFFF"/>
                </a:solidFill>
                <a:latin typeface="Segoe UI"/>
              </a:rPr>
              <a:t>4</a:t>
            </a:r>
          </a:p>
        </p:txBody>
      </p:sp>
      <p:sp>
        <p:nvSpPr>
          <p:cNvPr id="28" name="TextBox 27"/>
          <p:cNvSpPr txBox="1"/>
          <p:nvPr/>
        </p:nvSpPr>
        <p:spPr>
          <a:xfrm>
            <a:off x="1417320" y="4434840"/>
            <a:ext cx="3108960" cy="749808"/>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0F172A"/>
                </a:solidFill>
                <a:latin typeface="Segoe UI"/>
              </a:rPr>
              <a:t>Trade realistically</a:t>
            </a:r>
          </a:p>
        </p:txBody>
      </p:sp>
      <p:sp>
        <p:nvSpPr>
          <p:cNvPr id="29" name="TextBox 28"/>
          <p:cNvSpPr txBox="1"/>
          <p:nvPr/>
        </p:nvSpPr>
        <p:spPr>
          <a:xfrm>
            <a:off x="4572000" y="4434840"/>
            <a:ext cx="7040880" cy="749808"/>
          </a:xfrm>
          <a:prstGeom prst="rect">
            <a:avLst/>
          </a:prstGeom>
          <a:noFill/>
        </p:spPr>
        <p:txBody>
          <a:bodyPr wrap="square" lIns="0" tIns="0" rIns="0" bIns="0" anchor="ctr">
            <a:spAutoFit/>
          </a:bodyPr>
          <a:lstStyle/>
          <a:p>
            <a:pPr algn="l">
              <a:lnSpc>
                <a:spcPct val="108000"/>
              </a:lnSpc>
              <a:spcBef>
                <a:spcPts val="0"/>
              </a:spcBef>
              <a:spcAft>
                <a:spcPts val="400"/>
              </a:spcAft>
            </a:pPr>
            <a:r>
              <a:rPr sz="1100" b="0" i="0">
                <a:solidFill>
                  <a:srgbClr val="4B5563"/>
                </a:solidFill>
                <a:latin typeface="Segoe UI"/>
              </a:rPr>
              <a:t>When it buys or sells, it pays the real brokerage and taxes, and it limits how much money it puts at risk on each single trade.</a:t>
            </a:r>
          </a:p>
        </p:txBody>
      </p:sp>
      <p:sp>
        <p:nvSpPr>
          <p:cNvPr id="30" name="Rounded Rectangle 29"/>
          <p:cNvSpPr/>
          <p:nvPr/>
        </p:nvSpPr>
        <p:spPr>
          <a:xfrm>
            <a:off x="594360" y="5257800"/>
            <a:ext cx="11002975" cy="749808"/>
          </a:xfrm>
          <a:prstGeom prst="roundRect">
            <a:avLst>
              <a:gd name="adj" fmla="val 5000"/>
            </a:avLst>
          </a:prstGeom>
          <a:solidFill>
            <a:srgbClr val="FFFFFF"/>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777240" y="5404104"/>
            <a:ext cx="457200" cy="457200"/>
          </a:xfrm>
          <a:prstGeom prst="roundRect">
            <a:avLst>
              <a:gd name="adj" fmla="val 3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 y="5422392"/>
            <a:ext cx="457200" cy="420624"/>
          </a:xfrm>
          <a:prstGeom prst="rect">
            <a:avLst/>
          </a:prstGeom>
          <a:noFill/>
        </p:spPr>
        <p:txBody>
          <a:bodyPr wrap="square" lIns="0" tIns="0" rIns="0" bIns="0" anchor="ctr">
            <a:spAutoFit/>
          </a:bodyPr>
          <a:lstStyle/>
          <a:p>
            <a:pPr algn="ctr">
              <a:lnSpc>
                <a:spcPct val="100000"/>
              </a:lnSpc>
              <a:spcBef>
                <a:spcPts val="0"/>
              </a:spcBef>
              <a:spcAft>
                <a:spcPts val="400"/>
              </a:spcAft>
            </a:pPr>
            <a:r>
              <a:rPr sz="1800" b="0" i="0">
                <a:solidFill>
                  <a:srgbClr val="FFFFFF"/>
                </a:solidFill>
                <a:latin typeface="Segoe UI"/>
              </a:rPr>
              <a:t>5</a:t>
            </a:r>
          </a:p>
        </p:txBody>
      </p:sp>
      <p:sp>
        <p:nvSpPr>
          <p:cNvPr id="33" name="TextBox 32"/>
          <p:cNvSpPr txBox="1"/>
          <p:nvPr/>
        </p:nvSpPr>
        <p:spPr>
          <a:xfrm>
            <a:off x="1417320" y="5257800"/>
            <a:ext cx="3108960" cy="749808"/>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0F172A"/>
                </a:solidFill>
                <a:latin typeface="Segoe UI"/>
              </a:rPr>
              <a:t>Keep score</a:t>
            </a:r>
          </a:p>
        </p:txBody>
      </p:sp>
      <p:sp>
        <p:nvSpPr>
          <p:cNvPr id="34" name="TextBox 33"/>
          <p:cNvSpPr txBox="1"/>
          <p:nvPr/>
        </p:nvSpPr>
        <p:spPr>
          <a:xfrm>
            <a:off x="4572000" y="5257800"/>
            <a:ext cx="7040880" cy="749808"/>
          </a:xfrm>
          <a:prstGeom prst="rect">
            <a:avLst/>
          </a:prstGeom>
          <a:noFill/>
        </p:spPr>
        <p:txBody>
          <a:bodyPr wrap="square" lIns="0" tIns="0" rIns="0" bIns="0" anchor="ctr">
            <a:spAutoFit/>
          </a:bodyPr>
          <a:lstStyle/>
          <a:p>
            <a:pPr algn="l">
              <a:lnSpc>
                <a:spcPct val="108000"/>
              </a:lnSpc>
              <a:spcBef>
                <a:spcPts val="0"/>
              </a:spcBef>
              <a:spcAft>
                <a:spcPts val="400"/>
              </a:spcAft>
            </a:pPr>
            <a:r>
              <a:rPr sz="1100" b="0" i="0">
                <a:solidFill>
                  <a:srgbClr val="4B5563"/>
                </a:solidFill>
                <a:latin typeface="Segoe UI"/>
              </a:rPr>
              <a:t>It records every trade and tracks the account’s value day by day, then hands you a full report: profit, a trade chart, and risk scores.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7C3AED"/>
                </a:solidFill>
                <a:latin typeface="Segoe UI"/>
              </a:rPr>
              <a:t>03 · THE FOUR STRATEGIES</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Before we begin: what is an “indicator”?</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09</a:t>
            </a:r>
          </a:p>
        </p:txBody>
      </p:sp>
      <p:sp>
        <p:nvSpPr>
          <p:cNvPr id="9" name="Rounded Rectangle 8"/>
          <p:cNvSpPr/>
          <p:nvPr/>
        </p:nvSpPr>
        <p:spPr>
          <a:xfrm>
            <a:off x="594360" y="1600200"/>
            <a:ext cx="11002975" cy="1051560"/>
          </a:xfrm>
          <a:prstGeom prst="roundRect">
            <a:avLst>
              <a:gd name="adj" fmla="val 6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746504"/>
            <a:ext cx="10454335"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0" i="0">
                <a:solidFill>
                  <a:srgbClr val="7C3AED"/>
                </a:solidFill>
                <a:latin typeface="Segoe UI"/>
              </a:rPr>
              <a:t>IN PLAIN ENGLISH</a:t>
            </a:r>
          </a:p>
        </p:txBody>
      </p:sp>
      <p:sp>
        <p:nvSpPr>
          <p:cNvPr id="11" name="TextBox 10"/>
          <p:cNvSpPr txBox="1"/>
          <p:nvPr/>
        </p:nvSpPr>
        <p:spPr>
          <a:xfrm>
            <a:off x="886968" y="2020824"/>
            <a:ext cx="10436047" cy="521207"/>
          </a:xfrm>
          <a:prstGeom prst="rect">
            <a:avLst/>
          </a:prstGeom>
          <a:noFill/>
        </p:spPr>
        <p:txBody>
          <a:bodyPr wrap="square" lIns="0" tIns="0" rIns="0" bIns="0" anchor="t">
            <a:spAutoFit/>
          </a:bodyPr>
          <a:lstStyle/>
          <a:p>
            <a:pPr algn="l">
              <a:lnSpc>
                <a:spcPct val="114000"/>
              </a:lnSpc>
              <a:spcBef>
                <a:spcPts val="0"/>
              </a:spcBef>
              <a:spcAft>
                <a:spcPts val="400"/>
              </a:spcAft>
            </a:pPr>
            <a:r>
              <a:rPr sz="1350" b="0" i="0">
                <a:solidFill>
                  <a:srgbClr val="0F172A"/>
                </a:solidFill>
                <a:latin typeface="Segoe UI"/>
              </a:rPr>
              <a:t>An indicator is a number worked out from past prices that summarises what the price has been doing. It turns a messy, jagged price chart into one clean, easy-to-read signal.</a:t>
            </a:r>
          </a:p>
        </p:txBody>
      </p:sp>
      <p:sp>
        <p:nvSpPr>
          <p:cNvPr id="12" name="TextBox 11"/>
          <p:cNvSpPr txBox="1"/>
          <p:nvPr/>
        </p:nvSpPr>
        <p:spPr>
          <a:xfrm>
            <a:off x="594360" y="2834640"/>
            <a:ext cx="6858000" cy="2194560"/>
          </a:xfrm>
          <a:prstGeom prst="rect">
            <a:avLst/>
          </a:prstGeom>
          <a:noFill/>
        </p:spPr>
        <p:txBody>
          <a:bodyPr wrap="square" lIns="0" tIns="0" rIns="0" bIns="0">
            <a:spAutoFit/>
          </a:bodyPr>
          <a:lstStyle/>
          <a:p>
            <a:pPr>
              <a:lnSpc>
                <a:spcPct val="112000"/>
              </a:lnSpc>
              <a:spcBef>
                <a:spcPts val="0"/>
              </a:spcBef>
              <a:spcAft>
                <a:spcPts val="1000"/>
              </a:spcAft>
            </a:pPr>
            <a:r>
              <a:rPr sz="1250" b="1" i="0">
                <a:solidFill>
                  <a:srgbClr val="2563EB"/>
                </a:solidFill>
                <a:latin typeface="Segoe UI"/>
              </a:rPr>
              <a:t>▸  </a:t>
            </a:r>
            <a:r>
              <a:rPr sz="1250" b="1" i="0">
                <a:solidFill>
                  <a:srgbClr val="0F172A"/>
                </a:solidFill>
                <a:latin typeface="Segoe UI"/>
              </a:rPr>
              <a:t>Example:</a:t>
            </a:r>
            <a:r>
              <a:rPr sz="1250" b="0" i="0">
                <a:solidFill>
                  <a:srgbClr val="0F172A"/>
                </a:solidFill>
                <a:latin typeface="Segoe UI"/>
              </a:rPr>
              <a:t> the “average price over the last 50 days” smooths out daily jitter, so you can clearly see the underlying trend instead of the noise.</a:t>
            </a:r>
          </a:p>
          <a:p>
            <a:pPr>
              <a:lnSpc>
                <a:spcPct val="112000"/>
              </a:lnSpc>
              <a:spcBef>
                <a:spcPts val="0"/>
              </a:spcBef>
              <a:spcAft>
                <a:spcPts val="1000"/>
              </a:spcAft>
            </a:pPr>
            <a:r>
              <a:rPr sz="1250" b="1" i="0">
                <a:solidFill>
                  <a:srgbClr val="2563EB"/>
                </a:solidFill>
                <a:latin typeface="Segoe UI"/>
              </a:rPr>
              <a:t>▸  </a:t>
            </a:r>
            <a:r>
              <a:rPr sz="1250" b="0" i="0">
                <a:solidFill>
                  <a:srgbClr val="0F172A"/>
                </a:solidFill>
                <a:latin typeface="Segoe UI"/>
              </a:rPr>
              <a:t>Each of our four strategies watches one or two such indicators and follows a simple rule like “buy when this indicator does X, sell when it does Y”.</a:t>
            </a:r>
          </a:p>
          <a:p>
            <a:pPr>
              <a:lnSpc>
                <a:spcPct val="112000"/>
              </a:lnSpc>
              <a:spcBef>
                <a:spcPts val="0"/>
              </a:spcBef>
              <a:spcAft>
                <a:spcPts val="1000"/>
              </a:spcAft>
            </a:pPr>
            <a:r>
              <a:rPr sz="1250" b="1" i="0">
                <a:solidFill>
                  <a:srgbClr val="2563EB"/>
                </a:solidFill>
                <a:latin typeface="Segoe UI"/>
              </a:rPr>
              <a:t>▸  </a:t>
            </a:r>
            <a:r>
              <a:rPr sz="1250" b="0" i="0">
                <a:solidFill>
                  <a:srgbClr val="0F172A"/>
                </a:solidFill>
                <a:latin typeface="Segoe UI"/>
              </a:rPr>
              <a:t>You don’t need any maths to follow along — each upcoming slide shows a picture of when the rule buys (green) and sells (red).</a:t>
            </a:r>
          </a:p>
        </p:txBody>
      </p:sp>
      <p:sp>
        <p:nvSpPr>
          <p:cNvPr id="13" name="Rounded Rectangle 12"/>
          <p:cNvSpPr/>
          <p:nvPr/>
        </p:nvSpPr>
        <p:spPr>
          <a:xfrm>
            <a:off x="7680960" y="2834640"/>
            <a:ext cx="3931920" cy="219456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680960" y="2980944"/>
            <a:ext cx="64008" cy="1901952"/>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36992" y="2999232"/>
            <a:ext cx="347472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059669"/>
                </a:solidFill>
                <a:latin typeface="Segoe UI"/>
              </a:rPr>
              <a:t>One fair fight</a:t>
            </a:r>
          </a:p>
        </p:txBody>
      </p:sp>
      <p:sp>
        <p:nvSpPr>
          <p:cNvPr id="16" name="TextBox 15"/>
          <p:cNvSpPr txBox="1"/>
          <p:nvPr/>
        </p:nvSpPr>
        <p:spPr>
          <a:xfrm>
            <a:off x="7973568" y="3291840"/>
            <a:ext cx="3429000" cy="1645920"/>
          </a:xfrm>
          <a:prstGeom prst="rect">
            <a:avLst/>
          </a:prstGeom>
          <a:noFill/>
        </p:spPr>
        <p:txBody>
          <a:bodyPr wrap="square" lIns="0" tIns="0" rIns="0" bIns="0" anchor="t">
            <a:spAutoFit/>
          </a:bodyPr>
          <a:lstStyle/>
          <a:p>
            <a:pPr algn="l">
              <a:lnSpc>
                <a:spcPct val="116000"/>
              </a:lnSpc>
              <a:spcBef>
                <a:spcPts val="0"/>
              </a:spcBef>
              <a:spcAft>
                <a:spcPts val="400"/>
              </a:spcAft>
            </a:pPr>
            <a:r>
              <a:rPr sz="1150" b="0" i="0">
                <a:solidFill>
                  <a:srgbClr val="4B5563"/>
                </a:solidFill>
                <a:latin typeface="Segoe UI"/>
              </a:rPr>
              <a:t>All four strategies share the exact same safety system and cost calculator inside AlgoLab. So when we compare them, any difference in results comes from the trading idea alone — a clean, like-for-like test.</a:t>
            </a:r>
          </a:p>
        </p:txBody>
      </p:sp>
      <p:sp>
        <p:nvSpPr>
          <p:cNvPr id="17" name="TextBox 16"/>
          <p:cNvSpPr txBox="1"/>
          <p:nvPr/>
        </p:nvSpPr>
        <p:spPr>
          <a:xfrm>
            <a:off x="594360" y="5349240"/>
            <a:ext cx="11002975" cy="548640"/>
          </a:xfrm>
          <a:prstGeom prst="rect">
            <a:avLst/>
          </a:prstGeom>
          <a:noFill/>
        </p:spPr>
        <p:txBody>
          <a:bodyPr wrap="square" lIns="0" tIns="0" rIns="0" bIns="0" anchor="t">
            <a:spAutoFit/>
          </a:bodyPr>
          <a:lstStyle/>
          <a:p>
            <a:pPr algn="l">
              <a:lnSpc>
                <a:spcPct val="110000"/>
              </a:lnSpc>
              <a:spcBef>
                <a:spcPts val="0"/>
              </a:spcBef>
              <a:spcAft>
                <a:spcPts val="400"/>
              </a:spcAft>
            </a:pPr>
            <a:r>
              <a:rPr sz="1250" b="1" i="0">
                <a:solidFill>
                  <a:srgbClr val="0F172A"/>
                </a:solidFill>
                <a:latin typeface="Segoe UI"/>
              </a:rPr>
              <a:t>How to read the next four slides:  </a:t>
            </a:r>
            <a:r>
              <a:rPr sz="1250" b="0" i="0">
                <a:solidFill>
                  <a:srgbClr val="4B5563"/>
                </a:solidFill>
                <a:latin typeface="Segoe UI"/>
              </a:rPr>
              <a:t>each one gives you the idea in one line, a picture of its buy/sell signals, the rule in plain words, and why we included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2563EB"/>
                </a:solidFill>
                <a:latin typeface="Segoe UI"/>
              </a:rPr>
              <a:t>03 · STRATEGY 1 OF 4</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SMA Crossover</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10</a:t>
            </a:r>
          </a:p>
        </p:txBody>
      </p:sp>
      <p:sp>
        <p:nvSpPr>
          <p:cNvPr id="9" name="Rounded Rectangle 8"/>
          <p:cNvSpPr/>
          <p:nvPr/>
        </p:nvSpPr>
        <p:spPr>
          <a:xfrm>
            <a:off x="868680" y="1042415"/>
            <a:ext cx="2834640" cy="292608"/>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056131"/>
            <a:ext cx="2834640" cy="274320"/>
          </a:xfrm>
          <a:prstGeom prst="rect">
            <a:avLst/>
          </a:prstGeom>
          <a:noFill/>
        </p:spPr>
        <p:txBody>
          <a:bodyPr wrap="square" lIns="0" tIns="0" rIns="0" bIns="0" anchor="ctr">
            <a:spAutoFit/>
          </a:bodyPr>
          <a:lstStyle/>
          <a:p>
            <a:pPr algn="ctr">
              <a:lnSpc>
                <a:spcPct val="100000"/>
              </a:lnSpc>
              <a:spcBef>
                <a:spcPts val="0"/>
              </a:spcBef>
              <a:spcAft>
                <a:spcPts val="400"/>
              </a:spcAft>
            </a:pPr>
            <a:r>
              <a:rPr sz="1000" b="0" i="0">
                <a:solidFill>
                  <a:srgbClr val="2563EB"/>
                </a:solidFill>
                <a:latin typeface="Segoe UI"/>
              </a:rPr>
              <a:t>TREND-FOLLOWING  ·  IT RIDES THE TREND</a:t>
            </a:r>
          </a:p>
        </p:txBody>
      </p:sp>
      <p:sp>
        <p:nvSpPr>
          <p:cNvPr id="11" name="Rounded Rectangle 10"/>
          <p:cNvSpPr/>
          <p:nvPr/>
        </p:nvSpPr>
        <p:spPr>
          <a:xfrm>
            <a:off x="594360" y="1572768"/>
            <a:ext cx="5532120" cy="45262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strat_sma.png"/>
          <p:cNvPicPr>
            <a:picLocks noChangeAspect="1"/>
          </p:cNvPicPr>
          <p:nvPr/>
        </p:nvPicPr>
        <p:blipFill>
          <a:blip r:embed="rId2"/>
          <a:stretch>
            <a:fillRect/>
          </a:stretch>
        </p:blipFill>
        <p:spPr>
          <a:xfrm>
            <a:off x="822960" y="1874519"/>
            <a:ext cx="5074920" cy="2930919"/>
          </a:xfrm>
          <a:prstGeom prst="rect">
            <a:avLst/>
          </a:prstGeom>
        </p:spPr>
      </p:pic>
      <p:sp>
        <p:nvSpPr>
          <p:cNvPr id="13" name="TextBox 12"/>
          <p:cNvSpPr txBox="1"/>
          <p:nvPr/>
        </p:nvSpPr>
        <p:spPr>
          <a:xfrm>
            <a:off x="822960" y="5074920"/>
            <a:ext cx="5074920" cy="274320"/>
          </a:xfrm>
          <a:prstGeom prst="rect">
            <a:avLst/>
          </a:prstGeom>
          <a:noFill/>
        </p:spPr>
        <p:txBody>
          <a:bodyPr wrap="square" lIns="0" tIns="0" rIns="0" bIns="0" anchor="t">
            <a:spAutoFit/>
          </a:bodyPr>
          <a:lstStyle/>
          <a:p>
            <a:pPr algn="ctr">
              <a:lnSpc>
                <a:spcPct val="100000"/>
              </a:lnSpc>
              <a:spcBef>
                <a:spcPts val="0"/>
              </a:spcBef>
              <a:spcAft>
                <a:spcPts val="400"/>
              </a:spcAft>
            </a:pPr>
            <a:r>
              <a:rPr sz="850" b="0" i="0">
                <a:solidFill>
                  <a:srgbClr val="94A3B8"/>
                </a:solidFill>
                <a:latin typeface="Segoe UI"/>
              </a:rPr>
              <a:t>Illustrative picture on example data — green = buy, red = sell</a:t>
            </a:r>
          </a:p>
        </p:txBody>
      </p:sp>
      <p:sp>
        <p:nvSpPr>
          <p:cNvPr id="14" name="TextBox 13"/>
          <p:cNvSpPr txBox="1"/>
          <p:nvPr/>
        </p:nvSpPr>
        <p:spPr>
          <a:xfrm>
            <a:off x="6355080" y="1609344"/>
            <a:ext cx="5303520" cy="274320"/>
          </a:xfrm>
          <a:prstGeom prst="rect">
            <a:avLst/>
          </a:prstGeom>
          <a:noFill/>
        </p:spPr>
        <p:txBody>
          <a:bodyPr wrap="square" lIns="0" tIns="0" rIns="0" bIns="0" anchor="t">
            <a:spAutoFit/>
          </a:bodyPr>
          <a:lstStyle/>
          <a:p>
            <a:pPr algn="l">
              <a:lnSpc>
                <a:spcPct val="100000"/>
              </a:lnSpc>
              <a:spcBef>
                <a:spcPts val="0"/>
              </a:spcBef>
              <a:spcAft>
                <a:spcPts val="400"/>
              </a:spcAft>
            </a:pPr>
            <a:r>
              <a:rPr sz="1000" b="0" i="0">
                <a:solidFill>
                  <a:srgbClr val="2563EB"/>
                </a:solidFill>
                <a:latin typeface="Segoe UI"/>
              </a:rPr>
              <a:t>THE IDEA IN PLAIN WORDS</a:t>
            </a:r>
          </a:p>
        </p:txBody>
      </p:sp>
      <p:sp>
        <p:nvSpPr>
          <p:cNvPr id="15" name="TextBox 14"/>
          <p:cNvSpPr txBox="1"/>
          <p:nvPr/>
        </p:nvSpPr>
        <p:spPr>
          <a:xfrm>
            <a:off x="6355080" y="1865376"/>
            <a:ext cx="5285232" cy="1078992"/>
          </a:xfrm>
          <a:prstGeom prst="rect">
            <a:avLst/>
          </a:prstGeom>
          <a:noFill/>
        </p:spPr>
        <p:txBody>
          <a:bodyPr wrap="square" lIns="0" tIns="0" rIns="0" bIns="0" anchor="t">
            <a:spAutoFit/>
          </a:bodyPr>
          <a:lstStyle/>
          <a:p>
            <a:pPr algn="l">
              <a:lnSpc>
                <a:spcPct val="114000"/>
              </a:lnSpc>
              <a:spcBef>
                <a:spcPts val="0"/>
              </a:spcBef>
              <a:spcAft>
                <a:spcPts val="400"/>
              </a:spcAft>
            </a:pPr>
            <a:r>
              <a:rPr sz="1200" b="0" i="0">
                <a:solidFill>
                  <a:srgbClr val="0F172A"/>
                </a:solidFill>
                <a:latin typeface="Segoe UI"/>
              </a:rPr>
              <a:t>This rule follows the trend. It assumes that once a price starts moving up, it tends to keep going up for a while — so it climbs aboard and rides the move. It watches a fast (20-day) and a slow (50-day) average price.</a:t>
            </a:r>
          </a:p>
        </p:txBody>
      </p:sp>
      <p:sp>
        <p:nvSpPr>
          <p:cNvPr id="16" name="Rounded Rectangle 15"/>
          <p:cNvSpPr/>
          <p:nvPr/>
        </p:nvSpPr>
        <p:spPr>
          <a:xfrm>
            <a:off x="6355080" y="2980944"/>
            <a:ext cx="5285232" cy="17830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55080" y="3127248"/>
            <a:ext cx="64008" cy="1490472"/>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11112" y="3145536"/>
            <a:ext cx="4828032"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0F172A"/>
                </a:solidFill>
                <a:latin typeface="Segoe UI"/>
              </a:rPr>
              <a:t>When it buys and sells</a:t>
            </a:r>
          </a:p>
        </p:txBody>
      </p:sp>
      <p:sp>
        <p:nvSpPr>
          <p:cNvPr id="19" name="TextBox 18"/>
          <p:cNvSpPr txBox="1"/>
          <p:nvPr/>
        </p:nvSpPr>
        <p:spPr>
          <a:xfrm>
            <a:off x="6629400" y="3383280"/>
            <a:ext cx="4800600" cy="502920"/>
          </a:xfrm>
          <a:prstGeom prst="rect">
            <a:avLst/>
          </a:prstGeom>
          <a:noFill/>
        </p:spPr>
        <p:txBody>
          <a:bodyPr wrap="square" lIns="0" tIns="0" rIns="0" bIns="0" anchor="t">
            <a:spAutoFit/>
          </a:bodyPr>
          <a:lstStyle/>
          <a:p>
            <a:pPr algn="l">
              <a:lnSpc>
                <a:spcPct val="106000"/>
              </a:lnSpc>
              <a:spcBef>
                <a:spcPts val="0"/>
              </a:spcBef>
              <a:spcAft>
                <a:spcPts val="400"/>
              </a:spcAft>
            </a:pPr>
            <a:r>
              <a:rPr sz="1100" b="1" i="0">
                <a:solidFill>
                  <a:srgbClr val="059669"/>
                </a:solidFill>
                <a:latin typeface="Segoe UI"/>
              </a:rPr>
              <a:t>BUY  </a:t>
            </a:r>
            <a:r>
              <a:rPr sz="1100" b="0" i="0">
                <a:solidFill>
                  <a:srgbClr val="4B5563"/>
                </a:solidFill>
                <a:latin typeface="Segoe UI"/>
              </a:rPr>
              <a:t>the fast 20-day average rises above the slow 50-day average — a sign the trend has turned upward (traders call this a “golden cross”).</a:t>
            </a:r>
          </a:p>
        </p:txBody>
      </p:sp>
      <p:sp>
        <p:nvSpPr>
          <p:cNvPr id="20" name="TextBox 19"/>
          <p:cNvSpPr txBox="1"/>
          <p:nvPr/>
        </p:nvSpPr>
        <p:spPr>
          <a:xfrm>
            <a:off x="6629400" y="3895344"/>
            <a:ext cx="4800600" cy="502920"/>
          </a:xfrm>
          <a:prstGeom prst="rect">
            <a:avLst/>
          </a:prstGeom>
          <a:noFill/>
        </p:spPr>
        <p:txBody>
          <a:bodyPr wrap="square" lIns="0" tIns="0" rIns="0" bIns="0" anchor="t">
            <a:spAutoFit/>
          </a:bodyPr>
          <a:lstStyle/>
          <a:p>
            <a:pPr algn="l">
              <a:lnSpc>
                <a:spcPct val="106000"/>
              </a:lnSpc>
              <a:spcBef>
                <a:spcPts val="0"/>
              </a:spcBef>
              <a:spcAft>
                <a:spcPts val="400"/>
              </a:spcAft>
            </a:pPr>
            <a:r>
              <a:rPr sz="1100" b="1" i="0">
                <a:solidFill>
                  <a:srgbClr val="DC2626"/>
                </a:solidFill>
                <a:latin typeface="Segoe UI"/>
              </a:rPr>
              <a:t>SELL  </a:t>
            </a:r>
            <a:r>
              <a:rPr sz="1100" b="0" i="0">
                <a:solidFill>
                  <a:srgbClr val="4B5563"/>
                </a:solidFill>
                <a:latin typeface="Segoe UI"/>
              </a:rPr>
              <a:t>the fast average drops back below the slow one (a “death cross”), suggesting the up-move is over.</a:t>
            </a:r>
          </a:p>
        </p:txBody>
      </p:sp>
      <p:sp>
        <p:nvSpPr>
          <p:cNvPr id="21" name="TextBox 20"/>
          <p:cNvSpPr txBox="1"/>
          <p:nvPr/>
        </p:nvSpPr>
        <p:spPr>
          <a:xfrm>
            <a:off x="6629400" y="4425696"/>
            <a:ext cx="4800600" cy="228600"/>
          </a:xfrm>
          <a:prstGeom prst="rect">
            <a:avLst/>
          </a:prstGeom>
          <a:noFill/>
        </p:spPr>
        <p:txBody>
          <a:bodyPr wrap="square" lIns="0" tIns="0" rIns="0" bIns="0" anchor="t">
            <a:spAutoFit/>
          </a:bodyPr>
          <a:lstStyle/>
          <a:p>
            <a:pPr algn="l">
              <a:lnSpc>
                <a:spcPct val="100000"/>
              </a:lnSpc>
              <a:spcBef>
                <a:spcPts val="0"/>
              </a:spcBef>
              <a:spcAft>
                <a:spcPts val="400"/>
              </a:spcAft>
            </a:pPr>
            <a:r>
              <a:rPr sz="950" b="1" i="0">
                <a:solidFill>
                  <a:srgbClr val="94A3B8"/>
                </a:solidFill>
                <a:latin typeface="Segoe UI"/>
              </a:rPr>
              <a:t>Default settings:  </a:t>
            </a:r>
            <a:r>
              <a:rPr sz="950" b="0" i="0">
                <a:solidFill>
                  <a:srgbClr val="4B5563"/>
                </a:solidFill>
                <a:latin typeface="Consolas"/>
              </a:rPr>
              <a:t>fast = 20 days,  slow = 50 days</a:t>
            </a:r>
          </a:p>
        </p:txBody>
      </p:sp>
      <p:sp>
        <p:nvSpPr>
          <p:cNvPr id="22" name="Rounded Rectangle 21"/>
          <p:cNvSpPr/>
          <p:nvPr/>
        </p:nvSpPr>
        <p:spPr>
          <a:xfrm>
            <a:off x="6355080" y="4855464"/>
            <a:ext cx="5285232" cy="1243584"/>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355080" y="5001768"/>
            <a:ext cx="64008" cy="950976"/>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11112" y="5020055"/>
            <a:ext cx="4828032"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D97706"/>
                </a:solidFill>
                <a:latin typeface="Segoe UI"/>
              </a:rPr>
              <a:t>Why we included it</a:t>
            </a:r>
          </a:p>
        </p:txBody>
      </p:sp>
      <p:sp>
        <p:nvSpPr>
          <p:cNvPr id="25" name="TextBox 24"/>
          <p:cNvSpPr txBox="1"/>
          <p:nvPr/>
        </p:nvSpPr>
        <p:spPr>
          <a:xfrm>
            <a:off x="6629400" y="5248656"/>
            <a:ext cx="4800600" cy="822960"/>
          </a:xfrm>
          <a:prstGeom prst="rect">
            <a:avLst/>
          </a:prstGeom>
          <a:noFill/>
        </p:spPr>
        <p:txBody>
          <a:bodyPr wrap="square" lIns="0" tIns="0" rIns="0" bIns="0" anchor="t">
            <a:spAutoFit/>
          </a:bodyPr>
          <a:lstStyle/>
          <a:p>
            <a:pPr algn="l">
              <a:lnSpc>
                <a:spcPct val="112000"/>
              </a:lnSpc>
              <a:spcBef>
                <a:spcPts val="0"/>
              </a:spcBef>
              <a:spcAft>
                <a:spcPts val="400"/>
              </a:spcAft>
            </a:pPr>
            <a:r>
              <a:rPr sz="1050" b="0" i="0">
                <a:solidFill>
                  <a:srgbClr val="4B5563"/>
                </a:solidFill>
                <a:latin typeface="Segoe UI"/>
              </a:rPr>
              <a:t>It is the simplest, most famous trend-following rule, which makes it the perfect baseline to measure everything else against. It is easy to explain to anyone, and it directly tests our core question: does simply following the trend pay off after costs?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7C3AED"/>
                </a:solidFill>
                <a:latin typeface="Segoe UI"/>
              </a:rPr>
              <a:t>03 · STRATEGY 2 OF 4</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RSI Mean Reversion</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11</a:t>
            </a:r>
          </a:p>
        </p:txBody>
      </p:sp>
      <p:sp>
        <p:nvSpPr>
          <p:cNvPr id="9" name="Rounded Rectangle 8"/>
          <p:cNvSpPr/>
          <p:nvPr/>
        </p:nvSpPr>
        <p:spPr>
          <a:xfrm>
            <a:off x="868680" y="1042415"/>
            <a:ext cx="3185962"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056131"/>
            <a:ext cx="3185962" cy="274320"/>
          </a:xfrm>
          <a:prstGeom prst="rect">
            <a:avLst/>
          </a:prstGeom>
          <a:noFill/>
        </p:spPr>
        <p:txBody>
          <a:bodyPr wrap="square" lIns="0" tIns="0" rIns="0" bIns="0" anchor="ctr">
            <a:spAutoFit/>
          </a:bodyPr>
          <a:lstStyle/>
          <a:p>
            <a:pPr algn="ctr">
              <a:lnSpc>
                <a:spcPct val="100000"/>
              </a:lnSpc>
              <a:spcBef>
                <a:spcPts val="0"/>
              </a:spcBef>
              <a:spcAft>
                <a:spcPts val="400"/>
              </a:spcAft>
            </a:pPr>
            <a:r>
              <a:rPr sz="1000" b="0" i="0">
                <a:solidFill>
                  <a:srgbClr val="7C3AED"/>
                </a:solidFill>
                <a:latin typeface="Segoe UI"/>
              </a:rPr>
              <a:t>MEAN REVERSION  ·  IT BETS ON A BOUNCE-BACK</a:t>
            </a:r>
          </a:p>
        </p:txBody>
      </p:sp>
      <p:sp>
        <p:nvSpPr>
          <p:cNvPr id="11" name="Rounded Rectangle 10"/>
          <p:cNvSpPr/>
          <p:nvPr/>
        </p:nvSpPr>
        <p:spPr>
          <a:xfrm>
            <a:off x="594360" y="1572768"/>
            <a:ext cx="5532120" cy="45262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strat_rsi.png"/>
          <p:cNvPicPr>
            <a:picLocks noChangeAspect="1"/>
          </p:cNvPicPr>
          <p:nvPr/>
        </p:nvPicPr>
        <p:blipFill>
          <a:blip r:embed="rId2"/>
          <a:stretch>
            <a:fillRect/>
          </a:stretch>
        </p:blipFill>
        <p:spPr>
          <a:xfrm>
            <a:off x="822960" y="1874519"/>
            <a:ext cx="5074920" cy="3015263"/>
          </a:xfrm>
          <a:prstGeom prst="rect">
            <a:avLst/>
          </a:prstGeom>
        </p:spPr>
      </p:pic>
      <p:sp>
        <p:nvSpPr>
          <p:cNvPr id="13" name="TextBox 12"/>
          <p:cNvSpPr txBox="1"/>
          <p:nvPr/>
        </p:nvSpPr>
        <p:spPr>
          <a:xfrm>
            <a:off x="822960" y="5074920"/>
            <a:ext cx="5074920" cy="274320"/>
          </a:xfrm>
          <a:prstGeom prst="rect">
            <a:avLst/>
          </a:prstGeom>
          <a:noFill/>
        </p:spPr>
        <p:txBody>
          <a:bodyPr wrap="square" lIns="0" tIns="0" rIns="0" bIns="0" anchor="t">
            <a:spAutoFit/>
          </a:bodyPr>
          <a:lstStyle/>
          <a:p>
            <a:pPr algn="ctr">
              <a:lnSpc>
                <a:spcPct val="100000"/>
              </a:lnSpc>
              <a:spcBef>
                <a:spcPts val="0"/>
              </a:spcBef>
              <a:spcAft>
                <a:spcPts val="400"/>
              </a:spcAft>
            </a:pPr>
            <a:r>
              <a:rPr sz="850" b="0" i="0">
                <a:solidFill>
                  <a:srgbClr val="94A3B8"/>
                </a:solidFill>
                <a:latin typeface="Segoe UI"/>
              </a:rPr>
              <a:t>Illustrative picture on example data — green = buy, red = sell</a:t>
            </a:r>
          </a:p>
        </p:txBody>
      </p:sp>
      <p:sp>
        <p:nvSpPr>
          <p:cNvPr id="14" name="TextBox 13"/>
          <p:cNvSpPr txBox="1"/>
          <p:nvPr/>
        </p:nvSpPr>
        <p:spPr>
          <a:xfrm>
            <a:off x="6355080" y="1609344"/>
            <a:ext cx="5303520" cy="274320"/>
          </a:xfrm>
          <a:prstGeom prst="rect">
            <a:avLst/>
          </a:prstGeom>
          <a:noFill/>
        </p:spPr>
        <p:txBody>
          <a:bodyPr wrap="square" lIns="0" tIns="0" rIns="0" bIns="0" anchor="t">
            <a:spAutoFit/>
          </a:bodyPr>
          <a:lstStyle/>
          <a:p>
            <a:pPr algn="l">
              <a:lnSpc>
                <a:spcPct val="100000"/>
              </a:lnSpc>
              <a:spcBef>
                <a:spcPts val="0"/>
              </a:spcBef>
              <a:spcAft>
                <a:spcPts val="400"/>
              </a:spcAft>
            </a:pPr>
            <a:r>
              <a:rPr sz="1000" b="0" i="0">
                <a:solidFill>
                  <a:srgbClr val="7C3AED"/>
                </a:solidFill>
                <a:latin typeface="Segoe UI"/>
              </a:rPr>
              <a:t>THE IDEA IN PLAIN WORDS</a:t>
            </a:r>
          </a:p>
        </p:txBody>
      </p:sp>
      <p:sp>
        <p:nvSpPr>
          <p:cNvPr id="15" name="TextBox 14"/>
          <p:cNvSpPr txBox="1"/>
          <p:nvPr/>
        </p:nvSpPr>
        <p:spPr>
          <a:xfrm>
            <a:off x="6355080" y="1865376"/>
            <a:ext cx="5285232" cy="1078992"/>
          </a:xfrm>
          <a:prstGeom prst="rect">
            <a:avLst/>
          </a:prstGeom>
          <a:noFill/>
        </p:spPr>
        <p:txBody>
          <a:bodyPr wrap="square" lIns="0" tIns="0" rIns="0" bIns="0" anchor="t">
            <a:spAutoFit/>
          </a:bodyPr>
          <a:lstStyle/>
          <a:p>
            <a:pPr algn="l">
              <a:lnSpc>
                <a:spcPct val="114000"/>
              </a:lnSpc>
              <a:spcBef>
                <a:spcPts val="0"/>
              </a:spcBef>
              <a:spcAft>
                <a:spcPts val="400"/>
              </a:spcAft>
            </a:pPr>
            <a:r>
              <a:rPr sz="1200" b="0" i="0">
                <a:solidFill>
                  <a:srgbClr val="0F172A"/>
                </a:solidFill>
                <a:latin typeface="Segoe UI"/>
              </a:rPr>
              <a:t>This rule does the opposite of trend-following. It assumes that when a price has fallen too far, too fast, it tends to bounce back — so it buys the dip. It uses the RSI, a 0–100 score of how hard a stock has recently been bought or sold.</a:t>
            </a:r>
          </a:p>
        </p:txBody>
      </p:sp>
      <p:sp>
        <p:nvSpPr>
          <p:cNvPr id="16" name="Rounded Rectangle 15"/>
          <p:cNvSpPr/>
          <p:nvPr/>
        </p:nvSpPr>
        <p:spPr>
          <a:xfrm>
            <a:off x="6355080" y="2980944"/>
            <a:ext cx="5285232" cy="17830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55080" y="3127248"/>
            <a:ext cx="64008" cy="1490472"/>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11112" y="3145536"/>
            <a:ext cx="4828032"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0F172A"/>
                </a:solidFill>
                <a:latin typeface="Segoe UI"/>
              </a:rPr>
              <a:t>When it buys and sells</a:t>
            </a:r>
          </a:p>
        </p:txBody>
      </p:sp>
      <p:sp>
        <p:nvSpPr>
          <p:cNvPr id="19" name="TextBox 18"/>
          <p:cNvSpPr txBox="1"/>
          <p:nvPr/>
        </p:nvSpPr>
        <p:spPr>
          <a:xfrm>
            <a:off x="6629400" y="3383280"/>
            <a:ext cx="4800600" cy="502920"/>
          </a:xfrm>
          <a:prstGeom prst="rect">
            <a:avLst/>
          </a:prstGeom>
          <a:noFill/>
        </p:spPr>
        <p:txBody>
          <a:bodyPr wrap="square" lIns="0" tIns="0" rIns="0" bIns="0" anchor="t">
            <a:spAutoFit/>
          </a:bodyPr>
          <a:lstStyle/>
          <a:p>
            <a:pPr algn="l">
              <a:lnSpc>
                <a:spcPct val="106000"/>
              </a:lnSpc>
              <a:spcBef>
                <a:spcPts val="0"/>
              </a:spcBef>
              <a:spcAft>
                <a:spcPts val="400"/>
              </a:spcAft>
            </a:pPr>
            <a:r>
              <a:rPr sz="1100" b="1" i="0">
                <a:solidFill>
                  <a:srgbClr val="059669"/>
                </a:solidFill>
                <a:latin typeface="Segoe UI"/>
              </a:rPr>
              <a:t>BUY  </a:t>
            </a:r>
            <a:r>
              <a:rPr sz="1100" b="0" i="0">
                <a:solidFill>
                  <a:srgbClr val="4B5563"/>
                </a:solidFill>
                <a:latin typeface="Segoe UI"/>
              </a:rPr>
              <a:t>the RSI falls below 30 (“oversold”) — the stock has been sold off hard and may be due for a rebound.</a:t>
            </a:r>
          </a:p>
        </p:txBody>
      </p:sp>
      <p:sp>
        <p:nvSpPr>
          <p:cNvPr id="20" name="TextBox 19"/>
          <p:cNvSpPr txBox="1"/>
          <p:nvPr/>
        </p:nvSpPr>
        <p:spPr>
          <a:xfrm>
            <a:off x="6629400" y="3895344"/>
            <a:ext cx="4800600" cy="502920"/>
          </a:xfrm>
          <a:prstGeom prst="rect">
            <a:avLst/>
          </a:prstGeom>
          <a:noFill/>
        </p:spPr>
        <p:txBody>
          <a:bodyPr wrap="square" lIns="0" tIns="0" rIns="0" bIns="0" anchor="t">
            <a:spAutoFit/>
          </a:bodyPr>
          <a:lstStyle/>
          <a:p>
            <a:pPr algn="l">
              <a:lnSpc>
                <a:spcPct val="106000"/>
              </a:lnSpc>
              <a:spcBef>
                <a:spcPts val="0"/>
              </a:spcBef>
              <a:spcAft>
                <a:spcPts val="400"/>
              </a:spcAft>
            </a:pPr>
            <a:r>
              <a:rPr sz="1100" b="1" i="0">
                <a:solidFill>
                  <a:srgbClr val="DC2626"/>
                </a:solidFill>
                <a:latin typeface="Segoe UI"/>
              </a:rPr>
              <a:t>SELL  </a:t>
            </a:r>
            <a:r>
              <a:rPr sz="1100" b="0" i="0">
                <a:solidFill>
                  <a:srgbClr val="4B5563"/>
                </a:solidFill>
                <a:latin typeface="Segoe UI"/>
              </a:rPr>
              <a:t>the RSI climbs above 70 (“overbought”) — the bounce has played out, so it takes the gain.</a:t>
            </a:r>
          </a:p>
        </p:txBody>
      </p:sp>
      <p:sp>
        <p:nvSpPr>
          <p:cNvPr id="21" name="TextBox 20"/>
          <p:cNvSpPr txBox="1"/>
          <p:nvPr/>
        </p:nvSpPr>
        <p:spPr>
          <a:xfrm>
            <a:off x="6629400" y="4425696"/>
            <a:ext cx="4800600" cy="228600"/>
          </a:xfrm>
          <a:prstGeom prst="rect">
            <a:avLst/>
          </a:prstGeom>
          <a:noFill/>
        </p:spPr>
        <p:txBody>
          <a:bodyPr wrap="square" lIns="0" tIns="0" rIns="0" bIns="0" anchor="t">
            <a:spAutoFit/>
          </a:bodyPr>
          <a:lstStyle/>
          <a:p>
            <a:pPr algn="l">
              <a:lnSpc>
                <a:spcPct val="100000"/>
              </a:lnSpc>
              <a:spcBef>
                <a:spcPts val="0"/>
              </a:spcBef>
              <a:spcAft>
                <a:spcPts val="400"/>
              </a:spcAft>
            </a:pPr>
            <a:r>
              <a:rPr sz="950" b="1" i="0">
                <a:solidFill>
                  <a:srgbClr val="94A3B8"/>
                </a:solidFill>
                <a:latin typeface="Segoe UI"/>
              </a:rPr>
              <a:t>Default settings:  </a:t>
            </a:r>
            <a:r>
              <a:rPr sz="950" b="0" i="0">
                <a:solidFill>
                  <a:srgbClr val="4B5563"/>
                </a:solidFill>
                <a:latin typeface="Consolas"/>
              </a:rPr>
              <a:t>RSI length = 14,  oversold = 30,  overbought = 70</a:t>
            </a:r>
          </a:p>
        </p:txBody>
      </p:sp>
      <p:sp>
        <p:nvSpPr>
          <p:cNvPr id="22" name="Rounded Rectangle 21"/>
          <p:cNvSpPr/>
          <p:nvPr/>
        </p:nvSpPr>
        <p:spPr>
          <a:xfrm>
            <a:off x="6355080" y="4855464"/>
            <a:ext cx="5285232" cy="1243584"/>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355080" y="5001768"/>
            <a:ext cx="64008" cy="950976"/>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11112" y="5020055"/>
            <a:ext cx="4828032"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D97706"/>
                </a:solidFill>
                <a:latin typeface="Segoe UI"/>
              </a:rPr>
              <a:t>Why we included it</a:t>
            </a:r>
          </a:p>
        </p:txBody>
      </p:sp>
      <p:sp>
        <p:nvSpPr>
          <p:cNvPr id="25" name="TextBox 24"/>
          <p:cNvSpPr txBox="1"/>
          <p:nvPr/>
        </p:nvSpPr>
        <p:spPr>
          <a:xfrm>
            <a:off x="6629400" y="5248656"/>
            <a:ext cx="4800600" cy="822960"/>
          </a:xfrm>
          <a:prstGeom prst="rect">
            <a:avLst/>
          </a:prstGeom>
          <a:noFill/>
        </p:spPr>
        <p:txBody>
          <a:bodyPr wrap="square" lIns="0" tIns="0" rIns="0" bIns="0" anchor="t">
            <a:spAutoFit/>
          </a:bodyPr>
          <a:lstStyle/>
          <a:p>
            <a:pPr algn="l">
              <a:lnSpc>
                <a:spcPct val="112000"/>
              </a:lnSpc>
              <a:spcBef>
                <a:spcPts val="0"/>
              </a:spcBef>
              <a:spcAft>
                <a:spcPts val="400"/>
              </a:spcAft>
            </a:pPr>
            <a:r>
              <a:rPr sz="1050" b="0" i="0">
                <a:solidFill>
                  <a:srgbClr val="4B5563"/>
                </a:solidFill>
                <a:latin typeface="Segoe UI"/>
              </a:rPr>
              <a:t>We deliberately wanted a strategy that bets the opposite way to the trend-followers, to see which view the data supports. It also tends to win often with small gains — a very different pattern that stress-tests our question from another angle.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059669"/>
                </a:solidFill>
                <a:latin typeface="Segoe UI"/>
              </a:rPr>
              <a:t>03 · STRATEGY 3 OF 4</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MACD Trend</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12</a:t>
            </a:r>
          </a:p>
        </p:txBody>
      </p:sp>
      <p:sp>
        <p:nvSpPr>
          <p:cNvPr id="9" name="Rounded Rectangle 8"/>
          <p:cNvSpPr/>
          <p:nvPr/>
        </p:nvSpPr>
        <p:spPr>
          <a:xfrm>
            <a:off x="868680" y="1042415"/>
            <a:ext cx="3115697" cy="292608"/>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056131"/>
            <a:ext cx="3115697" cy="274320"/>
          </a:xfrm>
          <a:prstGeom prst="rect">
            <a:avLst/>
          </a:prstGeom>
          <a:noFill/>
        </p:spPr>
        <p:txBody>
          <a:bodyPr wrap="square" lIns="0" tIns="0" rIns="0" bIns="0" anchor="ctr">
            <a:spAutoFit/>
          </a:bodyPr>
          <a:lstStyle/>
          <a:p>
            <a:pPr algn="ctr">
              <a:lnSpc>
                <a:spcPct val="100000"/>
              </a:lnSpc>
              <a:spcBef>
                <a:spcPts val="0"/>
              </a:spcBef>
              <a:spcAft>
                <a:spcPts val="400"/>
              </a:spcAft>
            </a:pPr>
            <a:r>
              <a:rPr sz="1000" b="0" i="0">
                <a:solidFill>
                  <a:srgbClr val="059669"/>
                </a:solidFill>
                <a:latin typeface="Segoe UI"/>
              </a:rPr>
              <a:t>MOMENTUM  ·  TREND-FOLLOWING WITH A FILTER</a:t>
            </a:r>
          </a:p>
        </p:txBody>
      </p:sp>
      <p:sp>
        <p:nvSpPr>
          <p:cNvPr id="11" name="Rounded Rectangle 10"/>
          <p:cNvSpPr/>
          <p:nvPr/>
        </p:nvSpPr>
        <p:spPr>
          <a:xfrm>
            <a:off x="594360" y="1572768"/>
            <a:ext cx="5532120" cy="45262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strat_macd.png"/>
          <p:cNvPicPr>
            <a:picLocks noChangeAspect="1"/>
          </p:cNvPicPr>
          <p:nvPr/>
        </p:nvPicPr>
        <p:blipFill>
          <a:blip r:embed="rId2"/>
          <a:stretch>
            <a:fillRect/>
          </a:stretch>
        </p:blipFill>
        <p:spPr>
          <a:xfrm>
            <a:off x="822960" y="1874519"/>
            <a:ext cx="5074920" cy="2997962"/>
          </a:xfrm>
          <a:prstGeom prst="rect">
            <a:avLst/>
          </a:prstGeom>
        </p:spPr>
      </p:pic>
      <p:sp>
        <p:nvSpPr>
          <p:cNvPr id="13" name="TextBox 12"/>
          <p:cNvSpPr txBox="1"/>
          <p:nvPr/>
        </p:nvSpPr>
        <p:spPr>
          <a:xfrm>
            <a:off x="822960" y="5074920"/>
            <a:ext cx="5074920" cy="274320"/>
          </a:xfrm>
          <a:prstGeom prst="rect">
            <a:avLst/>
          </a:prstGeom>
          <a:noFill/>
        </p:spPr>
        <p:txBody>
          <a:bodyPr wrap="square" lIns="0" tIns="0" rIns="0" bIns="0" anchor="t">
            <a:spAutoFit/>
          </a:bodyPr>
          <a:lstStyle/>
          <a:p>
            <a:pPr algn="ctr">
              <a:lnSpc>
                <a:spcPct val="100000"/>
              </a:lnSpc>
              <a:spcBef>
                <a:spcPts val="0"/>
              </a:spcBef>
              <a:spcAft>
                <a:spcPts val="400"/>
              </a:spcAft>
            </a:pPr>
            <a:r>
              <a:rPr sz="850" b="0" i="0">
                <a:solidFill>
                  <a:srgbClr val="94A3B8"/>
                </a:solidFill>
                <a:latin typeface="Segoe UI"/>
              </a:rPr>
              <a:t>Illustrative picture on example data — green = buy, red = sell</a:t>
            </a:r>
          </a:p>
        </p:txBody>
      </p:sp>
      <p:sp>
        <p:nvSpPr>
          <p:cNvPr id="14" name="TextBox 13"/>
          <p:cNvSpPr txBox="1"/>
          <p:nvPr/>
        </p:nvSpPr>
        <p:spPr>
          <a:xfrm>
            <a:off x="6355080" y="1609344"/>
            <a:ext cx="5303520" cy="274320"/>
          </a:xfrm>
          <a:prstGeom prst="rect">
            <a:avLst/>
          </a:prstGeom>
          <a:noFill/>
        </p:spPr>
        <p:txBody>
          <a:bodyPr wrap="square" lIns="0" tIns="0" rIns="0" bIns="0" anchor="t">
            <a:spAutoFit/>
          </a:bodyPr>
          <a:lstStyle/>
          <a:p>
            <a:pPr algn="l">
              <a:lnSpc>
                <a:spcPct val="100000"/>
              </a:lnSpc>
              <a:spcBef>
                <a:spcPts val="0"/>
              </a:spcBef>
              <a:spcAft>
                <a:spcPts val="400"/>
              </a:spcAft>
            </a:pPr>
            <a:r>
              <a:rPr sz="1000" b="0" i="0">
                <a:solidFill>
                  <a:srgbClr val="059669"/>
                </a:solidFill>
                <a:latin typeface="Segoe UI"/>
              </a:rPr>
              <a:t>THE IDEA IN PLAIN WORDS</a:t>
            </a:r>
          </a:p>
        </p:txBody>
      </p:sp>
      <p:sp>
        <p:nvSpPr>
          <p:cNvPr id="15" name="TextBox 14"/>
          <p:cNvSpPr txBox="1"/>
          <p:nvPr/>
        </p:nvSpPr>
        <p:spPr>
          <a:xfrm>
            <a:off x="6355080" y="1865376"/>
            <a:ext cx="5285232" cy="1078992"/>
          </a:xfrm>
          <a:prstGeom prst="rect">
            <a:avLst/>
          </a:prstGeom>
          <a:noFill/>
        </p:spPr>
        <p:txBody>
          <a:bodyPr wrap="square" lIns="0" tIns="0" rIns="0" bIns="0" anchor="t">
            <a:spAutoFit/>
          </a:bodyPr>
          <a:lstStyle/>
          <a:p>
            <a:pPr algn="l">
              <a:lnSpc>
                <a:spcPct val="114000"/>
              </a:lnSpc>
              <a:spcBef>
                <a:spcPts val="0"/>
              </a:spcBef>
              <a:spcAft>
                <a:spcPts val="400"/>
              </a:spcAft>
            </a:pPr>
            <a:r>
              <a:rPr sz="1200" b="0" i="0">
                <a:solidFill>
                  <a:srgbClr val="0F172A"/>
                </a:solidFill>
                <a:latin typeface="Segoe UI"/>
              </a:rPr>
              <a:t>Like SMA, this follows momentum — but adds an extra confirmation step designed to avoid being fooled by brief, false moves. MACD tracks the gap between a fast and a slow average; when that gap widens upward, momentum is building.</a:t>
            </a:r>
          </a:p>
        </p:txBody>
      </p:sp>
      <p:sp>
        <p:nvSpPr>
          <p:cNvPr id="16" name="Rounded Rectangle 15"/>
          <p:cNvSpPr/>
          <p:nvPr/>
        </p:nvSpPr>
        <p:spPr>
          <a:xfrm>
            <a:off x="6355080" y="2980944"/>
            <a:ext cx="5285232" cy="17830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55080" y="3127248"/>
            <a:ext cx="64008" cy="1490472"/>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11112" y="3145536"/>
            <a:ext cx="4828032"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0F172A"/>
                </a:solidFill>
                <a:latin typeface="Segoe UI"/>
              </a:rPr>
              <a:t>When it buys and sells</a:t>
            </a:r>
          </a:p>
        </p:txBody>
      </p:sp>
      <p:sp>
        <p:nvSpPr>
          <p:cNvPr id="19" name="TextBox 18"/>
          <p:cNvSpPr txBox="1"/>
          <p:nvPr/>
        </p:nvSpPr>
        <p:spPr>
          <a:xfrm>
            <a:off x="6629400" y="3383280"/>
            <a:ext cx="4800600" cy="502920"/>
          </a:xfrm>
          <a:prstGeom prst="rect">
            <a:avLst/>
          </a:prstGeom>
          <a:noFill/>
        </p:spPr>
        <p:txBody>
          <a:bodyPr wrap="square" lIns="0" tIns="0" rIns="0" bIns="0" anchor="t">
            <a:spAutoFit/>
          </a:bodyPr>
          <a:lstStyle/>
          <a:p>
            <a:pPr algn="l">
              <a:lnSpc>
                <a:spcPct val="106000"/>
              </a:lnSpc>
              <a:spcBef>
                <a:spcPts val="0"/>
              </a:spcBef>
              <a:spcAft>
                <a:spcPts val="400"/>
              </a:spcAft>
            </a:pPr>
            <a:r>
              <a:rPr sz="1100" b="1" i="0">
                <a:solidFill>
                  <a:srgbClr val="059669"/>
                </a:solidFill>
                <a:latin typeface="Segoe UI"/>
              </a:rPr>
              <a:t>BUY  </a:t>
            </a:r>
            <a:r>
              <a:rPr sz="1100" b="0" i="0">
                <a:solidFill>
                  <a:srgbClr val="4B5563"/>
                </a:solidFill>
                <a:latin typeface="Segoe UI"/>
              </a:rPr>
              <a:t>the MACD “histogram” crosses above zero — short-term momentum has just overtaken the longer-term trend, often the start of an up-move.</a:t>
            </a:r>
          </a:p>
        </p:txBody>
      </p:sp>
      <p:sp>
        <p:nvSpPr>
          <p:cNvPr id="20" name="TextBox 19"/>
          <p:cNvSpPr txBox="1"/>
          <p:nvPr/>
        </p:nvSpPr>
        <p:spPr>
          <a:xfrm>
            <a:off x="6629400" y="3895344"/>
            <a:ext cx="4800600" cy="502920"/>
          </a:xfrm>
          <a:prstGeom prst="rect">
            <a:avLst/>
          </a:prstGeom>
          <a:noFill/>
        </p:spPr>
        <p:txBody>
          <a:bodyPr wrap="square" lIns="0" tIns="0" rIns="0" bIns="0" anchor="t">
            <a:spAutoFit/>
          </a:bodyPr>
          <a:lstStyle/>
          <a:p>
            <a:pPr algn="l">
              <a:lnSpc>
                <a:spcPct val="106000"/>
              </a:lnSpc>
              <a:spcBef>
                <a:spcPts val="0"/>
              </a:spcBef>
              <a:spcAft>
                <a:spcPts val="400"/>
              </a:spcAft>
            </a:pPr>
            <a:r>
              <a:rPr sz="1100" b="1" i="0">
                <a:solidFill>
                  <a:srgbClr val="DC2626"/>
                </a:solidFill>
                <a:latin typeface="Segoe UI"/>
              </a:rPr>
              <a:t>SELL  </a:t>
            </a:r>
            <a:r>
              <a:rPr sz="1100" b="0" i="0">
                <a:solidFill>
                  <a:srgbClr val="4B5563"/>
                </a:solidFill>
                <a:latin typeface="Segoe UI"/>
              </a:rPr>
              <a:t>the histogram crosses back below zero, meaning that momentum has faded away.</a:t>
            </a:r>
          </a:p>
        </p:txBody>
      </p:sp>
      <p:sp>
        <p:nvSpPr>
          <p:cNvPr id="21" name="TextBox 20"/>
          <p:cNvSpPr txBox="1"/>
          <p:nvPr/>
        </p:nvSpPr>
        <p:spPr>
          <a:xfrm>
            <a:off x="6629400" y="4425696"/>
            <a:ext cx="4800600" cy="228600"/>
          </a:xfrm>
          <a:prstGeom prst="rect">
            <a:avLst/>
          </a:prstGeom>
          <a:noFill/>
        </p:spPr>
        <p:txBody>
          <a:bodyPr wrap="square" lIns="0" tIns="0" rIns="0" bIns="0" anchor="t">
            <a:spAutoFit/>
          </a:bodyPr>
          <a:lstStyle/>
          <a:p>
            <a:pPr algn="l">
              <a:lnSpc>
                <a:spcPct val="100000"/>
              </a:lnSpc>
              <a:spcBef>
                <a:spcPts val="0"/>
              </a:spcBef>
              <a:spcAft>
                <a:spcPts val="400"/>
              </a:spcAft>
            </a:pPr>
            <a:r>
              <a:rPr sz="950" b="1" i="0">
                <a:solidFill>
                  <a:srgbClr val="94A3B8"/>
                </a:solidFill>
                <a:latin typeface="Segoe UI"/>
              </a:rPr>
              <a:t>Default settings:  </a:t>
            </a:r>
            <a:r>
              <a:rPr sz="950" b="0" i="0">
                <a:solidFill>
                  <a:srgbClr val="4B5563"/>
                </a:solidFill>
                <a:latin typeface="Consolas"/>
              </a:rPr>
              <a:t>fast = 12,  slow = 26,  signal = 9</a:t>
            </a:r>
          </a:p>
        </p:txBody>
      </p:sp>
      <p:sp>
        <p:nvSpPr>
          <p:cNvPr id="22" name="Rounded Rectangle 21"/>
          <p:cNvSpPr/>
          <p:nvPr/>
        </p:nvSpPr>
        <p:spPr>
          <a:xfrm>
            <a:off x="6355080" y="4855464"/>
            <a:ext cx="5285232" cy="1243584"/>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355080" y="5001768"/>
            <a:ext cx="64008" cy="950976"/>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11112" y="5020055"/>
            <a:ext cx="4828032"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D97706"/>
                </a:solidFill>
                <a:latin typeface="Segoe UI"/>
              </a:rPr>
              <a:t>Why we included it</a:t>
            </a:r>
          </a:p>
        </p:txBody>
      </p:sp>
      <p:sp>
        <p:nvSpPr>
          <p:cNvPr id="25" name="TextBox 24"/>
          <p:cNvSpPr txBox="1"/>
          <p:nvPr/>
        </p:nvSpPr>
        <p:spPr>
          <a:xfrm>
            <a:off x="6629400" y="5248656"/>
            <a:ext cx="4800600" cy="822960"/>
          </a:xfrm>
          <a:prstGeom prst="rect">
            <a:avLst/>
          </a:prstGeom>
          <a:noFill/>
        </p:spPr>
        <p:txBody>
          <a:bodyPr wrap="square" lIns="0" tIns="0" rIns="0" bIns="0" anchor="t">
            <a:spAutoFit/>
          </a:bodyPr>
          <a:lstStyle/>
          <a:p>
            <a:pPr algn="l">
              <a:lnSpc>
                <a:spcPct val="112000"/>
              </a:lnSpc>
              <a:spcBef>
                <a:spcPts val="0"/>
              </a:spcBef>
              <a:spcAft>
                <a:spcPts val="400"/>
              </a:spcAft>
            </a:pPr>
            <a:r>
              <a:rPr sz="1050" b="0" i="0">
                <a:solidFill>
                  <a:srgbClr val="4B5563"/>
                </a:solidFill>
                <a:latin typeface="Segoe UI"/>
              </a:rPr>
              <a:t>It is a more refined cousin of the simple moving-average cross and is widely used by professional traders. Including it lets us test whether that extra layer of confirmation actually produces steadier results than the basic version.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D97706"/>
                </a:solidFill>
                <a:latin typeface="Segoe UI"/>
              </a:rPr>
              <a:t>03 · STRATEGY 4 OF 4</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Bollinger Breakout</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13</a:t>
            </a:r>
          </a:p>
        </p:txBody>
      </p:sp>
      <p:sp>
        <p:nvSpPr>
          <p:cNvPr id="9" name="Rounded Rectangle 8"/>
          <p:cNvSpPr/>
          <p:nvPr/>
        </p:nvSpPr>
        <p:spPr>
          <a:xfrm>
            <a:off x="868680" y="1042415"/>
            <a:ext cx="2553582" cy="29260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056131"/>
            <a:ext cx="2553582" cy="274320"/>
          </a:xfrm>
          <a:prstGeom prst="rect">
            <a:avLst/>
          </a:prstGeom>
          <a:noFill/>
        </p:spPr>
        <p:txBody>
          <a:bodyPr wrap="square" lIns="0" tIns="0" rIns="0" bIns="0" anchor="ctr">
            <a:spAutoFit/>
          </a:bodyPr>
          <a:lstStyle/>
          <a:p>
            <a:pPr algn="ctr">
              <a:lnSpc>
                <a:spcPct val="100000"/>
              </a:lnSpc>
              <a:spcBef>
                <a:spcPts val="0"/>
              </a:spcBef>
              <a:spcAft>
                <a:spcPts val="400"/>
              </a:spcAft>
            </a:pPr>
            <a:r>
              <a:rPr sz="1000" b="0" i="0">
                <a:solidFill>
                  <a:srgbClr val="D97706"/>
                </a:solidFill>
                <a:latin typeface="Segoe UI"/>
              </a:rPr>
              <a:t>VOLATILITY  ·  IT RIDES A BREAKOUT</a:t>
            </a:r>
          </a:p>
        </p:txBody>
      </p:sp>
      <p:sp>
        <p:nvSpPr>
          <p:cNvPr id="11" name="Rounded Rectangle 10"/>
          <p:cNvSpPr/>
          <p:nvPr/>
        </p:nvSpPr>
        <p:spPr>
          <a:xfrm>
            <a:off x="594360" y="1572768"/>
            <a:ext cx="5532120" cy="45262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strat_bbands.png"/>
          <p:cNvPicPr>
            <a:picLocks noChangeAspect="1"/>
          </p:cNvPicPr>
          <p:nvPr/>
        </p:nvPicPr>
        <p:blipFill>
          <a:blip r:embed="rId2"/>
          <a:stretch>
            <a:fillRect/>
          </a:stretch>
        </p:blipFill>
        <p:spPr>
          <a:xfrm>
            <a:off x="822960" y="1874519"/>
            <a:ext cx="5074920" cy="2914682"/>
          </a:xfrm>
          <a:prstGeom prst="rect">
            <a:avLst/>
          </a:prstGeom>
        </p:spPr>
      </p:pic>
      <p:sp>
        <p:nvSpPr>
          <p:cNvPr id="13" name="TextBox 12"/>
          <p:cNvSpPr txBox="1"/>
          <p:nvPr/>
        </p:nvSpPr>
        <p:spPr>
          <a:xfrm>
            <a:off x="822960" y="5074920"/>
            <a:ext cx="5074920" cy="274320"/>
          </a:xfrm>
          <a:prstGeom prst="rect">
            <a:avLst/>
          </a:prstGeom>
          <a:noFill/>
        </p:spPr>
        <p:txBody>
          <a:bodyPr wrap="square" lIns="0" tIns="0" rIns="0" bIns="0" anchor="t">
            <a:spAutoFit/>
          </a:bodyPr>
          <a:lstStyle/>
          <a:p>
            <a:pPr algn="ctr">
              <a:lnSpc>
                <a:spcPct val="100000"/>
              </a:lnSpc>
              <a:spcBef>
                <a:spcPts val="0"/>
              </a:spcBef>
              <a:spcAft>
                <a:spcPts val="400"/>
              </a:spcAft>
            </a:pPr>
            <a:r>
              <a:rPr sz="850" b="0" i="0">
                <a:solidFill>
                  <a:srgbClr val="94A3B8"/>
                </a:solidFill>
                <a:latin typeface="Segoe UI"/>
              </a:rPr>
              <a:t>Illustrative picture on example data — green = buy, red = sell</a:t>
            </a:r>
          </a:p>
        </p:txBody>
      </p:sp>
      <p:sp>
        <p:nvSpPr>
          <p:cNvPr id="14" name="TextBox 13"/>
          <p:cNvSpPr txBox="1"/>
          <p:nvPr/>
        </p:nvSpPr>
        <p:spPr>
          <a:xfrm>
            <a:off x="6355080" y="1609344"/>
            <a:ext cx="5303520" cy="274320"/>
          </a:xfrm>
          <a:prstGeom prst="rect">
            <a:avLst/>
          </a:prstGeom>
          <a:noFill/>
        </p:spPr>
        <p:txBody>
          <a:bodyPr wrap="square" lIns="0" tIns="0" rIns="0" bIns="0" anchor="t">
            <a:spAutoFit/>
          </a:bodyPr>
          <a:lstStyle/>
          <a:p>
            <a:pPr algn="l">
              <a:lnSpc>
                <a:spcPct val="100000"/>
              </a:lnSpc>
              <a:spcBef>
                <a:spcPts val="0"/>
              </a:spcBef>
              <a:spcAft>
                <a:spcPts val="400"/>
              </a:spcAft>
            </a:pPr>
            <a:r>
              <a:rPr sz="1000" b="0" i="0">
                <a:solidFill>
                  <a:srgbClr val="D97706"/>
                </a:solidFill>
                <a:latin typeface="Segoe UI"/>
              </a:rPr>
              <a:t>THE IDEA IN PLAIN WORDS</a:t>
            </a:r>
          </a:p>
        </p:txBody>
      </p:sp>
      <p:sp>
        <p:nvSpPr>
          <p:cNvPr id="15" name="TextBox 14"/>
          <p:cNvSpPr txBox="1"/>
          <p:nvPr/>
        </p:nvSpPr>
        <p:spPr>
          <a:xfrm>
            <a:off x="6355080" y="1865376"/>
            <a:ext cx="5285232" cy="1078992"/>
          </a:xfrm>
          <a:prstGeom prst="rect">
            <a:avLst/>
          </a:prstGeom>
          <a:noFill/>
        </p:spPr>
        <p:txBody>
          <a:bodyPr wrap="square" lIns="0" tIns="0" rIns="0" bIns="0" anchor="t">
            <a:spAutoFit/>
          </a:bodyPr>
          <a:lstStyle/>
          <a:p>
            <a:pPr algn="l">
              <a:lnSpc>
                <a:spcPct val="114000"/>
              </a:lnSpc>
              <a:spcBef>
                <a:spcPts val="0"/>
              </a:spcBef>
              <a:spcAft>
                <a:spcPts val="400"/>
              </a:spcAft>
            </a:pPr>
            <a:r>
              <a:rPr sz="1200" b="0" i="0">
                <a:solidFill>
                  <a:srgbClr val="0F172A"/>
                </a:solidFill>
                <a:latin typeface="Segoe UI"/>
              </a:rPr>
              <a:t>This rule reacts to volatility — how wildly a price is swinging. It draws a “normal range” around the price and bets that when the price escapes that range, a strong new move has begun. The bands sit above and below the 20-day average.</a:t>
            </a:r>
          </a:p>
        </p:txBody>
      </p:sp>
      <p:sp>
        <p:nvSpPr>
          <p:cNvPr id="16" name="Rounded Rectangle 15"/>
          <p:cNvSpPr/>
          <p:nvPr/>
        </p:nvSpPr>
        <p:spPr>
          <a:xfrm>
            <a:off x="6355080" y="2980944"/>
            <a:ext cx="5285232" cy="17830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55080" y="3127248"/>
            <a:ext cx="64008" cy="1490472"/>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11112" y="3145536"/>
            <a:ext cx="4828032"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0F172A"/>
                </a:solidFill>
                <a:latin typeface="Segoe UI"/>
              </a:rPr>
              <a:t>When it buys and sells</a:t>
            </a:r>
          </a:p>
        </p:txBody>
      </p:sp>
      <p:sp>
        <p:nvSpPr>
          <p:cNvPr id="19" name="TextBox 18"/>
          <p:cNvSpPr txBox="1"/>
          <p:nvPr/>
        </p:nvSpPr>
        <p:spPr>
          <a:xfrm>
            <a:off x="6629400" y="3383280"/>
            <a:ext cx="4800600" cy="502920"/>
          </a:xfrm>
          <a:prstGeom prst="rect">
            <a:avLst/>
          </a:prstGeom>
          <a:noFill/>
        </p:spPr>
        <p:txBody>
          <a:bodyPr wrap="square" lIns="0" tIns="0" rIns="0" bIns="0" anchor="t">
            <a:spAutoFit/>
          </a:bodyPr>
          <a:lstStyle/>
          <a:p>
            <a:pPr algn="l">
              <a:lnSpc>
                <a:spcPct val="106000"/>
              </a:lnSpc>
              <a:spcBef>
                <a:spcPts val="0"/>
              </a:spcBef>
              <a:spcAft>
                <a:spcPts val="400"/>
              </a:spcAft>
            </a:pPr>
            <a:r>
              <a:rPr sz="1100" b="1" i="0">
                <a:solidFill>
                  <a:srgbClr val="059669"/>
                </a:solidFill>
                <a:latin typeface="Segoe UI"/>
              </a:rPr>
              <a:t>BUY  </a:t>
            </a:r>
            <a:r>
              <a:rPr sz="1100" b="0" i="0">
                <a:solidFill>
                  <a:srgbClr val="4B5563"/>
                </a:solidFill>
                <a:latin typeface="Segoe UI"/>
              </a:rPr>
              <a:t>the price closes above the upper band — it has broken out of its normal range, often the start of a powerful run.</a:t>
            </a:r>
          </a:p>
        </p:txBody>
      </p:sp>
      <p:sp>
        <p:nvSpPr>
          <p:cNvPr id="20" name="TextBox 19"/>
          <p:cNvSpPr txBox="1"/>
          <p:nvPr/>
        </p:nvSpPr>
        <p:spPr>
          <a:xfrm>
            <a:off x="6629400" y="3895344"/>
            <a:ext cx="4800600" cy="502920"/>
          </a:xfrm>
          <a:prstGeom prst="rect">
            <a:avLst/>
          </a:prstGeom>
          <a:noFill/>
        </p:spPr>
        <p:txBody>
          <a:bodyPr wrap="square" lIns="0" tIns="0" rIns="0" bIns="0" anchor="t">
            <a:spAutoFit/>
          </a:bodyPr>
          <a:lstStyle/>
          <a:p>
            <a:pPr algn="l">
              <a:lnSpc>
                <a:spcPct val="106000"/>
              </a:lnSpc>
              <a:spcBef>
                <a:spcPts val="0"/>
              </a:spcBef>
              <a:spcAft>
                <a:spcPts val="400"/>
              </a:spcAft>
            </a:pPr>
            <a:r>
              <a:rPr sz="1100" b="1" i="0">
                <a:solidFill>
                  <a:srgbClr val="DC2626"/>
                </a:solidFill>
                <a:latin typeface="Segoe UI"/>
              </a:rPr>
              <a:t>SELL  </a:t>
            </a:r>
            <a:r>
              <a:rPr sz="1100" b="0" i="0">
                <a:solidFill>
                  <a:srgbClr val="4B5563"/>
                </a:solidFill>
                <a:latin typeface="Segoe UI"/>
              </a:rPr>
              <a:t>the price falls back to the middle line (the average), signalling the breakout has fizzled out.</a:t>
            </a:r>
          </a:p>
        </p:txBody>
      </p:sp>
      <p:sp>
        <p:nvSpPr>
          <p:cNvPr id="21" name="TextBox 20"/>
          <p:cNvSpPr txBox="1"/>
          <p:nvPr/>
        </p:nvSpPr>
        <p:spPr>
          <a:xfrm>
            <a:off x="6629400" y="4425696"/>
            <a:ext cx="4800600" cy="228600"/>
          </a:xfrm>
          <a:prstGeom prst="rect">
            <a:avLst/>
          </a:prstGeom>
          <a:noFill/>
        </p:spPr>
        <p:txBody>
          <a:bodyPr wrap="square" lIns="0" tIns="0" rIns="0" bIns="0" anchor="t">
            <a:spAutoFit/>
          </a:bodyPr>
          <a:lstStyle/>
          <a:p>
            <a:pPr algn="l">
              <a:lnSpc>
                <a:spcPct val="100000"/>
              </a:lnSpc>
              <a:spcBef>
                <a:spcPts val="0"/>
              </a:spcBef>
              <a:spcAft>
                <a:spcPts val="400"/>
              </a:spcAft>
            </a:pPr>
            <a:r>
              <a:rPr sz="950" b="1" i="0">
                <a:solidFill>
                  <a:srgbClr val="94A3B8"/>
                </a:solidFill>
                <a:latin typeface="Segoe UI"/>
              </a:rPr>
              <a:t>Default settings:  </a:t>
            </a:r>
            <a:r>
              <a:rPr sz="950" b="0" i="0">
                <a:solidFill>
                  <a:srgbClr val="4B5563"/>
                </a:solidFill>
                <a:latin typeface="Consolas"/>
              </a:rPr>
              <a:t>length = 20 days,  width = 2 standard deviations</a:t>
            </a:r>
          </a:p>
        </p:txBody>
      </p:sp>
      <p:sp>
        <p:nvSpPr>
          <p:cNvPr id="22" name="Rounded Rectangle 21"/>
          <p:cNvSpPr/>
          <p:nvPr/>
        </p:nvSpPr>
        <p:spPr>
          <a:xfrm>
            <a:off x="6355080" y="4855464"/>
            <a:ext cx="5285232" cy="1243584"/>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355080" y="5001768"/>
            <a:ext cx="64008" cy="950976"/>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11112" y="5020055"/>
            <a:ext cx="4828032"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D97706"/>
                </a:solidFill>
                <a:latin typeface="Segoe UI"/>
              </a:rPr>
              <a:t>Why we included it</a:t>
            </a:r>
          </a:p>
        </p:txBody>
      </p:sp>
      <p:sp>
        <p:nvSpPr>
          <p:cNvPr id="25" name="TextBox 24"/>
          <p:cNvSpPr txBox="1"/>
          <p:nvPr/>
        </p:nvSpPr>
        <p:spPr>
          <a:xfrm>
            <a:off x="6629400" y="5248656"/>
            <a:ext cx="4800600" cy="822960"/>
          </a:xfrm>
          <a:prstGeom prst="rect">
            <a:avLst/>
          </a:prstGeom>
          <a:noFill/>
        </p:spPr>
        <p:txBody>
          <a:bodyPr wrap="square" lIns="0" tIns="0" rIns="0" bIns="0" anchor="t">
            <a:spAutoFit/>
          </a:bodyPr>
          <a:lstStyle/>
          <a:p>
            <a:pPr algn="l">
              <a:lnSpc>
                <a:spcPct val="112000"/>
              </a:lnSpc>
              <a:spcBef>
                <a:spcPts val="0"/>
              </a:spcBef>
              <a:spcAft>
                <a:spcPts val="400"/>
              </a:spcAft>
            </a:pPr>
            <a:r>
              <a:rPr sz="1050" b="0" i="0">
                <a:solidFill>
                  <a:srgbClr val="4B5563"/>
                </a:solidFill>
                <a:latin typeface="Segoe UI"/>
              </a:rPr>
              <a:t>It completes our set with a volatility-based idea. Tellingly, it looks at the same extreme as RSI but bets the opposite way: RSI says “it’s stretched, it’ll snap back”, while Bollinger says “it’s broken out, it’ll keep going”. We let the data settle the argument.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7C3AED"/>
                </a:solidFill>
                <a:latin typeface="Segoe UI"/>
              </a:rPr>
              <a:t>03 · THE FOUR STRATEGIES</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Why these four? Deliberate variety, not a gamble</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14</a:t>
            </a:r>
          </a:p>
        </p:txBody>
      </p:sp>
      <p:sp>
        <p:nvSpPr>
          <p:cNvPr id="9" name="Rounded Rectangle 8"/>
          <p:cNvSpPr/>
          <p:nvPr/>
        </p:nvSpPr>
        <p:spPr>
          <a:xfrm>
            <a:off x="594360" y="1645920"/>
            <a:ext cx="6126480" cy="448056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matrix.png"/>
          <p:cNvPicPr>
            <a:picLocks noChangeAspect="1"/>
          </p:cNvPicPr>
          <p:nvPr/>
        </p:nvPicPr>
        <p:blipFill>
          <a:blip r:embed="rId2"/>
          <a:stretch>
            <a:fillRect/>
          </a:stretch>
        </p:blipFill>
        <p:spPr>
          <a:xfrm>
            <a:off x="822960" y="1965960"/>
            <a:ext cx="5669280" cy="3989296"/>
          </a:xfrm>
          <a:prstGeom prst="rect">
            <a:avLst/>
          </a:prstGeom>
        </p:spPr>
      </p:pic>
      <p:sp>
        <p:nvSpPr>
          <p:cNvPr id="11" name="TextBox 10"/>
          <p:cNvSpPr txBox="1"/>
          <p:nvPr/>
        </p:nvSpPr>
        <p:spPr>
          <a:xfrm>
            <a:off x="6949440" y="1783080"/>
            <a:ext cx="4663440" cy="3657600"/>
          </a:xfrm>
          <a:prstGeom prst="rect">
            <a:avLst/>
          </a:prstGeom>
          <a:noFill/>
        </p:spPr>
        <p:txBody>
          <a:bodyPr wrap="square" lIns="0" tIns="0" rIns="0" bIns="0">
            <a:spAutoFit/>
          </a:bodyPr>
          <a:lstStyle/>
          <a:p>
            <a:pPr>
              <a:lnSpc>
                <a:spcPct val="112000"/>
              </a:lnSpc>
              <a:spcBef>
                <a:spcPts val="0"/>
              </a:spcBef>
              <a:spcAft>
                <a:spcPts val="1200"/>
              </a:spcAft>
            </a:pPr>
            <a:r>
              <a:rPr sz="1200" b="1" i="0">
                <a:solidFill>
                  <a:srgbClr val="2563EB"/>
                </a:solidFill>
                <a:latin typeface="Segoe UI"/>
              </a:rPr>
              <a:t>▸  </a:t>
            </a:r>
            <a:r>
              <a:rPr sz="1200" b="0" i="0">
                <a:solidFill>
                  <a:srgbClr val="0F172A"/>
                </a:solidFill>
                <a:latin typeface="Segoe UI"/>
              </a:rPr>
              <a:t>Together they cover the four main families of trading ideas: following a trend (SMA), confirming momentum (MACD), betting on a bounce-back (RSI), and riding a volatility breakout (Bollinger).</a:t>
            </a:r>
          </a:p>
          <a:p>
            <a:pPr>
              <a:lnSpc>
                <a:spcPct val="112000"/>
              </a:lnSpc>
              <a:spcBef>
                <a:spcPts val="0"/>
              </a:spcBef>
              <a:spcAft>
                <a:spcPts val="1200"/>
              </a:spcAft>
            </a:pPr>
            <a:r>
              <a:rPr sz="1200" b="1" i="0">
                <a:solidFill>
                  <a:srgbClr val="2563EB"/>
                </a:solidFill>
                <a:latin typeface="Segoe UI"/>
              </a:rPr>
              <a:t>▸  </a:t>
            </a:r>
            <a:r>
              <a:rPr sz="1200" b="0" i="0">
                <a:solidFill>
                  <a:srgbClr val="0F172A"/>
                </a:solidFill>
                <a:latin typeface="Segoe UI"/>
              </a:rPr>
              <a:t>They don’t just differ — two of them openly disagree. At the same price extreme, RSI bets the move reverses while Bollinger bets it continues. Rather than guess who is right, we let the backtest decide.</a:t>
            </a:r>
          </a:p>
          <a:p>
            <a:pPr>
              <a:lnSpc>
                <a:spcPct val="112000"/>
              </a:lnSpc>
              <a:spcBef>
                <a:spcPts val="0"/>
              </a:spcBef>
              <a:spcAft>
                <a:spcPts val="1200"/>
              </a:spcAft>
            </a:pPr>
            <a:r>
              <a:rPr sz="1200" b="1" i="0">
                <a:solidFill>
                  <a:srgbClr val="2563EB"/>
                </a:solidFill>
                <a:latin typeface="Segoe UI"/>
              </a:rPr>
              <a:t>▸  </a:t>
            </a:r>
            <a:r>
              <a:rPr sz="1200" b="0" i="0">
                <a:solidFill>
                  <a:srgbClr val="0F172A"/>
                </a:solidFill>
                <a:latin typeface="Segoe UI"/>
              </a:rPr>
              <a:t>They also trade very differently — some often, some rarely; some with many small wins, some with a few big ones — which is exactly the variety we need to test our question honestly.</a:t>
            </a:r>
          </a:p>
        </p:txBody>
      </p:sp>
      <p:sp>
        <p:nvSpPr>
          <p:cNvPr id="12" name="Rounded Rectangle 11"/>
          <p:cNvSpPr/>
          <p:nvPr/>
        </p:nvSpPr>
        <p:spPr>
          <a:xfrm>
            <a:off x="6949440" y="5349240"/>
            <a:ext cx="4663440" cy="777240"/>
          </a:xfrm>
          <a:prstGeom prst="roundRect">
            <a:avLst>
              <a:gd name="adj" fmla="val 5000"/>
            </a:avLst>
          </a:prstGeom>
          <a:solidFill>
            <a:srgbClr val="DBEAFE"/>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0" y="5349240"/>
            <a:ext cx="4206240" cy="777240"/>
          </a:xfrm>
          <a:prstGeom prst="rect">
            <a:avLst/>
          </a:prstGeom>
          <a:noFill/>
        </p:spPr>
        <p:txBody>
          <a:bodyPr wrap="square" lIns="0" tIns="0" rIns="0" bIns="0" anchor="ctr">
            <a:spAutoFit/>
          </a:bodyPr>
          <a:lstStyle/>
          <a:p>
            <a:pPr algn="l">
              <a:lnSpc>
                <a:spcPct val="112000"/>
              </a:lnSpc>
              <a:spcBef>
                <a:spcPts val="0"/>
              </a:spcBef>
              <a:spcAft>
                <a:spcPts val="400"/>
              </a:spcAft>
            </a:pPr>
            <a:r>
              <a:rPr sz="1150" b="1" i="0">
                <a:solidFill>
                  <a:srgbClr val="1D4ED8"/>
                </a:solidFill>
                <a:latin typeface="Segoe UI"/>
              </a:rPr>
              <a:t>In short:  </a:t>
            </a:r>
            <a:r>
              <a:rPr sz="1150" b="0" i="0">
                <a:solidFill>
                  <a:srgbClr val="0F172A"/>
                </a:solidFill>
                <a:latin typeface="Segoe UI"/>
              </a:rPr>
              <a:t>we chose breadth over betting — four different lenses on “what works”, not four versions of one idea.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D97706"/>
                </a:solidFill>
                <a:latin typeface="Segoe UI"/>
              </a:rPr>
              <a:t>04 · RISK, COSTS &amp; SCORING</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Managing risk — how we stop losses getting out of hand</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15</a:t>
            </a:r>
          </a:p>
        </p:txBody>
      </p:sp>
      <p:sp>
        <p:nvSpPr>
          <p:cNvPr id="9" name="Rounded Rectangle 8"/>
          <p:cNvSpPr/>
          <p:nvPr/>
        </p:nvSpPr>
        <p:spPr>
          <a:xfrm>
            <a:off x="594360" y="1572768"/>
            <a:ext cx="5486400" cy="960120"/>
          </a:xfrm>
          <a:prstGeom prst="roundRect">
            <a:avLst>
              <a:gd name="adj" fmla="val 6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719072"/>
            <a:ext cx="493776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0" i="0">
                <a:solidFill>
                  <a:srgbClr val="D97706"/>
                </a:solidFill>
                <a:latin typeface="Segoe UI"/>
              </a:rPr>
              <a:t>THE GOLDEN PRINCIPLE</a:t>
            </a:r>
          </a:p>
        </p:txBody>
      </p:sp>
      <p:sp>
        <p:nvSpPr>
          <p:cNvPr id="11" name="TextBox 10"/>
          <p:cNvSpPr txBox="1"/>
          <p:nvPr/>
        </p:nvSpPr>
        <p:spPr>
          <a:xfrm>
            <a:off x="886968" y="1891794"/>
            <a:ext cx="4919472" cy="429768"/>
          </a:xfrm>
          <a:prstGeom prst="rect">
            <a:avLst/>
          </a:prstGeom>
          <a:noFill/>
        </p:spPr>
        <p:txBody>
          <a:bodyPr wrap="square" lIns="0" tIns="0" rIns="0" bIns="0" anchor="t">
            <a:spAutoFit/>
          </a:bodyPr>
          <a:lstStyle/>
          <a:p>
            <a:pPr algn="l">
              <a:lnSpc>
                <a:spcPct val="114000"/>
              </a:lnSpc>
              <a:spcBef>
                <a:spcPts val="0"/>
              </a:spcBef>
              <a:spcAft>
                <a:spcPts val="400"/>
              </a:spcAft>
            </a:pPr>
            <a:r>
              <a:rPr sz="1250" b="0" i="0" dirty="0">
                <a:solidFill>
                  <a:srgbClr val="0F172A"/>
                </a:solidFill>
                <a:latin typeface="Segoe UI"/>
              </a:rPr>
              <a:t>Not losing badly matters more than winning big. Three safety rules are built into every strategy so that a few bad trades can never wipe out the account.</a:t>
            </a:r>
          </a:p>
        </p:txBody>
      </p:sp>
      <p:sp>
        <p:nvSpPr>
          <p:cNvPr id="12" name="Rounded Rectangle 11"/>
          <p:cNvSpPr/>
          <p:nvPr/>
        </p:nvSpPr>
        <p:spPr>
          <a:xfrm>
            <a:off x="594360" y="2697480"/>
            <a:ext cx="5486400" cy="1060704"/>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94360" y="2843784"/>
            <a:ext cx="64008" cy="768095"/>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2816352"/>
            <a:ext cx="5029200" cy="292608"/>
          </a:xfrm>
          <a:prstGeom prst="rect">
            <a:avLst/>
          </a:prstGeom>
          <a:noFill/>
        </p:spPr>
        <p:txBody>
          <a:bodyPr wrap="square" lIns="0" tIns="0" rIns="0" bIns="0" anchor="t">
            <a:spAutoFit/>
          </a:bodyPr>
          <a:lstStyle/>
          <a:p>
            <a:pPr algn="l">
              <a:lnSpc>
                <a:spcPct val="100000"/>
              </a:lnSpc>
              <a:spcBef>
                <a:spcPts val="0"/>
              </a:spcBef>
              <a:spcAft>
                <a:spcPts val="400"/>
              </a:spcAft>
            </a:pPr>
            <a:r>
              <a:rPr sz="1200" b="0" i="0">
                <a:solidFill>
                  <a:srgbClr val="0F172A"/>
                </a:solidFill>
                <a:latin typeface="Segoe UI"/>
              </a:rPr>
              <a:t>1 · How much to buy  (position sizing)</a:t>
            </a:r>
          </a:p>
        </p:txBody>
      </p:sp>
      <p:sp>
        <p:nvSpPr>
          <p:cNvPr id="15" name="TextBox 14"/>
          <p:cNvSpPr txBox="1"/>
          <p:nvPr/>
        </p:nvSpPr>
        <p:spPr>
          <a:xfrm>
            <a:off x="914400" y="3108960"/>
            <a:ext cx="5029200" cy="594360"/>
          </a:xfrm>
          <a:prstGeom prst="rect">
            <a:avLst/>
          </a:prstGeom>
          <a:noFill/>
        </p:spPr>
        <p:txBody>
          <a:bodyPr wrap="square" lIns="0" tIns="0" rIns="0" bIns="0" anchor="t">
            <a:spAutoFit/>
          </a:bodyPr>
          <a:lstStyle/>
          <a:p>
            <a:pPr algn="l">
              <a:lnSpc>
                <a:spcPct val="112000"/>
              </a:lnSpc>
              <a:spcBef>
                <a:spcPts val="0"/>
              </a:spcBef>
              <a:spcAft>
                <a:spcPts val="400"/>
              </a:spcAft>
            </a:pPr>
            <a:r>
              <a:rPr sz="1050" b="0" i="0">
                <a:solidFill>
                  <a:srgbClr val="4B5563"/>
                </a:solidFill>
                <a:latin typeface="Segoe UI"/>
              </a:rPr>
              <a:t>Before each trade we risk only a small, fixed slice of the account — about 1%. If a stock swings more wildly, the app automatically buys fewer shares, so the rupees at risk stay roughly the same every time.</a:t>
            </a:r>
          </a:p>
        </p:txBody>
      </p:sp>
      <p:sp>
        <p:nvSpPr>
          <p:cNvPr id="16" name="Rounded Rectangle 15"/>
          <p:cNvSpPr/>
          <p:nvPr/>
        </p:nvSpPr>
        <p:spPr>
          <a:xfrm>
            <a:off x="594360" y="3831336"/>
            <a:ext cx="5486400" cy="1060704"/>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94360" y="3977640"/>
            <a:ext cx="64008" cy="768095"/>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950208"/>
            <a:ext cx="5029200" cy="292608"/>
          </a:xfrm>
          <a:prstGeom prst="rect">
            <a:avLst/>
          </a:prstGeom>
          <a:noFill/>
        </p:spPr>
        <p:txBody>
          <a:bodyPr wrap="square" lIns="0" tIns="0" rIns="0" bIns="0" anchor="t">
            <a:spAutoFit/>
          </a:bodyPr>
          <a:lstStyle/>
          <a:p>
            <a:pPr algn="l">
              <a:lnSpc>
                <a:spcPct val="100000"/>
              </a:lnSpc>
              <a:spcBef>
                <a:spcPts val="0"/>
              </a:spcBef>
              <a:spcAft>
                <a:spcPts val="400"/>
              </a:spcAft>
            </a:pPr>
            <a:r>
              <a:rPr sz="1200" b="0" i="0">
                <a:solidFill>
                  <a:srgbClr val="0F172A"/>
                </a:solidFill>
                <a:latin typeface="Segoe UI"/>
              </a:rPr>
              <a:t>2 · When to bail out  (stop-loss &amp; take-profit)</a:t>
            </a:r>
          </a:p>
        </p:txBody>
      </p:sp>
      <p:sp>
        <p:nvSpPr>
          <p:cNvPr id="19" name="TextBox 18"/>
          <p:cNvSpPr txBox="1"/>
          <p:nvPr/>
        </p:nvSpPr>
        <p:spPr>
          <a:xfrm>
            <a:off x="914400" y="4242816"/>
            <a:ext cx="5029200" cy="594360"/>
          </a:xfrm>
          <a:prstGeom prst="rect">
            <a:avLst/>
          </a:prstGeom>
          <a:noFill/>
        </p:spPr>
        <p:txBody>
          <a:bodyPr wrap="square" lIns="0" tIns="0" rIns="0" bIns="0" anchor="t">
            <a:spAutoFit/>
          </a:bodyPr>
          <a:lstStyle/>
          <a:p>
            <a:pPr algn="l">
              <a:lnSpc>
                <a:spcPct val="112000"/>
              </a:lnSpc>
              <a:spcBef>
                <a:spcPts val="0"/>
              </a:spcBef>
              <a:spcAft>
                <a:spcPts val="400"/>
              </a:spcAft>
            </a:pPr>
            <a:r>
              <a:rPr sz="1050" b="0" i="0">
                <a:solidFill>
                  <a:srgbClr val="4B5563"/>
                </a:solidFill>
                <a:latin typeface="Segoe UI"/>
              </a:rPr>
              <a:t>The moment we buy, two automatic exits are set: a stop-loss that sells if the price drops 2% (cutting losses early), and a take-profit that sells if it rises 4% (locking in gains). We aim to win twice what we risk.</a:t>
            </a:r>
          </a:p>
        </p:txBody>
      </p:sp>
      <p:sp>
        <p:nvSpPr>
          <p:cNvPr id="20" name="Rounded Rectangle 19"/>
          <p:cNvSpPr/>
          <p:nvPr/>
        </p:nvSpPr>
        <p:spPr>
          <a:xfrm>
            <a:off x="594360" y="4965192"/>
            <a:ext cx="5486400" cy="1060704"/>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94360" y="5111496"/>
            <a:ext cx="64008" cy="768095"/>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5084064"/>
            <a:ext cx="5029200" cy="292608"/>
          </a:xfrm>
          <a:prstGeom prst="rect">
            <a:avLst/>
          </a:prstGeom>
          <a:noFill/>
        </p:spPr>
        <p:txBody>
          <a:bodyPr wrap="square" lIns="0" tIns="0" rIns="0" bIns="0" anchor="t">
            <a:spAutoFit/>
          </a:bodyPr>
          <a:lstStyle/>
          <a:p>
            <a:pPr algn="l">
              <a:lnSpc>
                <a:spcPct val="100000"/>
              </a:lnSpc>
              <a:spcBef>
                <a:spcPts val="0"/>
              </a:spcBef>
              <a:spcAft>
                <a:spcPts val="400"/>
              </a:spcAft>
            </a:pPr>
            <a:r>
              <a:rPr sz="1200" b="0" i="0">
                <a:solidFill>
                  <a:srgbClr val="0F172A"/>
                </a:solidFill>
                <a:latin typeface="Segoe UI"/>
              </a:rPr>
              <a:t>3 · The emergency brake  (drawdown circuit-breaker)</a:t>
            </a:r>
          </a:p>
        </p:txBody>
      </p:sp>
      <p:sp>
        <p:nvSpPr>
          <p:cNvPr id="23" name="TextBox 22"/>
          <p:cNvSpPr txBox="1"/>
          <p:nvPr/>
        </p:nvSpPr>
        <p:spPr>
          <a:xfrm>
            <a:off x="914400" y="5376672"/>
            <a:ext cx="5029200" cy="594360"/>
          </a:xfrm>
          <a:prstGeom prst="rect">
            <a:avLst/>
          </a:prstGeom>
          <a:noFill/>
        </p:spPr>
        <p:txBody>
          <a:bodyPr wrap="square" lIns="0" tIns="0" rIns="0" bIns="0" anchor="t">
            <a:spAutoFit/>
          </a:bodyPr>
          <a:lstStyle/>
          <a:p>
            <a:pPr algn="l">
              <a:lnSpc>
                <a:spcPct val="112000"/>
              </a:lnSpc>
              <a:spcBef>
                <a:spcPts val="0"/>
              </a:spcBef>
              <a:spcAft>
                <a:spcPts val="400"/>
              </a:spcAft>
            </a:pPr>
            <a:r>
              <a:rPr sz="1050" b="0" i="0">
                <a:solidFill>
                  <a:srgbClr val="4B5563"/>
                </a:solidFill>
                <a:latin typeface="Segoe UI"/>
              </a:rPr>
              <a:t>The app tracks how far the account has fallen from its highest-ever value. If that fall reaches 20%, it halts all trading at once — like a fuse that blows to protect the wiring before real damage is done.</a:t>
            </a:r>
          </a:p>
        </p:txBody>
      </p:sp>
      <p:sp>
        <p:nvSpPr>
          <p:cNvPr id="24" name="Rounded Rectangle 23"/>
          <p:cNvSpPr/>
          <p:nvPr/>
        </p:nvSpPr>
        <p:spPr>
          <a:xfrm>
            <a:off x="6263640" y="1572768"/>
            <a:ext cx="5349240" cy="452628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equity_dd.png"/>
          <p:cNvPicPr>
            <a:picLocks noChangeAspect="1"/>
          </p:cNvPicPr>
          <p:nvPr/>
        </p:nvPicPr>
        <p:blipFill>
          <a:blip r:embed="rId2"/>
          <a:stretch>
            <a:fillRect/>
          </a:stretch>
        </p:blipFill>
        <p:spPr>
          <a:xfrm>
            <a:off x="6492240" y="2240280"/>
            <a:ext cx="4892040" cy="2829497"/>
          </a:xfrm>
          <a:prstGeom prst="rect">
            <a:avLst/>
          </a:prstGeom>
        </p:spPr>
      </p:pic>
      <p:sp>
        <p:nvSpPr>
          <p:cNvPr id="26" name="TextBox 25"/>
          <p:cNvSpPr txBox="1"/>
          <p:nvPr/>
        </p:nvSpPr>
        <p:spPr>
          <a:xfrm>
            <a:off x="6492240" y="5166360"/>
            <a:ext cx="4892040" cy="822960"/>
          </a:xfrm>
          <a:prstGeom prst="rect">
            <a:avLst/>
          </a:prstGeom>
          <a:noFill/>
        </p:spPr>
        <p:txBody>
          <a:bodyPr wrap="square" lIns="0" tIns="0" rIns="0" bIns="0" anchor="t">
            <a:spAutoFit/>
          </a:bodyPr>
          <a:lstStyle/>
          <a:p>
            <a:pPr algn="ctr">
              <a:lnSpc>
                <a:spcPct val="114000"/>
              </a:lnSpc>
              <a:spcBef>
                <a:spcPts val="0"/>
              </a:spcBef>
              <a:spcAft>
                <a:spcPts val="400"/>
              </a:spcAft>
            </a:pPr>
            <a:r>
              <a:rPr sz="1050" b="1" i="0">
                <a:solidFill>
                  <a:srgbClr val="0F172A"/>
                </a:solidFill>
                <a:latin typeface="Segoe UI"/>
              </a:rPr>
              <a:t>Reading the picture:  </a:t>
            </a:r>
            <a:r>
              <a:rPr sz="1050" b="0" i="0">
                <a:solidFill>
                  <a:srgbClr val="4B5563"/>
                </a:solidFill>
                <a:latin typeface="Segoe UI"/>
              </a:rPr>
              <a:t>the top line is the account’s value over time; the shaded dips below show drawdowns (falls from a peak). The dashed line is the –20% level where trading would stop.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D97706"/>
                </a:solidFill>
                <a:latin typeface="Segoe UI"/>
              </a:rPr>
              <a:t>04 · RISK, COSTS &amp; SCORING</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The hidden enemy: trading costs &amp; taxes</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16</a:t>
            </a:r>
          </a:p>
        </p:txBody>
      </p:sp>
      <p:sp>
        <p:nvSpPr>
          <p:cNvPr id="9" name="Rounded Rectangle 8"/>
          <p:cNvSpPr/>
          <p:nvPr/>
        </p:nvSpPr>
        <p:spPr>
          <a:xfrm>
            <a:off x="594360" y="1572768"/>
            <a:ext cx="11002975" cy="1005840"/>
          </a:xfrm>
          <a:prstGeom prst="roundRect">
            <a:avLst>
              <a:gd name="adj" fmla="val 6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719072"/>
            <a:ext cx="10454335"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0" i="0">
                <a:solidFill>
                  <a:srgbClr val="D97706"/>
                </a:solidFill>
                <a:latin typeface="Segoe UI"/>
              </a:rPr>
              <a:t>WHY THIS SLIDE MATTERS</a:t>
            </a:r>
          </a:p>
        </p:txBody>
      </p:sp>
      <p:sp>
        <p:nvSpPr>
          <p:cNvPr id="11" name="TextBox 10"/>
          <p:cNvSpPr txBox="1"/>
          <p:nvPr/>
        </p:nvSpPr>
        <p:spPr>
          <a:xfrm>
            <a:off x="886968" y="1993392"/>
            <a:ext cx="10436047" cy="475488"/>
          </a:xfrm>
          <a:prstGeom prst="rect">
            <a:avLst/>
          </a:prstGeom>
          <a:noFill/>
        </p:spPr>
        <p:txBody>
          <a:bodyPr wrap="square" lIns="0" tIns="0" rIns="0" bIns="0" anchor="t">
            <a:spAutoFit/>
          </a:bodyPr>
          <a:lstStyle/>
          <a:p>
            <a:pPr algn="l">
              <a:lnSpc>
                <a:spcPct val="114000"/>
              </a:lnSpc>
              <a:spcBef>
                <a:spcPts val="0"/>
              </a:spcBef>
              <a:spcAft>
                <a:spcPts val="400"/>
              </a:spcAft>
            </a:pPr>
            <a:r>
              <a:rPr sz="1300" b="0" i="0">
                <a:solidFill>
                  <a:srgbClr val="0F172A"/>
                </a:solidFill>
                <a:latin typeface="Segoe UI"/>
              </a:rPr>
              <a:t>Every time you buy or sell a share in India, you pay small fees and taxes. Each one looks tiny — but a strategy that trades often pays them again and again, and together they quietly eat into profits.</a:t>
            </a:r>
          </a:p>
        </p:txBody>
      </p:sp>
      <p:sp>
        <p:nvSpPr>
          <p:cNvPr id="12" name="Rounded Rectangle 11"/>
          <p:cNvSpPr/>
          <p:nvPr/>
        </p:nvSpPr>
        <p:spPr>
          <a:xfrm>
            <a:off x="594360" y="2743200"/>
            <a:ext cx="5669280" cy="640080"/>
          </a:xfrm>
          <a:prstGeom prst="roundRect">
            <a:avLst>
              <a:gd name="adj" fmla="val 7000"/>
            </a:avLst>
          </a:prstGeom>
          <a:solidFill>
            <a:srgbClr val="FFFFFF"/>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94360" y="2852928"/>
            <a:ext cx="64008" cy="420624"/>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 y="2816352"/>
            <a:ext cx="5212080" cy="292608"/>
          </a:xfrm>
          <a:prstGeom prst="rect">
            <a:avLst/>
          </a:prstGeom>
          <a:noFill/>
        </p:spPr>
        <p:txBody>
          <a:bodyPr wrap="square" lIns="0" tIns="0" rIns="0" bIns="0" anchor="t">
            <a:spAutoFit/>
          </a:bodyPr>
          <a:lstStyle/>
          <a:p>
            <a:pPr algn="l">
              <a:lnSpc>
                <a:spcPct val="100000"/>
              </a:lnSpc>
              <a:spcBef>
                <a:spcPts val="0"/>
              </a:spcBef>
              <a:spcAft>
                <a:spcPts val="400"/>
              </a:spcAft>
            </a:pPr>
            <a:r>
              <a:rPr sz="1150" b="0" i="0">
                <a:solidFill>
                  <a:srgbClr val="0F172A"/>
                </a:solidFill>
                <a:latin typeface="Segoe UI"/>
              </a:rPr>
              <a:t>Brokerage</a:t>
            </a:r>
          </a:p>
        </p:txBody>
      </p:sp>
      <p:sp>
        <p:nvSpPr>
          <p:cNvPr id="15" name="TextBox 14"/>
          <p:cNvSpPr txBox="1"/>
          <p:nvPr/>
        </p:nvSpPr>
        <p:spPr>
          <a:xfrm>
            <a:off x="850392" y="3108960"/>
            <a:ext cx="5212080" cy="256032"/>
          </a:xfrm>
          <a:prstGeom prst="rect">
            <a:avLst/>
          </a:prstGeom>
          <a:noFill/>
        </p:spPr>
        <p:txBody>
          <a:bodyPr wrap="square" lIns="0" tIns="0" rIns="0" bIns="0" anchor="t">
            <a:spAutoFit/>
          </a:bodyPr>
          <a:lstStyle/>
          <a:p>
            <a:pPr algn="l">
              <a:lnSpc>
                <a:spcPct val="100000"/>
              </a:lnSpc>
              <a:spcBef>
                <a:spcPts val="0"/>
              </a:spcBef>
              <a:spcAft>
                <a:spcPts val="400"/>
              </a:spcAft>
            </a:pPr>
            <a:r>
              <a:rPr sz="1000" b="0" i="0">
                <a:solidFill>
                  <a:srgbClr val="4B5563"/>
                </a:solidFill>
                <a:latin typeface="Segoe UI"/>
              </a:rPr>
              <a:t>the fee your broker charges to handle the buy or sell.</a:t>
            </a:r>
          </a:p>
        </p:txBody>
      </p:sp>
      <p:sp>
        <p:nvSpPr>
          <p:cNvPr id="16" name="Rounded Rectangle 15"/>
          <p:cNvSpPr/>
          <p:nvPr/>
        </p:nvSpPr>
        <p:spPr>
          <a:xfrm>
            <a:off x="594360" y="3456432"/>
            <a:ext cx="5669280" cy="640080"/>
          </a:xfrm>
          <a:prstGeom prst="roundRect">
            <a:avLst>
              <a:gd name="adj" fmla="val 7000"/>
            </a:avLst>
          </a:prstGeom>
          <a:solidFill>
            <a:srgbClr val="F5F7FB"/>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94360" y="3566160"/>
            <a:ext cx="64008" cy="420624"/>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3529584"/>
            <a:ext cx="5212080" cy="292608"/>
          </a:xfrm>
          <a:prstGeom prst="rect">
            <a:avLst/>
          </a:prstGeom>
          <a:noFill/>
        </p:spPr>
        <p:txBody>
          <a:bodyPr wrap="square" lIns="0" tIns="0" rIns="0" bIns="0" anchor="t">
            <a:spAutoFit/>
          </a:bodyPr>
          <a:lstStyle/>
          <a:p>
            <a:pPr algn="l">
              <a:lnSpc>
                <a:spcPct val="100000"/>
              </a:lnSpc>
              <a:spcBef>
                <a:spcPts val="0"/>
              </a:spcBef>
              <a:spcAft>
                <a:spcPts val="400"/>
              </a:spcAft>
            </a:pPr>
            <a:r>
              <a:rPr sz="1150" b="0" i="0">
                <a:solidFill>
                  <a:srgbClr val="0F172A"/>
                </a:solidFill>
                <a:latin typeface="Segoe UI"/>
              </a:rPr>
              <a:t>STT (Securities Transaction Tax)</a:t>
            </a:r>
          </a:p>
        </p:txBody>
      </p:sp>
      <p:sp>
        <p:nvSpPr>
          <p:cNvPr id="19" name="TextBox 18"/>
          <p:cNvSpPr txBox="1"/>
          <p:nvPr/>
        </p:nvSpPr>
        <p:spPr>
          <a:xfrm>
            <a:off x="850392" y="3822192"/>
            <a:ext cx="5212080" cy="256032"/>
          </a:xfrm>
          <a:prstGeom prst="rect">
            <a:avLst/>
          </a:prstGeom>
          <a:noFill/>
        </p:spPr>
        <p:txBody>
          <a:bodyPr wrap="square" lIns="0" tIns="0" rIns="0" bIns="0" anchor="t">
            <a:spAutoFit/>
          </a:bodyPr>
          <a:lstStyle/>
          <a:p>
            <a:pPr algn="l">
              <a:lnSpc>
                <a:spcPct val="100000"/>
              </a:lnSpc>
              <a:spcBef>
                <a:spcPts val="0"/>
              </a:spcBef>
              <a:spcAft>
                <a:spcPts val="400"/>
              </a:spcAft>
            </a:pPr>
            <a:r>
              <a:rPr sz="1000" b="0" i="0">
                <a:solidFill>
                  <a:srgbClr val="4B5563"/>
                </a:solidFill>
                <a:latin typeface="Segoe UI"/>
              </a:rPr>
              <a:t>a government tax on the value of each trade.</a:t>
            </a:r>
          </a:p>
        </p:txBody>
      </p:sp>
      <p:sp>
        <p:nvSpPr>
          <p:cNvPr id="20" name="Rounded Rectangle 19"/>
          <p:cNvSpPr/>
          <p:nvPr/>
        </p:nvSpPr>
        <p:spPr>
          <a:xfrm>
            <a:off x="594360" y="4169664"/>
            <a:ext cx="5669280" cy="640080"/>
          </a:xfrm>
          <a:prstGeom prst="roundRect">
            <a:avLst>
              <a:gd name="adj" fmla="val 7000"/>
            </a:avLst>
          </a:prstGeom>
          <a:solidFill>
            <a:srgbClr val="FFFFFF"/>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94360" y="4279392"/>
            <a:ext cx="64008" cy="420624"/>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0392" y="4242816"/>
            <a:ext cx="5212080" cy="292608"/>
          </a:xfrm>
          <a:prstGeom prst="rect">
            <a:avLst/>
          </a:prstGeom>
          <a:noFill/>
        </p:spPr>
        <p:txBody>
          <a:bodyPr wrap="square" lIns="0" tIns="0" rIns="0" bIns="0" anchor="t">
            <a:spAutoFit/>
          </a:bodyPr>
          <a:lstStyle/>
          <a:p>
            <a:pPr algn="l">
              <a:lnSpc>
                <a:spcPct val="100000"/>
              </a:lnSpc>
              <a:spcBef>
                <a:spcPts val="0"/>
              </a:spcBef>
              <a:spcAft>
                <a:spcPts val="400"/>
              </a:spcAft>
            </a:pPr>
            <a:r>
              <a:rPr sz="1150" b="0" i="0">
                <a:solidFill>
                  <a:srgbClr val="0F172A"/>
                </a:solidFill>
                <a:latin typeface="Segoe UI"/>
              </a:rPr>
              <a:t>Exchange + SEBI + stamp duty</a:t>
            </a:r>
          </a:p>
        </p:txBody>
      </p:sp>
      <p:sp>
        <p:nvSpPr>
          <p:cNvPr id="23" name="TextBox 22"/>
          <p:cNvSpPr txBox="1"/>
          <p:nvPr/>
        </p:nvSpPr>
        <p:spPr>
          <a:xfrm>
            <a:off x="850392" y="4535424"/>
            <a:ext cx="5212080" cy="256032"/>
          </a:xfrm>
          <a:prstGeom prst="rect">
            <a:avLst/>
          </a:prstGeom>
          <a:noFill/>
        </p:spPr>
        <p:txBody>
          <a:bodyPr wrap="square" lIns="0" tIns="0" rIns="0" bIns="0" anchor="t">
            <a:spAutoFit/>
          </a:bodyPr>
          <a:lstStyle/>
          <a:p>
            <a:pPr algn="l">
              <a:lnSpc>
                <a:spcPct val="100000"/>
              </a:lnSpc>
              <a:spcBef>
                <a:spcPts val="0"/>
              </a:spcBef>
              <a:spcAft>
                <a:spcPts val="400"/>
              </a:spcAft>
            </a:pPr>
            <a:r>
              <a:rPr sz="1000" b="0" i="0">
                <a:solidFill>
                  <a:srgbClr val="4B5563"/>
                </a:solidFill>
                <a:latin typeface="Segoe UI"/>
              </a:rPr>
              <a:t>small charges from the exchange and the market regulator.</a:t>
            </a:r>
          </a:p>
        </p:txBody>
      </p:sp>
      <p:sp>
        <p:nvSpPr>
          <p:cNvPr id="24" name="Rounded Rectangle 23"/>
          <p:cNvSpPr/>
          <p:nvPr/>
        </p:nvSpPr>
        <p:spPr>
          <a:xfrm>
            <a:off x="594360" y="4882896"/>
            <a:ext cx="5669280" cy="640080"/>
          </a:xfrm>
          <a:prstGeom prst="roundRect">
            <a:avLst>
              <a:gd name="adj" fmla="val 7000"/>
            </a:avLst>
          </a:prstGeom>
          <a:solidFill>
            <a:srgbClr val="F5F7FB"/>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94360" y="4992624"/>
            <a:ext cx="64008" cy="420624"/>
          </a:xfrm>
          <a:prstGeom prst="roundRect">
            <a:avLst>
              <a:gd name="adj" fmla="val 50000"/>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0392" y="4956048"/>
            <a:ext cx="5212080" cy="292608"/>
          </a:xfrm>
          <a:prstGeom prst="rect">
            <a:avLst/>
          </a:prstGeom>
          <a:noFill/>
        </p:spPr>
        <p:txBody>
          <a:bodyPr wrap="square" lIns="0" tIns="0" rIns="0" bIns="0" anchor="t">
            <a:spAutoFit/>
          </a:bodyPr>
          <a:lstStyle/>
          <a:p>
            <a:pPr algn="l">
              <a:lnSpc>
                <a:spcPct val="100000"/>
              </a:lnSpc>
              <a:spcBef>
                <a:spcPts val="0"/>
              </a:spcBef>
              <a:spcAft>
                <a:spcPts val="400"/>
              </a:spcAft>
            </a:pPr>
            <a:r>
              <a:rPr sz="1150" b="0" i="0">
                <a:solidFill>
                  <a:srgbClr val="0F172A"/>
                </a:solidFill>
                <a:latin typeface="Segoe UI"/>
              </a:rPr>
              <a:t>GST</a:t>
            </a:r>
          </a:p>
        </p:txBody>
      </p:sp>
      <p:sp>
        <p:nvSpPr>
          <p:cNvPr id="27" name="TextBox 26"/>
          <p:cNvSpPr txBox="1"/>
          <p:nvPr/>
        </p:nvSpPr>
        <p:spPr>
          <a:xfrm>
            <a:off x="850392" y="5248656"/>
            <a:ext cx="5212080" cy="256032"/>
          </a:xfrm>
          <a:prstGeom prst="rect">
            <a:avLst/>
          </a:prstGeom>
          <a:noFill/>
        </p:spPr>
        <p:txBody>
          <a:bodyPr wrap="square" lIns="0" tIns="0" rIns="0" bIns="0" anchor="t">
            <a:spAutoFit/>
          </a:bodyPr>
          <a:lstStyle/>
          <a:p>
            <a:pPr algn="l">
              <a:lnSpc>
                <a:spcPct val="100000"/>
              </a:lnSpc>
              <a:spcBef>
                <a:spcPts val="0"/>
              </a:spcBef>
              <a:spcAft>
                <a:spcPts val="400"/>
              </a:spcAft>
            </a:pPr>
            <a:r>
              <a:rPr sz="1000" b="0" i="0">
                <a:solidFill>
                  <a:srgbClr val="4B5563"/>
                </a:solidFill>
                <a:latin typeface="Segoe UI"/>
              </a:rPr>
              <a:t>tax of 18% applied on top of the brokerage fee.</a:t>
            </a:r>
          </a:p>
        </p:txBody>
      </p:sp>
      <p:sp>
        <p:nvSpPr>
          <p:cNvPr id="28" name="Rounded Rectangle 27"/>
          <p:cNvSpPr/>
          <p:nvPr/>
        </p:nvSpPr>
        <p:spPr>
          <a:xfrm>
            <a:off x="6492240" y="2697480"/>
            <a:ext cx="5120640" cy="278892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costs.png"/>
          <p:cNvPicPr>
            <a:picLocks noChangeAspect="1"/>
          </p:cNvPicPr>
          <p:nvPr/>
        </p:nvPicPr>
        <p:blipFill>
          <a:blip r:embed="rId2"/>
          <a:stretch>
            <a:fillRect/>
          </a:stretch>
        </p:blipFill>
        <p:spPr>
          <a:xfrm>
            <a:off x="6675120" y="2880360"/>
            <a:ext cx="4754880" cy="2429475"/>
          </a:xfrm>
          <a:prstGeom prst="rect">
            <a:avLst/>
          </a:prstGeom>
        </p:spPr>
      </p:pic>
      <p:sp>
        <p:nvSpPr>
          <p:cNvPr id="30" name="Rounded Rectangle 29"/>
          <p:cNvSpPr/>
          <p:nvPr/>
        </p:nvSpPr>
        <p:spPr>
          <a:xfrm>
            <a:off x="594360" y="5669280"/>
            <a:ext cx="11002975" cy="502920"/>
          </a:xfrm>
          <a:prstGeom prst="roundRect">
            <a:avLst>
              <a:gd name="adj" fmla="val 5000"/>
            </a:avLst>
          </a:prstGeom>
          <a:solidFill>
            <a:srgbClr val="D1FAE5"/>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5669280"/>
            <a:ext cx="10362895" cy="502920"/>
          </a:xfrm>
          <a:prstGeom prst="rect">
            <a:avLst/>
          </a:prstGeom>
          <a:noFill/>
        </p:spPr>
        <p:txBody>
          <a:bodyPr wrap="square" lIns="0" tIns="0" rIns="0" bIns="0" anchor="ctr">
            <a:spAutoFit/>
          </a:bodyPr>
          <a:lstStyle/>
          <a:p>
            <a:pPr algn="l">
              <a:lnSpc>
                <a:spcPct val="110000"/>
              </a:lnSpc>
              <a:spcBef>
                <a:spcPts val="0"/>
              </a:spcBef>
              <a:spcAft>
                <a:spcPts val="400"/>
              </a:spcAft>
            </a:pPr>
            <a:r>
              <a:rPr sz="1200" b="1" i="0">
                <a:solidFill>
                  <a:srgbClr val="059669"/>
                </a:solidFill>
                <a:latin typeface="Segoe UI"/>
              </a:rPr>
              <a:t>What AlgoLab does:  </a:t>
            </a:r>
            <a:r>
              <a:rPr sz="1200" b="0" i="0">
                <a:solidFill>
                  <a:srgbClr val="0F172A"/>
                </a:solidFill>
                <a:latin typeface="Segoe UI"/>
              </a:rPr>
              <a:t>it subtracts every one of these from each trade — so the profit you see is the profit you would truly keep. A strategy that only wins before costs is not really a winner.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D97706"/>
                </a:solidFill>
                <a:latin typeface="Segoe UI"/>
              </a:rPr>
              <a:t>04 · RISK, COSTS &amp; SCORING</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How do we know if a strategy is good?</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17</a:t>
            </a:r>
          </a:p>
        </p:txBody>
      </p:sp>
      <p:sp>
        <p:nvSpPr>
          <p:cNvPr id="9" name="Rounded Rectangle 8"/>
          <p:cNvSpPr/>
          <p:nvPr/>
        </p:nvSpPr>
        <p:spPr>
          <a:xfrm>
            <a:off x="594360" y="1572768"/>
            <a:ext cx="11002975" cy="914400"/>
          </a:xfrm>
          <a:prstGeom prst="roundRect">
            <a:avLst>
              <a:gd name="adj" fmla="val 6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719072"/>
            <a:ext cx="10454335"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0" i="0">
                <a:solidFill>
                  <a:srgbClr val="D97706"/>
                </a:solidFill>
                <a:latin typeface="Segoe UI"/>
              </a:rPr>
              <a:t>THE SCORECARD IDEA</a:t>
            </a:r>
          </a:p>
        </p:txBody>
      </p:sp>
      <p:sp>
        <p:nvSpPr>
          <p:cNvPr id="11" name="TextBox 10"/>
          <p:cNvSpPr txBox="1"/>
          <p:nvPr/>
        </p:nvSpPr>
        <p:spPr>
          <a:xfrm>
            <a:off x="886968" y="1993392"/>
            <a:ext cx="10436047" cy="384048"/>
          </a:xfrm>
          <a:prstGeom prst="rect">
            <a:avLst/>
          </a:prstGeom>
          <a:noFill/>
        </p:spPr>
        <p:txBody>
          <a:bodyPr wrap="square" lIns="0" tIns="0" rIns="0" bIns="0" anchor="t">
            <a:spAutoFit/>
          </a:bodyPr>
          <a:lstStyle/>
          <a:p>
            <a:pPr algn="l">
              <a:lnSpc>
                <a:spcPct val="114000"/>
              </a:lnSpc>
              <a:spcBef>
                <a:spcPts val="0"/>
              </a:spcBef>
              <a:spcAft>
                <a:spcPts val="400"/>
              </a:spcAft>
            </a:pPr>
            <a:r>
              <a:rPr sz="1300" b="0" i="0">
                <a:solidFill>
                  <a:srgbClr val="0F172A"/>
                </a:solidFill>
                <a:latin typeface="Segoe UI"/>
              </a:rPr>
              <a:t>A big profit on its own does not make a strategy good. We grade each one on several measures — the way a school report card looks at more than a single subject.</a:t>
            </a:r>
          </a:p>
        </p:txBody>
      </p:sp>
      <p:sp>
        <p:nvSpPr>
          <p:cNvPr id="12" name="Rounded Rectangle 11"/>
          <p:cNvSpPr/>
          <p:nvPr/>
        </p:nvSpPr>
        <p:spPr>
          <a:xfrm>
            <a:off x="594360" y="2606040"/>
            <a:ext cx="3593592" cy="146304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94360" y="2752344"/>
            <a:ext cx="64008" cy="1170432"/>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2743200"/>
            <a:ext cx="3136392" cy="32004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2563EB"/>
                </a:solidFill>
                <a:latin typeface="Segoe UI"/>
              </a:rPr>
              <a:t>Beat buy-and-hold?</a:t>
            </a:r>
          </a:p>
        </p:txBody>
      </p:sp>
      <p:sp>
        <p:nvSpPr>
          <p:cNvPr id="15" name="TextBox 14"/>
          <p:cNvSpPr txBox="1"/>
          <p:nvPr/>
        </p:nvSpPr>
        <p:spPr>
          <a:xfrm>
            <a:off x="868680" y="3099816"/>
            <a:ext cx="3090672" cy="914400"/>
          </a:xfrm>
          <a:prstGeom prst="rect">
            <a:avLst/>
          </a:prstGeom>
          <a:noFill/>
        </p:spPr>
        <p:txBody>
          <a:bodyPr wrap="square" lIns="0" tIns="0" rIns="0" bIns="0" anchor="t">
            <a:spAutoFit/>
          </a:bodyPr>
          <a:lstStyle/>
          <a:p>
            <a:pPr algn="l">
              <a:lnSpc>
                <a:spcPct val="110000"/>
              </a:lnSpc>
              <a:spcBef>
                <a:spcPts val="0"/>
              </a:spcBef>
              <a:spcAft>
                <a:spcPts val="400"/>
              </a:spcAft>
            </a:pPr>
            <a:r>
              <a:rPr sz="1030" b="0" i="0">
                <a:solidFill>
                  <a:srgbClr val="4B5563"/>
                </a:solidFill>
                <a:latin typeface="Segoe UI"/>
              </a:rPr>
              <a:t>Did the strategy do better than simply buying the stock and holding it the whole time? If not, all the trading added nothing.</a:t>
            </a:r>
          </a:p>
        </p:txBody>
      </p:sp>
      <p:sp>
        <p:nvSpPr>
          <p:cNvPr id="16" name="Rounded Rectangle 15"/>
          <p:cNvSpPr/>
          <p:nvPr/>
        </p:nvSpPr>
        <p:spPr>
          <a:xfrm>
            <a:off x="4434840" y="2606040"/>
            <a:ext cx="3593592" cy="146304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434840" y="2752344"/>
            <a:ext cx="64008" cy="1170432"/>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09160" y="2743200"/>
            <a:ext cx="3136392" cy="32004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059669"/>
                </a:solidFill>
                <a:latin typeface="Segoe UI"/>
              </a:rPr>
              <a:t>Sharpe / Sortino ratio</a:t>
            </a:r>
          </a:p>
        </p:txBody>
      </p:sp>
      <p:sp>
        <p:nvSpPr>
          <p:cNvPr id="19" name="TextBox 18"/>
          <p:cNvSpPr txBox="1"/>
          <p:nvPr/>
        </p:nvSpPr>
        <p:spPr>
          <a:xfrm>
            <a:off x="4709160" y="3099816"/>
            <a:ext cx="3090672" cy="914400"/>
          </a:xfrm>
          <a:prstGeom prst="rect">
            <a:avLst/>
          </a:prstGeom>
          <a:noFill/>
        </p:spPr>
        <p:txBody>
          <a:bodyPr wrap="square" lIns="0" tIns="0" rIns="0" bIns="0" anchor="t">
            <a:spAutoFit/>
          </a:bodyPr>
          <a:lstStyle/>
          <a:p>
            <a:pPr algn="l">
              <a:lnSpc>
                <a:spcPct val="110000"/>
              </a:lnSpc>
              <a:spcBef>
                <a:spcPts val="0"/>
              </a:spcBef>
              <a:spcAft>
                <a:spcPts val="400"/>
              </a:spcAft>
            </a:pPr>
            <a:r>
              <a:rPr sz="1030" b="0" i="0">
                <a:solidFill>
                  <a:srgbClr val="4B5563"/>
                </a:solidFill>
                <a:latin typeface="Segoe UI"/>
              </a:rPr>
              <a:t>Reward for the stress endured: how much profit you earned for each unit of nerve-wracking ups and downs. Higher is better.</a:t>
            </a:r>
          </a:p>
        </p:txBody>
      </p:sp>
      <p:sp>
        <p:nvSpPr>
          <p:cNvPr id="20" name="Rounded Rectangle 19"/>
          <p:cNvSpPr/>
          <p:nvPr/>
        </p:nvSpPr>
        <p:spPr>
          <a:xfrm>
            <a:off x="8275320" y="2606040"/>
            <a:ext cx="3593592" cy="146304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275320" y="2752344"/>
            <a:ext cx="64008" cy="1170432"/>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49640" y="2743200"/>
            <a:ext cx="3136392" cy="32004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DC2626"/>
                </a:solidFill>
                <a:latin typeface="Segoe UI"/>
              </a:rPr>
              <a:t>Maximum drawdown</a:t>
            </a:r>
          </a:p>
        </p:txBody>
      </p:sp>
      <p:sp>
        <p:nvSpPr>
          <p:cNvPr id="23" name="TextBox 22"/>
          <p:cNvSpPr txBox="1"/>
          <p:nvPr/>
        </p:nvSpPr>
        <p:spPr>
          <a:xfrm>
            <a:off x="8549640" y="3099816"/>
            <a:ext cx="3090672" cy="914400"/>
          </a:xfrm>
          <a:prstGeom prst="rect">
            <a:avLst/>
          </a:prstGeom>
          <a:noFill/>
        </p:spPr>
        <p:txBody>
          <a:bodyPr wrap="square" lIns="0" tIns="0" rIns="0" bIns="0" anchor="t">
            <a:spAutoFit/>
          </a:bodyPr>
          <a:lstStyle/>
          <a:p>
            <a:pPr algn="l">
              <a:lnSpc>
                <a:spcPct val="110000"/>
              </a:lnSpc>
              <a:spcBef>
                <a:spcPts val="0"/>
              </a:spcBef>
              <a:spcAft>
                <a:spcPts val="400"/>
              </a:spcAft>
            </a:pPr>
            <a:r>
              <a:rPr sz="1030" b="0" i="0">
                <a:solidFill>
                  <a:srgbClr val="4B5563"/>
                </a:solidFill>
                <a:latin typeface="Segoe UI"/>
              </a:rPr>
              <a:t>The worst fall from a peak the account suffered. It answers: “could you have stomached this without giving up?”</a:t>
            </a:r>
          </a:p>
        </p:txBody>
      </p:sp>
      <p:sp>
        <p:nvSpPr>
          <p:cNvPr id="24" name="Rounded Rectangle 23"/>
          <p:cNvSpPr/>
          <p:nvPr/>
        </p:nvSpPr>
        <p:spPr>
          <a:xfrm>
            <a:off x="594360" y="4215384"/>
            <a:ext cx="3593592" cy="146304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94360" y="4361688"/>
            <a:ext cx="64008" cy="1170432"/>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4352544"/>
            <a:ext cx="3136392" cy="32004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7C3AED"/>
                </a:solidFill>
                <a:latin typeface="Segoe UI"/>
              </a:rPr>
              <a:t>Win rate</a:t>
            </a:r>
          </a:p>
        </p:txBody>
      </p:sp>
      <p:sp>
        <p:nvSpPr>
          <p:cNvPr id="27" name="TextBox 26"/>
          <p:cNvSpPr txBox="1"/>
          <p:nvPr/>
        </p:nvSpPr>
        <p:spPr>
          <a:xfrm>
            <a:off x="868680" y="4709160"/>
            <a:ext cx="3090672" cy="914400"/>
          </a:xfrm>
          <a:prstGeom prst="rect">
            <a:avLst/>
          </a:prstGeom>
          <a:noFill/>
        </p:spPr>
        <p:txBody>
          <a:bodyPr wrap="square" lIns="0" tIns="0" rIns="0" bIns="0" anchor="t">
            <a:spAutoFit/>
          </a:bodyPr>
          <a:lstStyle/>
          <a:p>
            <a:pPr algn="l">
              <a:lnSpc>
                <a:spcPct val="110000"/>
              </a:lnSpc>
              <a:spcBef>
                <a:spcPts val="0"/>
              </a:spcBef>
              <a:spcAft>
                <a:spcPts val="400"/>
              </a:spcAft>
            </a:pPr>
            <a:r>
              <a:rPr sz="1030" b="0" i="0">
                <a:solidFill>
                  <a:srgbClr val="4B5563"/>
                </a:solidFill>
                <a:latin typeface="Segoe UI"/>
              </a:rPr>
              <a:t>Out of all trades, what fraction made money. A low rate can still be fine if the wins are far bigger than the losses.</a:t>
            </a:r>
          </a:p>
        </p:txBody>
      </p:sp>
      <p:sp>
        <p:nvSpPr>
          <p:cNvPr id="28" name="Rounded Rectangle 27"/>
          <p:cNvSpPr/>
          <p:nvPr/>
        </p:nvSpPr>
        <p:spPr>
          <a:xfrm>
            <a:off x="4434840" y="4215384"/>
            <a:ext cx="3593592" cy="146304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434840" y="4361688"/>
            <a:ext cx="64008" cy="1170432"/>
          </a:xfrm>
          <a:prstGeom prst="roundRect">
            <a:avLst>
              <a:gd name="adj" fmla="val 50000"/>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09160" y="4352544"/>
            <a:ext cx="3136392" cy="32004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0891B2"/>
                </a:solidFill>
                <a:latin typeface="Segoe UI"/>
              </a:rPr>
              <a:t>Profit factor</a:t>
            </a:r>
          </a:p>
        </p:txBody>
      </p:sp>
      <p:sp>
        <p:nvSpPr>
          <p:cNvPr id="31" name="TextBox 30"/>
          <p:cNvSpPr txBox="1"/>
          <p:nvPr/>
        </p:nvSpPr>
        <p:spPr>
          <a:xfrm>
            <a:off x="4709160" y="4709160"/>
            <a:ext cx="3090672" cy="914400"/>
          </a:xfrm>
          <a:prstGeom prst="rect">
            <a:avLst/>
          </a:prstGeom>
          <a:noFill/>
        </p:spPr>
        <p:txBody>
          <a:bodyPr wrap="square" lIns="0" tIns="0" rIns="0" bIns="0" anchor="t">
            <a:spAutoFit/>
          </a:bodyPr>
          <a:lstStyle/>
          <a:p>
            <a:pPr algn="l">
              <a:lnSpc>
                <a:spcPct val="110000"/>
              </a:lnSpc>
              <a:spcBef>
                <a:spcPts val="0"/>
              </a:spcBef>
              <a:spcAft>
                <a:spcPts val="400"/>
              </a:spcAft>
            </a:pPr>
            <a:r>
              <a:rPr sz="1030" b="0" i="0">
                <a:solidFill>
                  <a:srgbClr val="4B5563"/>
                </a:solidFill>
                <a:latin typeface="Segoe UI"/>
              </a:rPr>
              <a:t>Total winnings divided by total losses. Above 1 means it made money overall; the higher the number, the stronger the edge.</a:t>
            </a:r>
          </a:p>
        </p:txBody>
      </p:sp>
      <p:sp>
        <p:nvSpPr>
          <p:cNvPr id="32" name="Rounded Rectangle 31"/>
          <p:cNvSpPr/>
          <p:nvPr/>
        </p:nvSpPr>
        <p:spPr>
          <a:xfrm>
            <a:off x="8275320" y="4215384"/>
            <a:ext cx="3593592" cy="146304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275320" y="4361688"/>
            <a:ext cx="64008" cy="1170432"/>
          </a:xfrm>
          <a:prstGeom prst="roundRect">
            <a:avLst>
              <a:gd name="adj" fmla="val 50000"/>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549640" y="4352544"/>
            <a:ext cx="3136392" cy="32004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DB2777"/>
                </a:solidFill>
                <a:latin typeface="Segoe UI"/>
              </a:rPr>
              <a:t>Net profit / return</a:t>
            </a:r>
          </a:p>
        </p:txBody>
      </p:sp>
      <p:sp>
        <p:nvSpPr>
          <p:cNvPr id="35" name="TextBox 34"/>
          <p:cNvSpPr txBox="1"/>
          <p:nvPr/>
        </p:nvSpPr>
        <p:spPr>
          <a:xfrm>
            <a:off x="8549640" y="4709160"/>
            <a:ext cx="3090672" cy="914400"/>
          </a:xfrm>
          <a:prstGeom prst="rect">
            <a:avLst/>
          </a:prstGeom>
          <a:noFill/>
        </p:spPr>
        <p:txBody>
          <a:bodyPr wrap="square" lIns="0" tIns="0" rIns="0" bIns="0" anchor="t">
            <a:spAutoFit/>
          </a:bodyPr>
          <a:lstStyle/>
          <a:p>
            <a:pPr algn="l">
              <a:lnSpc>
                <a:spcPct val="110000"/>
              </a:lnSpc>
              <a:spcBef>
                <a:spcPts val="0"/>
              </a:spcBef>
              <a:spcAft>
                <a:spcPts val="400"/>
              </a:spcAft>
            </a:pPr>
            <a:r>
              <a:rPr sz="1030" b="0" i="0">
                <a:solidFill>
                  <a:srgbClr val="4B5563"/>
                </a:solidFill>
                <a:latin typeface="Segoe UI"/>
              </a:rPr>
              <a:t>The bottom line — money made or lost after every cost — shown in rupees and as a percentage of what you started with.</a:t>
            </a:r>
          </a:p>
        </p:txBody>
      </p:sp>
      <p:sp>
        <p:nvSpPr>
          <p:cNvPr id="36" name="TextBox 35"/>
          <p:cNvSpPr txBox="1"/>
          <p:nvPr/>
        </p:nvSpPr>
        <p:spPr>
          <a:xfrm>
            <a:off x="594360" y="5870448"/>
            <a:ext cx="11002975" cy="457200"/>
          </a:xfrm>
          <a:prstGeom prst="rect">
            <a:avLst/>
          </a:prstGeom>
          <a:noFill/>
        </p:spPr>
        <p:txBody>
          <a:bodyPr wrap="square" lIns="0" tIns="0" rIns="0" bIns="0" anchor="t">
            <a:spAutoFit/>
          </a:bodyPr>
          <a:lstStyle/>
          <a:p>
            <a:pPr algn="l">
              <a:lnSpc>
                <a:spcPct val="105000"/>
              </a:lnSpc>
              <a:spcBef>
                <a:spcPts val="0"/>
              </a:spcBef>
              <a:spcAft>
                <a:spcPts val="400"/>
              </a:spcAft>
            </a:pPr>
            <a:r>
              <a:rPr sz="1200" b="1" i="0">
                <a:solidFill>
                  <a:srgbClr val="0F172A"/>
                </a:solidFill>
                <a:latin typeface="Segoe UI"/>
              </a:rPr>
              <a:t>Our definition of success:  </a:t>
            </a:r>
            <a:r>
              <a:rPr sz="1200" b="0" i="0">
                <a:solidFill>
                  <a:srgbClr val="4B5563"/>
                </a:solidFill>
                <a:latin typeface="Segoe UI"/>
              </a:rPr>
              <a:t>beat buy-and-hold, with a bearable worst-case fall and more winnings than losses — all after costs.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0891B2"/>
                </a:solidFill>
                <a:latin typeface="Segoe UI"/>
              </a:rPr>
              <a:t>05 · THE APP IN ACTION</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Using AlgoLab — test one rule, or race several</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18</a:t>
            </a:r>
          </a:p>
        </p:txBody>
      </p:sp>
      <p:sp>
        <p:nvSpPr>
          <p:cNvPr id="9" name="Rounded Rectangle 8"/>
          <p:cNvSpPr/>
          <p:nvPr/>
        </p:nvSpPr>
        <p:spPr>
          <a:xfrm>
            <a:off x="594360" y="1627632"/>
            <a:ext cx="6766560" cy="4480560"/>
          </a:xfrm>
          <a:prstGeom prst="roundRect">
            <a:avLst>
              <a:gd name="adj" fmla="val 3000"/>
            </a:avLst>
          </a:prstGeom>
          <a:solidFill>
            <a:srgbClr val="FFFFFF"/>
          </a:solidFill>
          <a:ln w="1524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94360" y="1627632"/>
            <a:ext cx="6766560" cy="457200"/>
          </a:xfrm>
          <a:prstGeom prst="roundRect">
            <a:avLst>
              <a:gd name="adj" fmla="val 6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901952"/>
            <a:ext cx="6766560" cy="18288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1700784"/>
            <a:ext cx="1188720" cy="320040"/>
          </a:xfrm>
          <a:prstGeom prst="rect">
            <a:avLst/>
          </a:prstGeom>
          <a:noFill/>
        </p:spPr>
        <p:txBody>
          <a:bodyPr wrap="square" lIns="0" tIns="0" rIns="0" bIns="0" anchor="ctr">
            <a:spAutoFit/>
          </a:bodyPr>
          <a:lstStyle/>
          <a:p>
            <a:pPr algn="l">
              <a:lnSpc>
                <a:spcPct val="100000"/>
              </a:lnSpc>
              <a:spcBef>
                <a:spcPts val="0"/>
              </a:spcBef>
              <a:spcAft>
                <a:spcPts val="400"/>
              </a:spcAft>
            </a:pPr>
            <a:r>
              <a:rPr sz="1050" b="0" i="0">
                <a:solidFill>
                  <a:srgbClr val="93A3C8"/>
                </a:solidFill>
                <a:latin typeface="Segoe UI"/>
              </a:rPr>
              <a:t>Connect</a:t>
            </a:r>
          </a:p>
        </p:txBody>
      </p:sp>
      <p:sp>
        <p:nvSpPr>
          <p:cNvPr id="13" name="TextBox 12"/>
          <p:cNvSpPr txBox="1"/>
          <p:nvPr/>
        </p:nvSpPr>
        <p:spPr>
          <a:xfrm>
            <a:off x="2103120" y="1700784"/>
            <a:ext cx="1188720" cy="320040"/>
          </a:xfrm>
          <a:prstGeom prst="rect">
            <a:avLst/>
          </a:prstGeom>
          <a:noFill/>
        </p:spPr>
        <p:txBody>
          <a:bodyPr wrap="square" lIns="0" tIns="0" rIns="0" bIns="0" anchor="ctr">
            <a:spAutoFit/>
          </a:bodyPr>
          <a:lstStyle/>
          <a:p>
            <a:pPr algn="l">
              <a:lnSpc>
                <a:spcPct val="100000"/>
              </a:lnSpc>
              <a:spcBef>
                <a:spcPts val="0"/>
              </a:spcBef>
              <a:spcAft>
                <a:spcPts val="400"/>
              </a:spcAft>
            </a:pPr>
            <a:r>
              <a:rPr sz="1050" b="0" i="0">
                <a:solidFill>
                  <a:srgbClr val="FFFFFF"/>
                </a:solidFill>
                <a:latin typeface="Segoe UI"/>
              </a:rPr>
              <a:t>Backtest</a:t>
            </a:r>
          </a:p>
        </p:txBody>
      </p:sp>
      <p:sp>
        <p:nvSpPr>
          <p:cNvPr id="14" name="TextBox 13"/>
          <p:cNvSpPr txBox="1"/>
          <p:nvPr/>
        </p:nvSpPr>
        <p:spPr>
          <a:xfrm>
            <a:off x="3337560" y="1700784"/>
            <a:ext cx="1188720" cy="320040"/>
          </a:xfrm>
          <a:prstGeom prst="rect">
            <a:avLst/>
          </a:prstGeom>
          <a:noFill/>
        </p:spPr>
        <p:txBody>
          <a:bodyPr wrap="square" lIns="0" tIns="0" rIns="0" bIns="0" anchor="ctr">
            <a:spAutoFit/>
          </a:bodyPr>
          <a:lstStyle/>
          <a:p>
            <a:pPr algn="l">
              <a:lnSpc>
                <a:spcPct val="100000"/>
              </a:lnSpc>
              <a:spcBef>
                <a:spcPts val="0"/>
              </a:spcBef>
              <a:spcAft>
                <a:spcPts val="400"/>
              </a:spcAft>
            </a:pPr>
            <a:r>
              <a:rPr sz="1050" b="0" i="0">
                <a:solidFill>
                  <a:srgbClr val="93A3C8"/>
                </a:solidFill>
                <a:latin typeface="Segoe UI"/>
              </a:rPr>
              <a:t>Compare</a:t>
            </a:r>
          </a:p>
        </p:txBody>
      </p:sp>
      <p:sp>
        <p:nvSpPr>
          <p:cNvPr id="15" name="TextBox 14"/>
          <p:cNvSpPr txBox="1"/>
          <p:nvPr/>
        </p:nvSpPr>
        <p:spPr>
          <a:xfrm>
            <a:off x="4572000" y="1700784"/>
            <a:ext cx="1188720" cy="320040"/>
          </a:xfrm>
          <a:prstGeom prst="rect">
            <a:avLst/>
          </a:prstGeom>
          <a:noFill/>
        </p:spPr>
        <p:txBody>
          <a:bodyPr wrap="square" lIns="0" tIns="0" rIns="0" bIns="0" anchor="ctr">
            <a:spAutoFit/>
          </a:bodyPr>
          <a:lstStyle/>
          <a:p>
            <a:pPr algn="l">
              <a:lnSpc>
                <a:spcPct val="100000"/>
              </a:lnSpc>
              <a:spcBef>
                <a:spcPts val="0"/>
              </a:spcBef>
              <a:spcAft>
                <a:spcPts val="400"/>
              </a:spcAft>
            </a:pPr>
            <a:r>
              <a:rPr sz="1050" b="0" i="0">
                <a:solidFill>
                  <a:srgbClr val="93A3C8"/>
                </a:solidFill>
                <a:latin typeface="Segoe UI"/>
              </a:rPr>
              <a:t>About</a:t>
            </a:r>
          </a:p>
        </p:txBody>
      </p:sp>
      <p:sp>
        <p:nvSpPr>
          <p:cNvPr id="16" name="Rounded Rectangle 15"/>
          <p:cNvSpPr/>
          <p:nvPr/>
        </p:nvSpPr>
        <p:spPr>
          <a:xfrm>
            <a:off x="868680" y="2267712"/>
            <a:ext cx="1022604" cy="777240"/>
          </a:xfrm>
          <a:prstGeom prst="roundRect">
            <a:avLst>
              <a:gd name="adj" fmla="val 12000"/>
            </a:avLst>
          </a:prstGeom>
          <a:solidFill>
            <a:srgbClr val="F5F7FB"/>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60120" y="2377440"/>
            <a:ext cx="365760" cy="91440"/>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1832" y="2542032"/>
            <a:ext cx="912876" cy="274320"/>
          </a:xfrm>
          <a:prstGeom prst="rect">
            <a:avLst/>
          </a:prstGeom>
          <a:noFill/>
        </p:spPr>
        <p:txBody>
          <a:bodyPr wrap="square" lIns="0" tIns="0" rIns="0" bIns="0" anchor="t">
            <a:spAutoFit/>
          </a:bodyPr>
          <a:lstStyle/>
          <a:p>
            <a:pPr algn="l">
              <a:lnSpc>
                <a:spcPct val="100000"/>
              </a:lnSpc>
              <a:spcBef>
                <a:spcPts val="0"/>
              </a:spcBef>
              <a:spcAft>
                <a:spcPts val="400"/>
              </a:spcAft>
            </a:pPr>
            <a:r>
              <a:rPr sz="1200" b="0" i="0">
                <a:solidFill>
                  <a:srgbClr val="0F172A"/>
                </a:solidFill>
                <a:latin typeface="Segoe UI"/>
              </a:rPr>
              <a:t>₹ · ·</a:t>
            </a:r>
          </a:p>
        </p:txBody>
      </p:sp>
      <p:sp>
        <p:nvSpPr>
          <p:cNvPr id="19" name="TextBox 18"/>
          <p:cNvSpPr txBox="1"/>
          <p:nvPr/>
        </p:nvSpPr>
        <p:spPr>
          <a:xfrm>
            <a:off x="941832" y="2816352"/>
            <a:ext cx="912876" cy="201168"/>
          </a:xfrm>
          <a:prstGeom prst="rect">
            <a:avLst/>
          </a:prstGeom>
          <a:noFill/>
        </p:spPr>
        <p:txBody>
          <a:bodyPr wrap="square" lIns="0" tIns="0" rIns="0" bIns="0" anchor="t">
            <a:spAutoFit/>
          </a:bodyPr>
          <a:lstStyle/>
          <a:p>
            <a:pPr algn="l">
              <a:lnSpc>
                <a:spcPct val="100000"/>
              </a:lnSpc>
              <a:spcBef>
                <a:spcPts val="0"/>
              </a:spcBef>
              <a:spcAft>
                <a:spcPts val="400"/>
              </a:spcAft>
            </a:pPr>
            <a:r>
              <a:rPr sz="750" b="0" i="0">
                <a:solidFill>
                  <a:srgbClr val="4B5563"/>
                </a:solidFill>
                <a:latin typeface="Segoe UI"/>
              </a:rPr>
              <a:t>Net P&amp;L</a:t>
            </a:r>
          </a:p>
        </p:txBody>
      </p:sp>
      <p:sp>
        <p:nvSpPr>
          <p:cNvPr id="20" name="Rounded Rectangle 19"/>
          <p:cNvSpPr/>
          <p:nvPr/>
        </p:nvSpPr>
        <p:spPr>
          <a:xfrm>
            <a:off x="1924202" y="2267712"/>
            <a:ext cx="1022604" cy="777240"/>
          </a:xfrm>
          <a:prstGeom prst="roundRect">
            <a:avLst>
              <a:gd name="adj" fmla="val 12000"/>
            </a:avLst>
          </a:prstGeom>
          <a:solidFill>
            <a:srgbClr val="F5F7FB"/>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2015642" y="2377440"/>
            <a:ext cx="365760" cy="91440"/>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97354" y="2542032"/>
            <a:ext cx="912876" cy="274320"/>
          </a:xfrm>
          <a:prstGeom prst="rect">
            <a:avLst/>
          </a:prstGeom>
          <a:noFill/>
        </p:spPr>
        <p:txBody>
          <a:bodyPr wrap="square" lIns="0" tIns="0" rIns="0" bIns="0" anchor="t">
            <a:spAutoFit/>
          </a:bodyPr>
          <a:lstStyle/>
          <a:p>
            <a:pPr algn="l">
              <a:lnSpc>
                <a:spcPct val="100000"/>
              </a:lnSpc>
              <a:spcBef>
                <a:spcPts val="0"/>
              </a:spcBef>
              <a:spcAft>
                <a:spcPts val="400"/>
              </a:spcAft>
            </a:pPr>
            <a:r>
              <a:rPr sz="1200" b="0" i="0">
                <a:solidFill>
                  <a:srgbClr val="0F172A"/>
                </a:solidFill>
                <a:latin typeface="Segoe UI"/>
              </a:rPr>
              <a:t>₹ · ·</a:t>
            </a:r>
          </a:p>
        </p:txBody>
      </p:sp>
      <p:sp>
        <p:nvSpPr>
          <p:cNvPr id="23" name="TextBox 22"/>
          <p:cNvSpPr txBox="1"/>
          <p:nvPr/>
        </p:nvSpPr>
        <p:spPr>
          <a:xfrm>
            <a:off x="1997354" y="2816352"/>
            <a:ext cx="912876" cy="201168"/>
          </a:xfrm>
          <a:prstGeom prst="rect">
            <a:avLst/>
          </a:prstGeom>
          <a:noFill/>
        </p:spPr>
        <p:txBody>
          <a:bodyPr wrap="square" lIns="0" tIns="0" rIns="0" bIns="0" anchor="t">
            <a:spAutoFit/>
          </a:bodyPr>
          <a:lstStyle/>
          <a:p>
            <a:pPr algn="l">
              <a:lnSpc>
                <a:spcPct val="100000"/>
              </a:lnSpc>
              <a:spcBef>
                <a:spcPts val="0"/>
              </a:spcBef>
              <a:spcAft>
                <a:spcPts val="400"/>
              </a:spcAft>
            </a:pPr>
            <a:r>
              <a:rPr sz="750" b="0" i="0">
                <a:solidFill>
                  <a:srgbClr val="4B5563"/>
                </a:solidFill>
                <a:latin typeface="Segoe UI"/>
              </a:rPr>
              <a:t>Return %</a:t>
            </a:r>
          </a:p>
        </p:txBody>
      </p:sp>
      <p:sp>
        <p:nvSpPr>
          <p:cNvPr id="24" name="Rounded Rectangle 23"/>
          <p:cNvSpPr/>
          <p:nvPr/>
        </p:nvSpPr>
        <p:spPr>
          <a:xfrm>
            <a:off x="2979724" y="2267712"/>
            <a:ext cx="1022604" cy="777240"/>
          </a:xfrm>
          <a:prstGeom prst="roundRect">
            <a:avLst>
              <a:gd name="adj" fmla="val 12000"/>
            </a:avLst>
          </a:prstGeom>
          <a:solidFill>
            <a:srgbClr val="F5F7FB"/>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071164" y="2377440"/>
            <a:ext cx="365760" cy="9144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052876" y="2542032"/>
            <a:ext cx="912876" cy="274320"/>
          </a:xfrm>
          <a:prstGeom prst="rect">
            <a:avLst/>
          </a:prstGeom>
          <a:noFill/>
        </p:spPr>
        <p:txBody>
          <a:bodyPr wrap="square" lIns="0" tIns="0" rIns="0" bIns="0" anchor="t">
            <a:spAutoFit/>
          </a:bodyPr>
          <a:lstStyle/>
          <a:p>
            <a:pPr algn="l">
              <a:lnSpc>
                <a:spcPct val="100000"/>
              </a:lnSpc>
              <a:spcBef>
                <a:spcPts val="0"/>
              </a:spcBef>
              <a:spcAft>
                <a:spcPts val="400"/>
              </a:spcAft>
            </a:pPr>
            <a:r>
              <a:rPr sz="1200" b="0" i="0">
                <a:solidFill>
                  <a:srgbClr val="0F172A"/>
                </a:solidFill>
                <a:latin typeface="Segoe UI"/>
              </a:rPr>
              <a:t>₹ · ·</a:t>
            </a:r>
          </a:p>
        </p:txBody>
      </p:sp>
      <p:sp>
        <p:nvSpPr>
          <p:cNvPr id="27" name="TextBox 26"/>
          <p:cNvSpPr txBox="1"/>
          <p:nvPr/>
        </p:nvSpPr>
        <p:spPr>
          <a:xfrm>
            <a:off x="3052876" y="2816352"/>
            <a:ext cx="912876" cy="201168"/>
          </a:xfrm>
          <a:prstGeom prst="rect">
            <a:avLst/>
          </a:prstGeom>
          <a:noFill/>
        </p:spPr>
        <p:txBody>
          <a:bodyPr wrap="square" lIns="0" tIns="0" rIns="0" bIns="0" anchor="t">
            <a:spAutoFit/>
          </a:bodyPr>
          <a:lstStyle/>
          <a:p>
            <a:pPr algn="l">
              <a:lnSpc>
                <a:spcPct val="100000"/>
              </a:lnSpc>
              <a:spcBef>
                <a:spcPts val="0"/>
              </a:spcBef>
              <a:spcAft>
                <a:spcPts val="400"/>
              </a:spcAft>
            </a:pPr>
            <a:r>
              <a:rPr sz="750" b="0" i="0">
                <a:solidFill>
                  <a:srgbClr val="4B5563"/>
                </a:solidFill>
                <a:latin typeface="Segoe UI"/>
              </a:rPr>
              <a:t>Sharpe</a:t>
            </a:r>
          </a:p>
        </p:txBody>
      </p:sp>
      <p:sp>
        <p:nvSpPr>
          <p:cNvPr id="28" name="Rounded Rectangle 27"/>
          <p:cNvSpPr/>
          <p:nvPr/>
        </p:nvSpPr>
        <p:spPr>
          <a:xfrm>
            <a:off x="4035247" y="2267712"/>
            <a:ext cx="1022604" cy="777240"/>
          </a:xfrm>
          <a:prstGeom prst="roundRect">
            <a:avLst>
              <a:gd name="adj" fmla="val 12000"/>
            </a:avLst>
          </a:prstGeom>
          <a:solidFill>
            <a:srgbClr val="F5F7FB"/>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126687" y="2377440"/>
            <a:ext cx="365760" cy="91440"/>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08399" y="2542032"/>
            <a:ext cx="912876" cy="274320"/>
          </a:xfrm>
          <a:prstGeom prst="rect">
            <a:avLst/>
          </a:prstGeom>
          <a:noFill/>
        </p:spPr>
        <p:txBody>
          <a:bodyPr wrap="square" lIns="0" tIns="0" rIns="0" bIns="0" anchor="t">
            <a:spAutoFit/>
          </a:bodyPr>
          <a:lstStyle/>
          <a:p>
            <a:pPr algn="l">
              <a:lnSpc>
                <a:spcPct val="100000"/>
              </a:lnSpc>
              <a:spcBef>
                <a:spcPts val="0"/>
              </a:spcBef>
              <a:spcAft>
                <a:spcPts val="400"/>
              </a:spcAft>
            </a:pPr>
            <a:r>
              <a:rPr sz="1200" b="0" i="0">
                <a:solidFill>
                  <a:srgbClr val="0F172A"/>
                </a:solidFill>
                <a:latin typeface="Segoe UI"/>
              </a:rPr>
              <a:t>₹ · ·</a:t>
            </a:r>
          </a:p>
        </p:txBody>
      </p:sp>
      <p:sp>
        <p:nvSpPr>
          <p:cNvPr id="31" name="TextBox 30"/>
          <p:cNvSpPr txBox="1"/>
          <p:nvPr/>
        </p:nvSpPr>
        <p:spPr>
          <a:xfrm>
            <a:off x="4108399" y="2816352"/>
            <a:ext cx="912876" cy="201168"/>
          </a:xfrm>
          <a:prstGeom prst="rect">
            <a:avLst/>
          </a:prstGeom>
          <a:noFill/>
        </p:spPr>
        <p:txBody>
          <a:bodyPr wrap="square" lIns="0" tIns="0" rIns="0" bIns="0" anchor="t">
            <a:spAutoFit/>
          </a:bodyPr>
          <a:lstStyle/>
          <a:p>
            <a:pPr algn="l">
              <a:lnSpc>
                <a:spcPct val="100000"/>
              </a:lnSpc>
              <a:spcBef>
                <a:spcPts val="0"/>
              </a:spcBef>
              <a:spcAft>
                <a:spcPts val="400"/>
              </a:spcAft>
            </a:pPr>
            <a:r>
              <a:rPr sz="750" b="0" i="0">
                <a:solidFill>
                  <a:srgbClr val="4B5563"/>
                </a:solidFill>
                <a:latin typeface="Segoe UI"/>
              </a:rPr>
              <a:t>Max DD</a:t>
            </a:r>
          </a:p>
        </p:txBody>
      </p:sp>
      <p:sp>
        <p:nvSpPr>
          <p:cNvPr id="32" name="Rounded Rectangle 31"/>
          <p:cNvSpPr/>
          <p:nvPr/>
        </p:nvSpPr>
        <p:spPr>
          <a:xfrm>
            <a:off x="5090769" y="2267712"/>
            <a:ext cx="1022604" cy="777240"/>
          </a:xfrm>
          <a:prstGeom prst="roundRect">
            <a:avLst>
              <a:gd name="adj" fmla="val 12000"/>
            </a:avLst>
          </a:prstGeom>
          <a:solidFill>
            <a:srgbClr val="F5F7FB"/>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182209" y="2377440"/>
            <a:ext cx="365760" cy="9144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163921" y="2542032"/>
            <a:ext cx="912876" cy="274320"/>
          </a:xfrm>
          <a:prstGeom prst="rect">
            <a:avLst/>
          </a:prstGeom>
          <a:noFill/>
        </p:spPr>
        <p:txBody>
          <a:bodyPr wrap="square" lIns="0" tIns="0" rIns="0" bIns="0" anchor="t">
            <a:spAutoFit/>
          </a:bodyPr>
          <a:lstStyle/>
          <a:p>
            <a:pPr algn="l">
              <a:lnSpc>
                <a:spcPct val="100000"/>
              </a:lnSpc>
              <a:spcBef>
                <a:spcPts val="0"/>
              </a:spcBef>
              <a:spcAft>
                <a:spcPts val="400"/>
              </a:spcAft>
            </a:pPr>
            <a:r>
              <a:rPr sz="1200" b="0" i="0">
                <a:solidFill>
                  <a:srgbClr val="0F172A"/>
                </a:solidFill>
                <a:latin typeface="Segoe UI"/>
              </a:rPr>
              <a:t>₹ · ·</a:t>
            </a:r>
          </a:p>
        </p:txBody>
      </p:sp>
      <p:sp>
        <p:nvSpPr>
          <p:cNvPr id="35" name="TextBox 34"/>
          <p:cNvSpPr txBox="1"/>
          <p:nvPr/>
        </p:nvSpPr>
        <p:spPr>
          <a:xfrm>
            <a:off x="5163921" y="2816352"/>
            <a:ext cx="912876" cy="201168"/>
          </a:xfrm>
          <a:prstGeom prst="rect">
            <a:avLst/>
          </a:prstGeom>
          <a:noFill/>
        </p:spPr>
        <p:txBody>
          <a:bodyPr wrap="square" lIns="0" tIns="0" rIns="0" bIns="0" anchor="t">
            <a:spAutoFit/>
          </a:bodyPr>
          <a:lstStyle/>
          <a:p>
            <a:pPr algn="l">
              <a:lnSpc>
                <a:spcPct val="100000"/>
              </a:lnSpc>
              <a:spcBef>
                <a:spcPts val="0"/>
              </a:spcBef>
              <a:spcAft>
                <a:spcPts val="400"/>
              </a:spcAft>
            </a:pPr>
            <a:r>
              <a:rPr sz="750" b="0" i="0">
                <a:solidFill>
                  <a:srgbClr val="4B5563"/>
                </a:solidFill>
                <a:latin typeface="Segoe UI"/>
              </a:rPr>
              <a:t>Win rate</a:t>
            </a:r>
          </a:p>
        </p:txBody>
      </p:sp>
      <p:sp>
        <p:nvSpPr>
          <p:cNvPr id="36" name="Rounded Rectangle 35"/>
          <p:cNvSpPr/>
          <p:nvPr/>
        </p:nvSpPr>
        <p:spPr>
          <a:xfrm>
            <a:off x="6146292" y="2267712"/>
            <a:ext cx="1022604" cy="777240"/>
          </a:xfrm>
          <a:prstGeom prst="roundRect">
            <a:avLst>
              <a:gd name="adj" fmla="val 12000"/>
            </a:avLst>
          </a:prstGeom>
          <a:solidFill>
            <a:srgbClr val="F5F7FB"/>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237732" y="2377440"/>
            <a:ext cx="365760" cy="91440"/>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19444" y="2542032"/>
            <a:ext cx="912876" cy="274320"/>
          </a:xfrm>
          <a:prstGeom prst="rect">
            <a:avLst/>
          </a:prstGeom>
          <a:noFill/>
        </p:spPr>
        <p:txBody>
          <a:bodyPr wrap="square" lIns="0" tIns="0" rIns="0" bIns="0" anchor="t">
            <a:spAutoFit/>
          </a:bodyPr>
          <a:lstStyle/>
          <a:p>
            <a:pPr algn="l">
              <a:lnSpc>
                <a:spcPct val="100000"/>
              </a:lnSpc>
              <a:spcBef>
                <a:spcPts val="0"/>
              </a:spcBef>
              <a:spcAft>
                <a:spcPts val="400"/>
              </a:spcAft>
            </a:pPr>
            <a:r>
              <a:rPr sz="1200" b="0" i="0">
                <a:solidFill>
                  <a:srgbClr val="0F172A"/>
                </a:solidFill>
                <a:latin typeface="Segoe UI"/>
              </a:rPr>
              <a:t>₹ · ·</a:t>
            </a:r>
          </a:p>
        </p:txBody>
      </p:sp>
      <p:sp>
        <p:nvSpPr>
          <p:cNvPr id="39" name="TextBox 38"/>
          <p:cNvSpPr txBox="1"/>
          <p:nvPr/>
        </p:nvSpPr>
        <p:spPr>
          <a:xfrm>
            <a:off x="6219444" y="2816352"/>
            <a:ext cx="912876" cy="201168"/>
          </a:xfrm>
          <a:prstGeom prst="rect">
            <a:avLst/>
          </a:prstGeom>
          <a:noFill/>
        </p:spPr>
        <p:txBody>
          <a:bodyPr wrap="square" lIns="0" tIns="0" rIns="0" bIns="0" anchor="t">
            <a:spAutoFit/>
          </a:bodyPr>
          <a:lstStyle/>
          <a:p>
            <a:pPr algn="l">
              <a:lnSpc>
                <a:spcPct val="100000"/>
              </a:lnSpc>
              <a:spcBef>
                <a:spcPts val="0"/>
              </a:spcBef>
              <a:spcAft>
                <a:spcPts val="400"/>
              </a:spcAft>
            </a:pPr>
            <a:r>
              <a:rPr sz="750" b="0" i="0">
                <a:solidFill>
                  <a:srgbClr val="4B5563"/>
                </a:solidFill>
                <a:latin typeface="Segoe UI"/>
              </a:rPr>
              <a:t>Costs paid</a:t>
            </a:r>
          </a:p>
        </p:txBody>
      </p:sp>
      <p:sp>
        <p:nvSpPr>
          <p:cNvPr id="40" name="Rounded Rectangle 39"/>
          <p:cNvSpPr/>
          <p:nvPr/>
        </p:nvSpPr>
        <p:spPr>
          <a:xfrm>
            <a:off x="868680" y="3182112"/>
            <a:ext cx="6217920" cy="1600200"/>
          </a:xfrm>
          <a:prstGeom prst="roundRect">
            <a:avLst>
              <a:gd name="adj" fmla="val 4000"/>
            </a:avLst>
          </a:prstGeom>
          <a:solidFill>
            <a:srgbClr val="F5F7FB"/>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flipV="1">
            <a:off x="1143000" y="4005072"/>
            <a:ext cx="731519" cy="365760"/>
          </a:xfrm>
          <a:prstGeom prst="bentConnector3">
            <a:avLst/>
          </a:prstGeom>
          <a:ln w="25400">
            <a:solidFill>
              <a:srgbClr val="2563EB"/>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874519" y="4005072"/>
            <a:ext cx="731521" cy="228600"/>
          </a:xfrm>
          <a:prstGeom prst="bentConnector3">
            <a:avLst/>
          </a:prstGeom>
          <a:ln w="25400">
            <a:solidFill>
              <a:srgbClr val="2563EB"/>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2606040" y="3639312"/>
            <a:ext cx="731520" cy="594360"/>
          </a:xfrm>
          <a:prstGeom prst="bentConnector3">
            <a:avLst/>
          </a:prstGeom>
          <a:ln w="25400">
            <a:solidFill>
              <a:srgbClr val="2563EB"/>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337560" y="3639312"/>
            <a:ext cx="731520" cy="274320"/>
          </a:xfrm>
          <a:prstGeom prst="bentConnector3">
            <a:avLst/>
          </a:prstGeom>
          <a:ln w="25400">
            <a:solidFill>
              <a:srgbClr val="2563EB"/>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069080" y="3456432"/>
            <a:ext cx="731520" cy="457200"/>
          </a:xfrm>
          <a:prstGeom prst="bentConnector3">
            <a:avLst/>
          </a:prstGeom>
          <a:ln w="25400">
            <a:solidFill>
              <a:srgbClr val="2563EB"/>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800600" y="3456432"/>
            <a:ext cx="731520" cy="274320"/>
          </a:xfrm>
          <a:prstGeom prst="bentConnector3">
            <a:avLst/>
          </a:prstGeom>
          <a:ln w="25400">
            <a:solidFill>
              <a:srgbClr val="2563EB"/>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5532120" y="3410712"/>
            <a:ext cx="914400" cy="320040"/>
          </a:xfrm>
          <a:prstGeom prst="bentConnector3">
            <a:avLst/>
          </a:prstGeom>
          <a:ln w="25400">
            <a:solidFill>
              <a:srgbClr val="2563EB"/>
            </a:solidFill>
          </a:ln>
          <a:effectLst/>
        </p:spPr>
        <p:style>
          <a:lnRef idx="2">
            <a:schemeClr val="accent1"/>
          </a:lnRef>
          <a:fillRef idx="0">
            <a:schemeClr val="accent1"/>
          </a:fillRef>
          <a:effectRef idx="1">
            <a:schemeClr val="accent1"/>
          </a:effectRef>
          <a:fontRef idx="minor">
            <a:schemeClr val="tx1"/>
          </a:fontRef>
        </p:style>
      </p:cxnSp>
      <p:sp>
        <p:nvSpPr>
          <p:cNvPr id="48" name="Isosceles Triangle 47"/>
          <p:cNvSpPr/>
          <p:nvPr/>
        </p:nvSpPr>
        <p:spPr>
          <a:xfrm>
            <a:off x="1097280" y="4325112"/>
            <a:ext cx="91440" cy="91440"/>
          </a:xfrm>
          <a:prstGeom prst="triangl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828799" y="3959352"/>
            <a:ext cx="9144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Isosceles Triangle 49"/>
          <p:cNvSpPr/>
          <p:nvPr/>
        </p:nvSpPr>
        <p:spPr>
          <a:xfrm>
            <a:off x="2560320" y="4187952"/>
            <a:ext cx="91440" cy="91440"/>
          </a:xfrm>
          <a:prstGeom prst="triangl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3291840" y="3593592"/>
            <a:ext cx="9144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a:off x="4023360" y="3867912"/>
            <a:ext cx="91440" cy="91440"/>
          </a:xfrm>
          <a:prstGeom prst="triangl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754880" y="3410712"/>
            <a:ext cx="9144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Isosceles Triangle 53"/>
          <p:cNvSpPr/>
          <p:nvPr/>
        </p:nvSpPr>
        <p:spPr>
          <a:xfrm>
            <a:off x="5486400" y="3685032"/>
            <a:ext cx="91440" cy="91440"/>
          </a:xfrm>
          <a:prstGeom prst="triangl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400800" y="3364992"/>
            <a:ext cx="9144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05840" y="4828032"/>
            <a:ext cx="5486400" cy="228600"/>
          </a:xfrm>
          <a:prstGeom prst="rect">
            <a:avLst/>
          </a:prstGeom>
          <a:noFill/>
        </p:spPr>
        <p:txBody>
          <a:bodyPr wrap="square" lIns="0" tIns="0" rIns="0" bIns="0" anchor="t">
            <a:spAutoFit/>
          </a:bodyPr>
          <a:lstStyle/>
          <a:p>
            <a:pPr algn="l">
              <a:lnSpc>
                <a:spcPct val="100000"/>
              </a:lnSpc>
              <a:spcBef>
                <a:spcPts val="0"/>
              </a:spcBef>
              <a:spcAft>
                <a:spcPts val="400"/>
              </a:spcAft>
            </a:pPr>
            <a:r>
              <a:rPr sz="850" b="0" i="0">
                <a:solidFill>
                  <a:srgbClr val="94A3B8"/>
                </a:solidFill>
                <a:latin typeface="Segoe UI"/>
              </a:rPr>
              <a:t>the price, with a green marker on every buy and a red one on every sell</a:t>
            </a:r>
          </a:p>
        </p:txBody>
      </p:sp>
      <p:sp>
        <p:nvSpPr>
          <p:cNvPr id="57" name="Rounded Rectangle 56"/>
          <p:cNvSpPr/>
          <p:nvPr/>
        </p:nvSpPr>
        <p:spPr>
          <a:xfrm>
            <a:off x="868680" y="5193792"/>
            <a:ext cx="6217920" cy="685800"/>
          </a:xfrm>
          <a:prstGeom prst="roundRect">
            <a:avLst>
              <a:gd name="adj" fmla="val 6000"/>
            </a:avLst>
          </a:prstGeom>
          <a:solidFill>
            <a:srgbClr val="FFFFFF"/>
          </a:solidFill>
          <a:ln w="9525">
            <a:solidFill>
              <a:srgbClr val="EEF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05840" y="5266944"/>
            <a:ext cx="603504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94A3B8"/>
                </a:solidFill>
                <a:latin typeface="Segoe UI"/>
              </a:rPr>
              <a:t>Entry      Exit      Qty      P&amp;L (₹)      Return %      Duration</a:t>
            </a:r>
          </a:p>
        </p:txBody>
      </p:sp>
      <p:sp>
        <p:nvSpPr>
          <p:cNvPr id="59" name="TextBox 58"/>
          <p:cNvSpPr txBox="1"/>
          <p:nvPr/>
        </p:nvSpPr>
        <p:spPr>
          <a:xfrm>
            <a:off x="1005840" y="5513832"/>
            <a:ext cx="603504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0" i="0">
                <a:solidFill>
                  <a:srgbClr val="4B5563"/>
                </a:solidFill>
                <a:latin typeface="Segoe UI"/>
              </a:rPr>
              <a:t>a complete list of every trade the strategy made — exportable to a spreadsheet</a:t>
            </a:r>
          </a:p>
        </p:txBody>
      </p:sp>
      <p:sp>
        <p:nvSpPr>
          <p:cNvPr id="60" name="TextBox 59"/>
          <p:cNvSpPr txBox="1"/>
          <p:nvPr/>
        </p:nvSpPr>
        <p:spPr>
          <a:xfrm>
            <a:off x="7635240" y="1737360"/>
            <a:ext cx="4023360" cy="4389120"/>
          </a:xfrm>
          <a:prstGeom prst="rect">
            <a:avLst/>
          </a:prstGeom>
          <a:noFill/>
        </p:spPr>
        <p:txBody>
          <a:bodyPr wrap="square" lIns="0" tIns="0" rIns="0" bIns="0">
            <a:spAutoFit/>
          </a:bodyPr>
          <a:lstStyle/>
          <a:p>
            <a:pPr>
              <a:lnSpc>
                <a:spcPct val="112000"/>
              </a:lnSpc>
              <a:spcBef>
                <a:spcPts val="0"/>
              </a:spcBef>
              <a:spcAft>
                <a:spcPts val="1000"/>
              </a:spcAft>
            </a:pPr>
            <a:r>
              <a:rPr sz="1150" b="1" i="0">
                <a:solidFill>
                  <a:srgbClr val="0891B2"/>
                </a:solidFill>
                <a:latin typeface="Segoe UI"/>
              </a:rPr>
              <a:t>▸  </a:t>
            </a:r>
            <a:r>
              <a:rPr sz="1150" b="1" i="0">
                <a:solidFill>
                  <a:srgbClr val="0F172A"/>
                </a:solidFill>
                <a:latin typeface="Segoe UI"/>
              </a:rPr>
              <a:t>Backtest tab:</a:t>
            </a:r>
            <a:r>
              <a:rPr sz="1150" b="0" i="0">
                <a:solidFill>
                  <a:srgbClr val="0F172A"/>
                </a:solidFill>
                <a:latin typeface="Segoe UI"/>
              </a:rPr>
              <a:t> run a single strategy and instantly see the headline scores as plain tiles, each with a hover-over note explaining it in everyday language.</a:t>
            </a:r>
          </a:p>
          <a:p>
            <a:pPr>
              <a:lnSpc>
                <a:spcPct val="112000"/>
              </a:lnSpc>
              <a:spcBef>
                <a:spcPts val="0"/>
              </a:spcBef>
              <a:spcAft>
                <a:spcPts val="1000"/>
              </a:spcAft>
            </a:pPr>
            <a:r>
              <a:rPr sz="1150" b="1" i="0">
                <a:solidFill>
                  <a:srgbClr val="0891B2"/>
                </a:solidFill>
                <a:latin typeface="Segoe UI"/>
              </a:rPr>
              <a:t>▸  </a:t>
            </a:r>
            <a:r>
              <a:rPr sz="1150" b="0" i="0">
                <a:solidFill>
                  <a:srgbClr val="0F172A"/>
                </a:solidFill>
                <a:latin typeface="Segoe UI"/>
              </a:rPr>
              <a:t>The chart marks every buy and sell on the real price, so you can see at a glance where the strategy acted — and whether it made sense.</a:t>
            </a:r>
          </a:p>
          <a:p>
            <a:pPr>
              <a:lnSpc>
                <a:spcPct val="112000"/>
              </a:lnSpc>
              <a:spcBef>
                <a:spcPts val="0"/>
              </a:spcBef>
              <a:spcAft>
                <a:spcPts val="1000"/>
              </a:spcAft>
            </a:pPr>
            <a:r>
              <a:rPr sz="1150" b="1" i="0">
                <a:solidFill>
                  <a:srgbClr val="0891B2"/>
                </a:solidFill>
                <a:latin typeface="Segoe UI"/>
              </a:rPr>
              <a:t>▸  </a:t>
            </a:r>
            <a:r>
              <a:rPr sz="1150" b="1" i="0">
                <a:solidFill>
                  <a:srgbClr val="0F172A"/>
                </a:solidFill>
                <a:latin typeface="Segoe UI"/>
              </a:rPr>
              <a:t>Compare tab:</a:t>
            </a:r>
            <a:r>
              <a:rPr sz="1150" b="0" i="0">
                <a:solidFill>
                  <a:srgbClr val="0F172A"/>
                </a:solidFill>
                <a:latin typeface="Segoe UI"/>
              </a:rPr>
              <a:t> race several strategies on the same stock at once. The best and worst are tinted green and red, and all the scores sit side by side in one table.</a:t>
            </a:r>
          </a:p>
          <a:p>
            <a:pPr>
              <a:lnSpc>
                <a:spcPct val="112000"/>
              </a:lnSpc>
              <a:spcBef>
                <a:spcPts val="0"/>
              </a:spcBef>
              <a:spcAft>
                <a:spcPts val="1000"/>
              </a:spcAft>
            </a:pPr>
            <a:r>
              <a:rPr sz="1150" b="1" i="0">
                <a:solidFill>
                  <a:srgbClr val="0891B2"/>
                </a:solidFill>
                <a:latin typeface="Segoe UI"/>
              </a:rPr>
              <a:t>▸  </a:t>
            </a:r>
            <a:r>
              <a:rPr sz="1150" b="0" i="0">
                <a:solidFill>
                  <a:srgbClr val="0F172A"/>
                </a:solidFill>
                <a:latin typeface="Segoe UI"/>
              </a:rPr>
              <a:t>Because they all use identical costs and safety rules, it is a genuinely fair fight — the winner wins on the strength of the idea alone.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0891B2"/>
                </a:solidFill>
                <a:latin typeface="Segoe UI"/>
              </a:rPr>
              <a:t>05 · THE APP IN ACTION</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No black box — every trade explained in plain English</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19</a:t>
            </a:r>
          </a:p>
        </p:txBody>
      </p:sp>
      <p:sp>
        <p:nvSpPr>
          <p:cNvPr id="9" name="TextBox 8"/>
          <p:cNvSpPr txBox="1"/>
          <p:nvPr/>
        </p:nvSpPr>
        <p:spPr>
          <a:xfrm>
            <a:off x="594360" y="1481328"/>
            <a:ext cx="10972800" cy="365760"/>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4B5563"/>
                </a:solidFill>
                <a:latin typeface="Segoe UI"/>
              </a:rPr>
              <a:t>Most trading tools just tell you what to do, never why. AlgoLab does the opposite — click any trade and it explains itself.</a:t>
            </a:r>
          </a:p>
        </p:txBody>
      </p:sp>
      <p:sp>
        <p:nvSpPr>
          <p:cNvPr id="10" name="Rounded Rectangle 9"/>
          <p:cNvSpPr/>
          <p:nvPr/>
        </p:nvSpPr>
        <p:spPr>
          <a:xfrm>
            <a:off x="594360" y="2057400"/>
            <a:ext cx="6035040" cy="379476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94360" y="2057400"/>
            <a:ext cx="6035040" cy="502920"/>
          </a:xfrm>
          <a:prstGeom prst="roundRect">
            <a:avLst>
              <a:gd name="adj" fmla="val 5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4360" y="2331720"/>
            <a:ext cx="6035040" cy="2286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2121408"/>
            <a:ext cx="5486400" cy="365760"/>
          </a:xfrm>
          <a:prstGeom prst="rect">
            <a:avLst/>
          </a:prstGeom>
          <a:noFill/>
        </p:spPr>
        <p:txBody>
          <a:bodyPr wrap="square" lIns="0" tIns="0" rIns="0" bIns="0" anchor="ctr">
            <a:spAutoFit/>
          </a:bodyPr>
          <a:lstStyle/>
          <a:p>
            <a:pPr algn="l">
              <a:lnSpc>
                <a:spcPct val="100000"/>
              </a:lnSpc>
              <a:spcBef>
                <a:spcPts val="0"/>
              </a:spcBef>
              <a:spcAft>
                <a:spcPts val="400"/>
              </a:spcAft>
            </a:pPr>
            <a:r>
              <a:rPr sz="1300" b="0" i="0">
                <a:solidFill>
                  <a:srgbClr val="FFFFFF"/>
                </a:solidFill>
                <a:latin typeface="Segoe UI"/>
              </a:rPr>
              <a:t>BUY  •  RSI Mean Reversion</a:t>
            </a:r>
          </a:p>
        </p:txBody>
      </p:sp>
      <p:sp>
        <p:nvSpPr>
          <p:cNvPr id="14" name="TextBox 13"/>
          <p:cNvSpPr txBox="1"/>
          <p:nvPr/>
        </p:nvSpPr>
        <p:spPr>
          <a:xfrm>
            <a:off x="868680" y="2761488"/>
            <a:ext cx="1920240" cy="32004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94A3B8"/>
                </a:solidFill>
                <a:latin typeface="Segoe UI"/>
              </a:rPr>
              <a:t>Date</a:t>
            </a:r>
          </a:p>
        </p:txBody>
      </p:sp>
      <p:sp>
        <p:nvSpPr>
          <p:cNvPr id="15" name="TextBox 14"/>
          <p:cNvSpPr txBox="1"/>
          <p:nvPr/>
        </p:nvSpPr>
        <p:spPr>
          <a:xfrm>
            <a:off x="2834640" y="2761488"/>
            <a:ext cx="3657600" cy="320040"/>
          </a:xfrm>
          <a:prstGeom prst="rect">
            <a:avLst/>
          </a:prstGeom>
          <a:noFill/>
        </p:spPr>
        <p:txBody>
          <a:bodyPr wrap="square" lIns="0" tIns="0" rIns="0" bIns="0" anchor="t">
            <a:spAutoFit/>
          </a:bodyPr>
          <a:lstStyle/>
          <a:p>
            <a:pPr algn="l">
              <a:lnSpc>
                <a:spcPct val="100000"/>
              </a:lnSpc>
              <a:spcBef>
                <a:spcPts val="0"/>
              </a:spcBef>
              <a:spcAft>
                <a:spcPts val="400"/>
              </a:spcAft>
            </a:pPr>
            <a:r>
              <a:rPr sz="1150" b="0" i="0">
                <a:solidFill>
                  <a:srgbClr val="0F172A"/>
                </a:solidFill>
                <a:latin typeface="Consolas"/>
              </a:rPr>
              <a:t>13 Aug 2024</a:t>
            </a:r>
          </a:p>
        </p:txBody>
      </p:sp>
      <p:sp>
        <p:nvSpPr>
          <p:cNvPr id="16" name="TextBox 15"/>
          <p:cNvSpPr txBox="1"/>
          <p:nvPr/>
        </p:nvSpPr>
        <p:spPr>
          <a:xfrm>
            <a:off x="868680" y="3145536"/>
            <a:ext cx="1920240" cy="32004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94A3B8"/>
                </a:solidFill>
                <a:latin typeface="Segoe UI"/>
              </a:rPr>
              <a:t>Price</a:t>
            </a:r>
          </a:p>
        </p:txBody>
      </p:sp>
      <p:sp>
        <p:nvSpPr>
          <p:cNvPr id="17" name="TextBox 16"/>
          <p:cNvSpPr txBox="1"/>
          <p:nvPr/>
        </p:nvSpPr>
        <p:spPr>
          <a:xfrm>
            <a:off x="2834640" y="3145536"/>
            <a:ext cx="3657600" cy="320040"/>
          </a:xfrm>
          <a:prstGeom prst="rect">
            <a:avLst/>
          </a:prstGeom>
          <a:noFill/>
        </p:spPr>
        <p:txBody>
          <a:bodyPr wrap="square" lIns="0" tIns="0" rIns="0" bIns="0" anchor="t">
            <a:spAutoFit/>
          </a:bodyPr>
          <a:lstStyle/>
          <a:p>
            <a:pPr algn="l">
              <a:lnSpc>
                <a:spcPct val="100000"/>
              </a:lnSpc>
              <a:spcBef>
                <a:spcPts val="0"/>
              </a:spcBef>
              <a:spcAft>
                <a:spcPts val="400"/>
              </a:spcAft>
            </a:pPr>
            <a:r>
              <a:rPr sz="1150" b="0" i="0">
                <a:solidFill>
                  <a:srgbClr val="0F172A"/>
                </a:solidFill>
                <a:latin typeface="Consolas"/>
              </a:rPr>
              <a:t>₹ 1,184.20</a:t>
            </a:r>
          </a:p>
        </p:txBody>
      </p:sp>
      <p:sp>
        <p:nvSpPr>
          <p:cNvPr id="18" name="TextBox 17"/>
          <p:cNvSpPr txBox="1"/>
          <p:nvPr/>
        </p:nvSpPr>
        <p:spPr>
          <a:xfrm>
            <a:off x="868680" y="3529584"/>
            <a:ext cx="1920240" cy="32004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94A3B8"/>
                </a:solidFill>
                <a:latin typeface="Segoe UI"/>
              </a:rPr>
              <a:t>Quantity</a:t>
            </a:r>
          </a:p>
        </p:txBody>
      </p:sp>
      <p:sp>
        <p:nvSpPr>
          <p:cNvPr id="19" name="TextBox 18"/>
          <p:cNvSpPr txBox="1"/>
          <p:nvPr/>
        </p:nvSpPr>
        <p:spPr>
          <a:xfrm>
            <a:off x="2834640" y="3529584"/>
            <a:ext cx="3657600" cy="320040"/>
          </a:xfrm>
          <a:prstGeom prst="rect">
            <a:avLst/>
          </a:prstGeom>
          <a:noFill/>
        </p:spPr>
        <p:txBody>
          <a:bodyPr wrap="square" lIns="0" tIns="0" rIns="0" bIns="0" anchor="t">
            <a:spAutoFit/>
          </a:bodyPr>
          <a:lstStyle/>
          <a:p>
            <a:pPr algn="l">
              <a:lnSpc>
                <a:spcPct val="100000"/>
              </a:lnSpc>
              <a:spcBef>
                <a:spcPts val="0"/>
              </a:spcBef>
              <a:spcAft>
                <a:spcPts val="400"/>
              </a:spcAft>
            </a:pPr>
            <a:r>
              <a:rPr sz="1150" b="0" i="0">
                <a:solidFill>
                  <a:srgbClr val="0F172A"/>
                </a:solidFill>
                <a:latin typeface="Consolas"/>
              </a:rPr>
              <a:t>84 shares</a:t>
            </a:r>
          </a:p>
        </p:txBody>
      </p:sp>
      <p:sp>
        <p:nvSpPr>
          <p:cNvPr id="20" name="TextBox 19"/>
          <p:cNvSpPr txBox="1"/>
          <p:nvPr/>
        </p:nvSpPr>
        <p:spPr>
          <a:xfrm>
            <a:off x="868680" y="3913632"/>
            <a:ext cx="1920240" cy="32004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94A3B8"/>
                </a:solidFill>
                <a:latin typeface="Segoe UI"/>
              </a:rPr>
              <a:t>Costs paid</a:t>
            </a:r>
          </a:p>
        </p:txBody>
      </p:sp>
      <p:sp>
        <p:nvSpPr>
          <p:cNvPr id="21" name="TextBox 20"/>
          <p:cNvSpPr txBox="1"/>
          <p:nvPr/>
        </p:nvSpPr>
        <p:spPr>
          <a:xfrm>
            <a:off x="2834640" y="3913632"/>
            <a:ext cx="3657600" cy="320040"/>
          </a:xfrm>
          <a:prstGeom prst="rect">
            <a:avLst/>
          </a:prstGeom>
          <a:noFill/>
        </p:spPr>
        <p:txBody>
          <a:bodyPr wrap="square" lIns="0" tIns="0" rIns="0" bIns="0" anchor="t">
            <a:spAutoFit/>
          </a:bodyPr>
          <a:lstStyle/>
          <a:p>
            <a:pPr algn="l">
              <a:lnSpc>
                <a:spcPct val="100000"/>
              </a:lnSpc>
              <a:spcBef>
                <a:spcPts val="0"/>
              </a:spcBef>
              <a:spcAft>
                <a:spcPts val="400"/>
              </a:spcAft>
            </a:pPr>
            <a:r>
              <a:rPr sz="1150" b="0" i="0">
                <a:solidFill>
                  <a:srgbClr val="0F172A"/>
                </a:solidFill>
                <a:latin typeface="Consolas"/>
              </a:rPr>
              <a:t>₹ 248.60</a:t>
            </a:r>
          </a:p>
        </p:txBody>
      </p:sp>
      <p:sp>
        <p:nvSpPr>
          <p:cNvPr id="22" name="TextBox 21"/>
          <p:cNvSpPr txBox="1"/>
          <p:nvPr/>
        </p:nvSpPr>
        <p:spPr>
          <a:xfrm>
            <a:off x="868680" y="4297680"/>
            <a:ext cx="1920240" cy="32004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94A3B8"/>
                </a:solidFill>
                <a:latin typeface="Segoe UI"/>
              </a:rPr>
              <a:t>Net profit</a:t>
            </a:r>
          </a:p>
        </p:txBody>
      </p:sp>
      <p:sp>
        <p:nvSpPr>
          <p:cNvPr id="23" name="TextBox 22"/>
          <p:cNvSpPr txBox="1"/>
          <p:nvPr/>
        </p:nvSpPr>
        <p:spPr>
          <a:xfrm>
            <a:off x="2834640" y="4297680"/>
            <a:ext cx="3657600" cy="320040"/>
          </a:xfrm>
          <a:prstGeom prst="rect">
            <a:avLst/>
          </a:prstGeom>
          <a:noFill/>
        </p:spPr>
        <p:txBody>
          <a:bodyPr wrap="square" lIns="0" tIns="0" rIns="0" bIns="0" anchor="t">
            <a:spAutoFit/>
          </a:bodyPr>
          <a:lstStyle/>
          <a:p>
            <a:pPr algn="l">
              <a:lnSpc>
                <a:spcPct val="100000"/>
              </a:lnSpc>
              <a:spcBef>
                <a:spcPts val="0"/>
              </a:spcBef>
              <a:spcAft>
                <a:spcPts val="400"/>
              </a:spcAft>
            </a:pPr>
            <a:r>
              <a:rPr sz="1150" b="0" i="0">
                <a:solidFill>
                  <a:srgbClr val="059669"/>
                </a:solidFill>
                <a:latin typeface="Consolas"/>
              </a:rPr>
              <a:t>+ ₹ 6,930.00</a:t>
            </a:r>
          </a:p>
        </p:txBody>
      </p:sp>
      <p:sp>
        <p:nvSpPr>
          <p:cNvPr id="24" name="Rectangle 23"/>
          <p:cNvSpPr/>
          <p:nvPr/>
        </p:nvSpPr>
        <p:spPr>
          <a:xfrm>
            <a:off x="868680" y="4754880"/>
            <a:ext cx="5486400" cy="10972"/>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4892040"/>
            <a:ext cx="5532120" cy="868680"/>
          </a:xfrm>
          <a:prstGeom prst="rect">
            <a:avLst/>
          </a:prstGeom>
          <a:noFill/>
        </p:spPr>
        <p:txBody>
          <a:bodyPr wrap="square" lIns="0" tIns="0" rIns="0" bIns="0" anchor="t">
            <a:spAutoFit/>
          </a:bodyPr>
          <a:lstStyle/>
          <a:p>
            <a:pPr algn="l">
              <a:lnSpc>
                <a:spcPct val="116000"/>
              </a:lnSpc>
              <a:spcBef>
                <a:spcPts val="0"/>
              </a:spcBef>
              <a:spcAft>
                <a:spcPts val="400"/>
              </a:spcAft>
            </a:pPr>
            <a:r>
              <a:rPr sz="1100" b="1" i="0">
                <a:solidFill>
                  <a:srgbClr val="059669"/>
                </a:solidFill>
                <a:latin typeface="Segoe UI"/>
              </a:rPr>
              <a:t>Why buy here?  </a:t>
            </a:r>
          </a:p>
          <a:p>
            <a:pPr algn="l">
              <a:lnSpc>
                <a:spcPct val="116000"/>
              </a:lnSpc>
              <a:spcBef>
                <a:spcPts val="0"/>
              </a:spcBef>
              <a:spcAft>
                <a:spcPts val="400"/>
              </a:spcAft>
            </a:pPr>
            <a:r>
              <a:rPr sz="1100" b="0" i="0">
                <a:solidFill>
                  <a:srgbClr val="4B5563"/>
                </a:solidFill>
                <a:latin typeface="Segoe UI"/>
              </a:rPr>
              <a:t>The RSI had dropped to 27.4, below the oversold line of 30. The stock had been sold off hard for several days; this rule bets that sellers run out of steam and the price snaps back — so it bought.</a:t>
            </a:r>
          </a:p>
        </p:txBody>
      </p:sp>
      <p:sp>
        <p:nvSpPr>
          <p:cNvPr id="26" name="TextBox 25"/>
          <p:cNvSpPr txBox="1"/>
          <p:nvPr/>
        </p:nvSpPr>
        <p:spPr>
          <a:xfrm>
            <a:off x="6949440" y="2240280"/>
            <a:ext cx="4663440" cy="3657600"/>
          </a:xfrm>
          <a:prstGeom prst="rect">
            <a:avLst/>
          </a:prstGeom>
          <a:noFill/>
        </p:spPr>
        <p:txBody>
          <a:bodyPr wrap="square" lIns="0" tIns="0" rIns="0" bIns="0">
            <a:spAutoFit/>
          </a:bodyPr>
          <a:lstStyle/>
          <a:p>
            <a:pPr>
              <a:lnSpc>
                <a:spcPct val="112000"/>
              </a:lnSpc>
              <a:spcBef>
                <a:spcPts val="0"/>
              </a:spcBef>
              <a:spcAft>
                <a:spcPts val="1200"/>
              </a:spcAft>
            </a:pPr>
            <a:r>
              <a:rPr sz="1200" b="1" i="0">
                <a:solidFill>
                  <a:srgbClr val="0891B2"/>
                </a:solidFill>
                <a:latin typeface="Segoe UI"/>
              </a:rPr>
              <a:t>▸  </a:t>
            </a:r>
            <a:r>
              <a:rPr sz="1200" b="1" i="0">
                <a:solidFill>
                  <a:srgbClr val="0F172A"/>
                </a:solidFill>
                <a:latin typeface="Segoe UI"/>
              </a:rPr>
              <a:t>It speaks each strategy’s own language:</a:t>
            </a:r>
            <a:r>
              <a:rPr sz="1200" b="0" i="0">
                <a:solidFill>
                  <a:srgbClr val="0F172A"/>
                </a:solidFill>
                <a:latin typeface="Segoe UI"/>
              </a:rPr>
              <a:t> RSI quotes its score, SMA quotes its averages, Bollinger quotes the band prices — always the real numbers from that exact day.</a:t>
            </a:r>
          </a:p>
          <a:p>
            <a:pPr>
              <a:lnSpc>
                <a:spcPct val="112000"/>
              </a:lnSpc>
              <a:spcBef>
                <a:spcPts val="0"/>
              </a:spcBef>
              <a:spcAft>
                <a:spcPts val="1200"/>
              </a:spcAft>
            </a:pPr>
            <a:r>
              <a:rPr sz="1200" b="1" i="0">
                <a:solidFill>
                  <a:srgbClr val="0891B2"/>
                </a:solidFill>
                <a:latin typeface="Segoe UI"/>
              </a:rPr>
              <a:t>▸  </a:t>
            </a:r>
            <a:r>
              <a:rPr sz="1200" b="1" i="0">
                <a:solidFill>
                  <a:srgbClr val="0F172A"/>
                </a:solidFill>
                <a:latin typeface="Segoe UI"/>
              </a:rPr>
              <a:t>It is written for non-experts:</a:t>
            </a:r>
            <a:r>
              <a:rPr sz="1200" b="0" i="0">
                <a:solidFill>
                  <a:srgbClr val="0F172A"/>
                </a:solidFill>
                <a:latin typeface="Segoe UI"/>
              </a:rPr>
              <a:t> anyone comfortable with shares but new to the jargon can follow why each trade happened.</a:t>
            </a:r>
          </a:p>
          <a:p>
            <a:pPr>
              <a:lnSpc>
                <a:spcPct val="112000"/>
              </a:lnSpc>
              <a:spcBef>
                <a:spcPts val="0"/>
              </a:spcBef>
              <a:spcAft>
                <a:spcPts val="1200"/>
              </a:spcAft>
            </a:pPr>
            <a:r>
              <a:rPr sz="1200" b="1" i="0">
                <a:solidFill>
                  <a:srgbClr val="0891B2"/>
                </a:solidFill>
                <a:latin typeface="Segoe UI"/>
              </a:rPr>
              <a:t>▸  </a:t>
            </a:r>
            <a:r>
              <a:rPr sz="1200" b="0" i="0">
                <a:solidFill>
                  <a:srgbClr val="0F172A"/>
                </a:solidFill>
                <a:latin typeface="Segoe UI"/>
              </a:rPr>
              <a:t>It shows the cost of that trade right next to its profit, so nothing is hidden.</a:t>
            </a:r>
          </a:p>
          <a:p>
            <a:pPr>
              <a:lnSpc>
                <a:spcPct val="112000"/>
              </a:lnSpc>
              <a:spcBef>
                <a:spcPts val="0"/>
              </a:spcBef>
              <a:spcAft>
                <a:spcPts val="1200"/>
              </a:spcAft>
            </a:pPr>
            <a:r>
              <a:rPr sz="1200" b="1" i="0">
                <a:solidFill>
                  <a:srgbClr val="0891B2"/>
                </a:solidFill>
                <a:latin typeface="Segoe UI"/>
              </a:rPr>
              <a:t>▸  </a:t>
            </a:r>
            <a:r>
              <a:rPr sz="1200" b="0" i="0">
                <a:solidFill>
                  <a:srgbClr val="0F172A"/>
                </a:solidFill>
                <a:latin typeface="Segoe UI"/>
              </a:rPr>
              <a:t>The result is trust through transparency — you can always see, and explain to others, exactly why a decision was made.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DB2777"/>
                </a:solidFill>
                <a:latin typeface="Segoe UI"/>
              </a:rPr>
              <a:t>06 · FINDINGS</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What our tests revealed</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20</a:t>
            </a:r>
          </a:p>
        </p:txBody>
      </p:sp>
      <p:sp>
        <p:nvSpPr>
          <p:cNvPr id="9" name="Rounded Rectangle 8"/>
          <p:cNvSpPr/>
          <p:nvPr/>
        </p:nvSpPr>
        <p:spPr>
          <a:xfrm>
            <a:off x="594360" y="1572768"/>
            <a:ext cx="11002975" cy="868680"/>
          </a:xfrm>
          <a:prstGeom prst="roundRect">
            <a:avLst>
              <a:gd name="adj" fmla="val 6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719072"/>
            <a:ext cx="10454335"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0" i="0">
                <a:solidFill>
                  <a:srgbClr val="D97706"/>
                </a:solidFill>
                <a:latin typeface="Segoe UI"/>
              </a:rPr>
              <a:t>HOW TO READ THIS</a:t>
            </a:r>
          </a:p>
        </p:txBody>
      </p:sp>
      <p:sp>
        <p:nvSpPr>
          <p:cNvPr id="11" name="TextBox 10"/>
          <p:cNvSpPr txBox="1"/>
          <p:nvPr/>
        </p:nvSpPr>
        <p:spPr>
          <a:xfrm>
            <a:off x="886968" y="1993392"/>
            <a:ext cx="10436047" cy="338328"/>
          </a:xfrm>
          <a:prstGeom prst="rect">
            <a:avLst/>
          </a:prstGeom>
          <a:noFill/>
        </p:spPr>
        <p:txBody>
          <a:bodyPr wrap="square" lIns="0" tIns="0" rIns="0" bIns="0" anchor="t">
            <a:spAutoFit/>
          </a:bodyPr>
          <a:lstStyle/>
          <a:p>
            <a:pPr algn="l">
              <a:lnSpc>
                <a:spcPct val="114000"/>
              </a:lnSpc>
              <a:spcBef>
                <a:spcPts val="0"/>
              </a:spcBef>
              <a:spcAft>
                <a:spcPts val="400"/>
              </a:spcAft>
            </a:pPr>
            <a:r>
              <a:rPr sz="1200" b="0" i="0">
                <a:solidFill>
                  <a:srgbClr val="0F172A"/>
                </a:solidFill>
                <a:latin typeface="Segoe UI"/>
              </a:rPr>
              <a:t>Exact numbers depend on which stock, time period and settings you choose when you run a test. So instead of one headline figure, here are the steady, repeatable patterns we saw again and again.</a:t>
            </a:r>
          </a:p>
        </p:txBody>
      </p:sp>
      <p:sp>
        <p:nvSpPr>
          <p:cNvPr id="12" name="Rounded Rectangle 11"/>
          <p:cNvSpPr/>
          <p:nvPr/>
        </p:nvSpPr>
        <p:spPr>
          <a:xfrm>
            <a:off x="594360" y="2606040"/>
            <a:ext cx="5532120" cy="118872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94360" y="2752344"/>
            <a:ext cx="64008" cy="896112"/>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2743200"/>
            <a:ext cx="5074920" cy="292608"/>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0F172A"/>
                </a:solidFill>
                <a:latin typeface="Segoe UI"/>
              </a:rPr>
              <a:t>Costs are decisive</a:t>
            </a:r>
          </a:p>
        </p:txBody>
      </p:sp>
      <p:sp>
        <p:nvSpPr>
          <p:cNvPr id="15" name="TextBox 14"/>
          <p:cNvSpPr txBox="1"/>
          <p:nvPr/>
        </p:nvSpPr>
        <p:spPr>
          <a:xfrm>
            <a:off x="868680" y="3063240"/>
            <a:ext cx="5029200" cy="685800"/>
          </a:xfrm>
          <a:prstGeom prst="rect">
            <a:avLst/>
          </a:prstGeom>
          <a:noFill/>
        </p:spPr>
        <p:txBody>
          <a:bodyPr wrap="square" lIns="0" tIns="0" rIns="0" bIns="0" anchor="t">
            <a:spAutoFit/>
          </a:bodyPr>
          <a:lstStyle/>
          <a:p>
            <a:pPr algn="l">
              <a:lnSpc>
                <a:spcPct val="110000"/>
              </a:lnSpc>
              <a:spcBef>
                <a:spcPts val="0"/>
              </a:spcBef>
              <a:spcAft>
                <a:spcPts val="400"/>
              </a:spcAft>
            </a:pPr>
            <a:r>
              <a:rPr sz="1030" b="0" i="0">
                <a:solidFill>
                  <a:srgbClr val="4B5563"/>
                </a:solidFill>
                <a:latin typeface="Segoe UI"/>
              </a:rPr>
              <a:t>A strategy that traded very often saw a healthy-looking profit shrink sharply once brokerage and taxes were applied. Over-trading quietly kills returns.</a:t>
            </a:r>
          </a:p>
        </p:txBody>
      </p:sp>
      <p:sp>
        <p:nvSpPr>
          <p:cNvPr id="16" name="Rounded Rectangle 15"/>
          <p:cNvSpPr/>
          <p:nvPr/>
        </p:nvSpPr>
        <p:spPr>
          <a:xfrm>
            <a:off x="6272784" y="2606040"/>
            <a:ext cx="5532120" cy="118872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272784" y="2752344"/>
            <a:ext cx="64008" cy="896112"/>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47104" y="2743200"/>
            <a:ext cx="5074920" cy="292608"/>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0F172A"/>
                </a:solidFill>
                <a:latin typeface="Segoe UI"/>
              </a:rPr>
              <a:t>Each rule has a personality</a:t>
            </a:r>
          </a:p>
        </p:txBody>
      </p:sp>
      <p:sp>
        <p:nvSpPr>
          <p:cNvPr id="19" name="TextBox 18"/>
          <p:cNvSpPr txBox="1"/>
          <p:nvPr/>
        </p:nvSpPr>
        <p:spPr>
          <a:xfrm>
            <a:off x="6547104" y="3063240"/>
            <a:ext cx="5029200" cy="685800"/>
          </a:xfrm>
          <a:prstGeom prst="rect">
            <a:avLst/>
          </a:prstGeom>
          <a:noFill/>
        </p:spPr>
        <p:txBody>
          <a:bodyPr wrap="square" lIns="0" tIns="0" rIns="0" bIns="0" anchor="t">
            <a:spAutoFit/>
          </a:bodyPr>
          <a:lstStyle/>
          <a:p>
            <a:pPr algn="l">
              <a:lnSpc>
                <a:spcPct val="110000"/>
              </a:lnSpc>
              <a:spcBef>
                <a:spcPts val="0"/>
              </a:spcBef>
              <a:spcAft>
                <a:spcPts val="400"/>
              </a:spcAft>
            </a:pPr>
            <a:r>
              <a:rPr sz="1030" b="0" i="0">
                <a:solidFill>
                  <a:srgbClr val="4B5563"/>
                </a:solidFill>
                <a:latin typeface="Segoe UI"/>
              </a:rPr>
              <a:t>The bounce-back rule (RSI) won often with small gains; the trend rules (SMA, MACD) won less often but rode bigger moves. This is the classic textbook trade-off, seen for real.</a:t>
            </a:r>
          </a:p>
        </p:txBody>
      </p:sp>
      <p:sp>
        <p:nvSpPr>
          <p:cNvPr id="20" name="Rounded Rectangle 19"/>
          <p:cNvSpPr/>
          <p:nvPr/>
        </p:nvSpPr>
        <p:spPr>
          <a:xfrm>
            <a:off x="594360" y="3959352"/>
            <a:ext cx="5532120" cy="118872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94360" y="4105656"/>
            <a:ext cx="64008" cy="896112"/>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4096512"/>
            <a:ext cx="5074920" cy="292608"/>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0F172A"/>
                </a:solidFill>
                <a:latin typeface="Segoe UI"/>
              </a:rPr>
              <a:t>There was no universal winner</a:t>
            </a:r>
          </a:p>
        </p:txBody>
      </p:sp>
      <p:sp>
        <p:nvSpPr>
          <p:cNvPr id="23" name="TextBox 22"/>
          <p:cNvSpPr txBox="1"/>
          <p:nvPr/>
        </p:nvSpPr>
        <p:spPr>
          <a:xfrm>
            <a:off x="868680" y="4416552"/>
            <a:ext cx="5029200" cy="685800"/>
          </a:xfrm>
          <a:prstGeom prst="rect">
            <a:avLst/>
          </a:prstGeom>
          <a:noFill/>
        </p:spPr>
        <p:txBody>
          <a:bodyPr wrap="square" lIns="0" tIns="0" rIns="0" bIns="0" anchor="t">
            <a:spAutoFit/>
          </a:bodyPr>
          <a:lstStyle/>
          <a:p>
            <a:pPr algn="l">
              <a:lnSpc>
                <a:spcPct val="110000"/>
              </a:lnSpc>
              <a:spcBef>
                <a:spcPts val="0"/>
              </a:spcBef>
              <a:spcAft>
                <a:spcPts val="400"/>
              </a:spcAft>
            </a:pPr>
            <a:r>
              <a:rPr sz="1030" b="0" i="0">
                <a:solidFill>
                  <a:srgbClr val="4B5563"/>
                </a:solidFill>
                <a:latin typeface="Segoe UI"/>
              </a:rPr>
              <a:t>Which rule came out on top depended on the stock and the market. Trend rules shone in steady up-markets; the bounce-back rule did better in choppy, sideways ones.</a:t>
            </a:r>
          </a:p>
        </p:txBody>
      </p:sp>
      <p:sp>
        <p:nvSpPr>
          <p:cNvPr id="24" name="Rounded Rectangle 23"/>
          <p:cNvSpPr/>
          <p:nvPr/>
        </p:nvSpPr>
        <p:spPr>
          <a:xfrm>
            <a:off x="6272784" y="3959352"/>
            <a:ext cx="5532120" cy="118872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272784" y="4105656"/>
            <a:ext cx="64008" cy="896112"/>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47104" y="4096512"/>
            <a:ext cx="5074920" cy="292608"/>
          </a:xfrm>
          <a:prstGeom prst="rect">
            <a:avLst/>
          </a:prstGeom>
          <a:noFill/>
        </p:spPr>
        <p:txBody>
          <a:bodyPr wrap="square" lIns="0" tIns="0" rIns="0" bIns="0" anchor="t">
            <a:spAutoFit/>
          </a:bodyPr>
          <a:lstStyle/>
          <a:p>
            <a:pPr algn="l">
              <a:lnSpc>
                <a:spcPct val="100000"/>
              </a:lnSpc>
              <a:spcBef>
                <a:spcPts val="0"/>
              </a:spcBef>
              <a:spcAft>
                <a:spcPts val="400"/>
              </a:spcAft>
            </a:pPr>
            <a:r>
              <a:rPr sz="1250" b="0" i="0">
                <a:solidFill>
                  <a:srgbClr val="0F172A"/>
                </a:solidFill>
                <a:latin typeface="Segoe UI"/>
              </a:rPr>
              <a:t>Risk control earned its keep</a:t>
            </a:r>
          </a:p>
        </p:txBody>
      </p:sp>
      <p:sp>
        <p:nvSpPr>
          <p:cNvPr id="27" name="TextBox 26"/>
          <p:cNvSpPr txBox="1"/>
          <p:nvPr/>
        </p:nvSpPr>
        <p:spPr>
          <a:xfrm>
            <a:off x="6547104" y="4416552"/>
            <a:ext cx="5029200" cy="685800"/>
          </a:xfrm>
          <a:prstGeom prst="rect">
            <a:avLst/>
          </a:prstGeom>
          <a:noFill/>
        </p:spPr>
        <p:txBody>
          <a:bodyPr wrap="square" lIns="0" tIns="0" rIns="0" bIns="0" anchor="t">
            <a:spAutoFit/>
          </a:bodyPr>
          <a:lstStyle/>
          <a:p>
            <a:pPr algn="l">
              <a:lnSpc>
                <a:spcPct val="110000"/>
              </a:lnSpc>
              <a:spcBef>
                <a:spcPts val="0"/>
              </a:spcBef>
              <a:spcAft>
                <a:spcPts val="400"/>
              </a:spcAft>
            </a:pPr>
            <a:r>
              <a:rPr sz="1030" b="0" i="0">
                <a:solidFill>
                  <a:srgbClr val="4B5563"/>
                </a:solidFill>
                <a:latin typeface="Segoe UI"/>
              </a:rPr>
              <a:t>The stop-loss and the 20% emergency brake clearly cut the worst losses, improving the risk-adjusted scores even on tests where the raw profit dipped.</a:t>
            </a:r>
          </a:p>
        </p:txBody>
      </p:sp>
      <p:sp>
        <p:nvSpPr>
          <p:cNvPr id="28" name="Rounded Rectangle 27"/>
          <p:cNvSpPr/>
          <p:nvPr/>
        </p:nvSpPr>
        <p:spPr>
          <a:xfrm>
            <a:off x="594360" y="5422392"/>
            <a:ext cx="11002975" cy="713232"/>
          </a:xfrm>
          <a:prstGeom prst="roundRect">
            <a:avLst>
              <a:gd name="adj" fmla="val 5000"/>
            </a:avLst>
          </a:prstGeom>
          <a:solidFill>
            <a:srgbClr val="0F172A"/>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5422392"/>
            <a:ext cx="10362895" cy="713232"/>
          </a:xfrm>
          <a:prstGeom prst="rect">
            <a:avLst/>
          </a:prstGeom>
          <a:noFill/>
        </p:spPr>
        <p:txBody>
          <a:bodyPr wrap="square" lIns="0" tIns="0" rIns="0" bIns="0" anchor="ctr">
            <a:spAutoFit/>
          </a:bodyPr>
          <a:lstStyle/>
          <a:p>
            <a:pPr algn="l">
              <a:lnSpc>
                <a:spcPct val="110000"/>
              </a:lnSpc>
              <a:spcBef>
                <a:spcPts val="0"/>
              </a:spcBef>
              <a:spcAft>
                <a:spcPts val="400"/>
              </a:spcAft>
            </a:pPr>
            <a:r>
              <a:rPr sz="1250" b="1" i="0">
                <a:solidFill>
                  <a:srgbClr val="93C5FD"/>
                </a:solidFill>
                <a:latin typeface="Segoe UI"/>
              </a:rPr>
              <a:t>The honest headline:  </a:t>
            </a:r>
            <a:r>
              <a:rPr sz="1250" b="0" i="0">
                <a:solidFill>
                  <a:srgbClr val="FFFFFF"/>
                </a:solidFill>
                <a:latin typeface="Segoe UI"/>
              </a:rPr>
              <a:t>after real costs, simply buying and holding the stock was a tough benchmark to beat — a sobering, useful answer to our central question.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DB2777"/>
                </a:solidFill>
                <a:latin typeface="Segoe UI"/>
              </a:rPr>
              <a:t>06 · FINDINGS</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What we learned, and where it falls short</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21</a:t>
            </a:r>
          </a:p>
        </p:txBody>
      </p:sp>
      <p:sp>
        <p:nvSpPr>
          <p:cNvPr id="9" name="Rounded Rectangle 8"/>
          <p:cNvSpPr/>
          <p:nvPr/>
        </p:nvSpPr>
        <p:spPr>
          <a:xfrm>
            <a:off x="594360" y="1645920"/>
            <a:ext cx="5532120" cy="448056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94360" y="1792224"/>
            <a:ext cx="64008" cy="4187952"/>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 y="1810512"/>
            <a:ext cx="507492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059669"/>
                </a:solidFill>
                <a:latin typeface="Segoe UI"/>
              </a:rPr>
              <a:t>What we learned</a:t>
            </a:r>
          </a:p>
        </p:txBody>
      </p:sp>
      <p:sp>
        <p:nvSpPr>
          <p:cNvPr id="12" name="TextBox 11"/>
          <p:cNvSpPr txBox="1"/>
          <p:nvPr/>
        </p:nvSpPr>
        <p:spPr>
          <a:xfrm>
            <a:off x="914400" y="2194560"/>
            <a:ext cx="5029200" cy="3840480"/>
          </a:xfrm>
          <a:prstGeom prst="rect">
            <a:avLst/>
          </a:prstGeom>
          <a:noFill/>
        </p:spPr>
        <p:txBody>
          <a:bodyPr wrap="square" lIns="0" tIns="0" rIns="0" bIns="0">
            <a:spAutoFit/>
          </a:bodyPr>
          <a:lstStyle/>
          <a:p>
            <a:pPr>
              <a:lnSpc>
                <a:spcPct val="112000"/>
              </a:lnSpc>
              <a:spcBef>
                <a:spcPts val="0"/>
              </a:spcBef>
              <a:spcAft>
                <a:spcPts val="1100"/>
              </a:spcAft>
            </a:pPr>
            <a:r>
              <a:rPr sz="1150" b="1" i="0">
                <a:solidFill>
                  <a:srgbClr val="059669"/>
                </a:solidFill>
                <a:latin typeface="Segoe UI"/>
              </a:rPr>
              <a:t>▸  </a:t>
            </a:r>
            <a:r>
              <a:rPr sz="1150" b="0" i="0">
                <a:solidFill>
                  <a:srgbClr val="0F172A"/>
                </a:solidFill>
                <a:latin typeface="Segoe UI"/>
              </a:rPr>
              <a:t>A backtest can lie to you. Letting rules peek at the future, over-tuning, or ignoring costs all flatter the results — honest testing is the real deliverable.</a:t>
            </a:r>
          </a:p>
          <a:p>
            <a:pPr>
              <a:lnSpc>
                <a:spcPct val="112000"/>
              </a:lnSpc>
              <a:spcBef>
                <a:spcPts val="0"/>
              </a:spcBef>
              <a:spcAft>
                <a:spcPts val="1100"/>
              </a:spcAft>
            </a:pPr>
            <a:r>
              <a:rPr sz="1150" b="1" i="0">
                <a:solidFill>
                  <a:srgbClr val="059669"/>
                </a:solidFill>
                <a:latin typeface="Segoe UI"/>
              </a:rPr>
              <a:t>▸  </a:t>
            </a:r>
            <a:r>
              <a:rPr sz="1150" b="0" i="0">
                <a:solidFill>
                  <a:srgbClr val="0F172A"/>
                </a:solidFill>
                <a:latin typeface="Segoe UI"/>
              </a:rPr>
              <a:t>Net beats gross. An edge only counts after brokerage and taxes; modelling India’s real costs changed our conclusions.</a:t>
            </a:r>
          </a:p>
          <a:p>
            <a:pPr>
              <a:lnSpc>
                <a:spcPct val="112000"/>
              </a:lnSpc>
              <a:spcBef>
                <a:spcPts val="0"/>
              </a:spcBef>
              <a:spcAft>
                <a:spcPts val="1100"/>
              </a:spcAft>
            </a:pPr>
            <a:r>
              <a:rPr sz="1150" b="1" i="0">
                <a:solidFill>
                  <a:srgbClr val="059669"/>
                </a:solidFill>
                <a:latin typeface="Segoe UI"/>
              </a:rPr>
              <a:t>▸  </a:t>
            </a:r>
            <a:r>
              <a:rPr sz="1150" b="0" i="0">
                <a:solidFill>
                  <a:srgbClr val="0F172A"/>
                </a:solidFill>
                <a:latin typeface="Segoe UI"/>
              </a:rPr>
              <a:t>Risk control is not optional. Sizing trades and a kill-switch are what make a return usable in real life, not just on paper.</a:t>
            </a:r>
          </a:p>
          <a:p>
            <a:pPr>
              <a:lnSpc>
                <a:spcPct val="112000"/>
              </a:lnSpc>
              <a:spcBef>
                <a:spcPts val="0"/>
              </a:spcBef>
              <a:spcAft>
                <a:spcPts val="1100"/>
              </a:spcAft>
            </a:pPr>
            <a:r>
              <a:rPr sz="1150" b="1" i="0">
                <a:solidFill>
                  <a:srgbClr val="059669"/>
                </a:solidFill>
                <a:latin typeface="Segoe UI"/>
              </a:rPr>
              <a:t>▸  </a:t>
            </a:r>
            <a:r>
              <a:rPr sz="1150" b="0" i="0">
                <a:solidFill>
                  <a:srgbClr val="0F172A"/>
                </a:solidFill>
                <a:latin typeface="Segoe UI"/>
              </a:rPr>
              <a:t>Simple is strong. Rules we could fully explain were easier to trust, debug and reason about than clever, opaque complexity.</a:t>
            </a:r>
          </a:p>
        </p:txBody>
      </p:sp>
      <p:sp>
        <p:nvSpPr>
          <p:cNvPr id="13" name="Rounded Rectangle 12"/>
          <p:cNvSpPr/>
          <p:nvPr/>
        </p:nvSpPr>
        <p:spPr>
          <a:xfrm>
            <a:off x="6309360" y="1645920"/>
            <a:ext cx="5303520" cy="4480560"/>
          </a:xfrm>
          <a:prstGeom prst="roundRect">
            <a:avLst>
              <a:gd name="adj" fmla="val 5000"/>
            </a:avLst>
          </a:prstGeom>
          <a:solidFill>
            <a:srgbClr val="FFFFFF"/>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09360" y="1792224"/>
            <a:ext cx="64008" cy="4187952"/>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65392" y="1810512"/>
            <a:ext cx="484632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0" i="0">
                <a:solidFill>
                  <a:srgbClr val="DC2626"/>
                </a:solidFill>
                <a:latin typeface="Segoe UI"/>
              </a:rPr>
              <a:t>Honest limitations</a:t>
            </a:r>
          </a:p>
        </p:txBody>
      </p:sp>
      <p:sp>
        <p:nvSpPr>
          <p:cNvPr id="16" name="TextBox 15"/>
          <p:cNvSpPr txBox="1"/>
          <p:nvPr/>
        </p:nvSpPr>
        <p:spPr>
          <a:xfrm>
            <a:off x="6629400" y="2194560"/>
            <a:ext cx="4800600" cy="3840480"/>
          </a:xfrm>
          <a:prstGeom prst="rect">
            <a:avLst/>
          </a:prstGeom>
          <a:noFill/>
        </p:spPr>
        <p:txBody>
          <a:bodyPr wrap="square" lIns="0" tIns="0" rIns="0" bIns="0">
            <a:spAutoFit/>
          </a:bodyPr>
          <a:lstStyle/>
          <a:p>
            <a:pPr>
              <a:lnSpc>
                <a:spcPct val="112000"/>
              </a:lnSpc>
              <a:spcBef>
                <a:spcPts val="0"/>
              </a:spcBef>
              <a:spcAft>
                <a:spcPts val="900"/>
              </a:spcAft>
            </a:pPr>
            <a:r>
              <a:rPr sz="1150" b="1" i="0">
                <a:solidFill>
                  <a:srgbClr val="DC2626"/>
                </a:solidFill>
                <a:latin typeface="Segoe UI"/>
              </a:rPr>
              <a:t>▸  </a:t>
            </a:r>
            <a:r>
              <a:rPr sz="1150" b="0" i="0">
                <a:solidFill>
                  <a:srgbClr val="0F172A"/>
                </a:solidFill>
                <a:latin typeface="Segoe UI"/>
              </a:rPr>
              <a:t>We assume perfect, instant fills — in reality the price you get can differ slightly from the price you saw.</a:t>
            </a:r>
          </a:p>
          <a:p>
            <a:pPr>
              <a:lnSpc>
                <a:spcPct val="112000"/>
              </a:lnSpc>
              <a:spcBef>
                <a:spcPts val="0"/>
              </a:spcBef>
              <a:spcAft>
                <a:spcPts val="900"/>
              </a:spcAft>
            </a:pPr>
            <a:r>
              <a:rPr sz="1150" b="1" i="0">
                <a:solidFill>
                  <a:srgbClr val="DC2626"/>
                </a:solidFill>
                <a:latin typeface="Segoe UI"/>
              </a:rPr>
              <a:t>▸  </a:t>
            </a:r>
            <a:r>
              <a:rPr sz="1150" b="0" i="0">
                <a:solidFill>
                  <a:srgbClr val="0F172A"/>
                </a:solidFill>
                <a:latin typeface="Segoe UI"/>
              </a:rPr>
              <a:t>It tests one stock at a time and only buys (never “sells short”), so it isn’t a full portfolio.</a:t>
            </a:r>
          </a:p>
          <a:p>
            <a:pPr>
              <a:lnSpc>
                <a:spcPct val="112000"/>
              </a:lnSpc>
              <a:spcBef>
                <a:spcPts val="0"/>
              </a:spcBef>
              <a:spcAft>
                <a:spcPts val="900"/>
              </a:spcAft>
            </a:pPr>
            <a:r>
              <a:rPr sz="1150" b="1" i="0">
                <a:solidFill>
                  <a:srgbClr val="DC2626"/>
                </a:solidFill>
                <a:latin typeface="Segoe UI"/>
              </a:rPr>
              <a:t>▸  </a:t>
            </a:r>
            <a:r>
              <a:rPr sz="1150" b="0" i="0">
                <a:solidFill>
                  <a:srgbClr val="0F172A"/>
                </a:solidFill>
                <a:latin typeface="Segoe UI"/>
              </a:rPr>
              <a:t>We used sensible default settings rather than heavily optimising them, to avoid fooling ourselves.</a:t>
            </a:r>
          </a:p>
          <a:p>
            <a:pPr>
              <a:lnSpc>
                <a:spcPct val="112000"/>
              </a:lnSpc>
              <a:spcBef>
                <a:spcPts val="0"/>
              </a:spcBef>
              <a:spcAft>
                <a:spcPts val="900"/>
              </a:spcAft>
            </a:pPr>
            <a:r>
              <a:rPr sz="1150" b="1" i="0">
                <a:solidFill>
                  <a:srgbClr val="DC2626"/>
                </a:solidFill>
                <a:latin typeface="Segoe UI"/>
              </a:rPr>
              <a:t>▸  </a:t>
            </a:r>
            <a:r>
              <a:rPr sz="1150" b="0" i="0">
                <a:solidFill>
                  <a:srgbClr val="0F172A"/>
                </a:solidFill>
                <a:latin typeface="Segoe UI"/>
              </a:rPr>
              <a:t>It focuses on daily prices, so fast intraday moves and overnight gaps aren’t modelled.</a:t>
            </a:r>
          </a:p>
          <a:p>
            <a:pPr>
              <a:lnSpc>
                <a:spcPct val="112000"/>
              </a:lnSpc>
              <a:spcBef>
                <a:spcPts val="0"/>
              </a:spcBef>
              <a:spcAft>
                <a:spcPts val="900"/>
              </a:spcAft>
            </a:pPr>
            <a:r>
              <a:rPr sz="1150" b="1" i="0">
                <a:solidFill>
                  <a:srgbClr val="DC2626"/>
                </a:solidFill>
                <a:latin typeface="Segoe UI"/>
              </a:rPr>
              <a:t>▸  </a:t>
            </a:r>
            <a:r>
              <a:rPr sz="1150" b="0" i="0">
                <a:solidFill>
                  <a:srgbClr val="0F172A"/>
                </a:solidFill>
                <a:latin typeface="Segoe UI"/>
              </a:rPr>
              <a:t>It is for research and learning only — by design, it does not trade real money.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548640"/>
            <a:ext cx="146304" cy="47548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502920"/>
            <a:ext cx="105156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93C5FD"/>
                </a:solidFill>
                <a:latin typeface="Segoe UI"/>
              </a:rPr>
              <a:t>06 · FINDINGS</a:t>
            </a:r>
          </a:p>
        </p:txBody>
      </p:sp>
      <p:sp>
        <p:nvSpPr>
          <p:cNvPr id="5" name="TextBox 4"/>
          <p:cNvSpPr txBox="1"/>
          <p:nvPr/>
        </p:nvSpPr>
        <p:spPr>
          <a:xfrm>
            <a:off x="850392" y="749808"/>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FFFFFF"/>
                </a:solidFill>
                <a:latin typeface="Segoe UI"/>
              </a:rPr>
              <a:t>Conclusion — our honest answer</a:t>
            </a:r>
          </a:p>
        </p:txBody>
      </p:sp>
      <p:sp>
        <p:nvSpPr>
          <p:cNvPr id="6" name="Rectangle 5"/>
          <p:cNvSpPr/>
          <p:nvPr/>
        </p:nvSpPr>
        <p:spPr>
          <a:xfrm>
            <a:off x="594360" y="1417320"/>
            <a:ext cx="11002975" cy="16459"/>
          </a:xfrm>
          <a:prstGeom prst="rect">
            <a:avLst/>
          </a:prstGeom>
          <a:solidFill>
            <a:srgbClr val="334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83080"/>
            <a:ext cx="10637215" cy="822960"/>
          </a:xfrm>
          <a:prstGeom prst="rect">
            <a:avLst/>
          </a:prstGeom>
          <a:noFill/>
        </p:spPr>
        <p:txBody>
          <a:bodyPr wrap="square" lIns="0" tIns="0" rIns="0" bIns="0" anchor="t">
            <a:spAutoFit/>
          </a:bodyPr>
          <a:lstStyle/>
          <a:p>
            <a:pPr algn="l">
              <a:lnSpc>
                <a:spcPct val="115000"/>
              </a:lnSpc>
              <a:spcBef>
                <a:spcPts val="0"/>
              </a:spcBef>
              <a:spcAft>
                <a:spcPts val="400"/>
              </a:spcAft>
            </a:pPr>
            <a:r>
              <a:rPr sz="1700" b="0" i="0">
                <a:solidFill>
                  <a:srgbClr val="C7D2FE"/>
                </a:solidFill>
                <a:latin typeface="Segoe UI"/>
              </a:rPr>
              <a:t>“Can a rule-based strategy generate consistent returns after accounting for risk?”</a:t>
            </a:r>
          </a:p>
        </p:txBody>
      </p:sp>
      <p:sp>
        <p:nvSpPr>
          <p:cNvPr id="8" name="TextBox 7"/>
          <p:cNvSpPr txBox="1"/>
          <p:nvPr/>
        </p:nvSpPr>
        <p:spPr>
          <a:xfrm>
            <a:off x="777240" y="2606040"/>
            <a:ext cx="10637215" cy="1554480"/>
          </a:xfrm>
          <a:prstGeom prst="rect">
            <a:avLst/>
          </a:prstGeom>
          <a:noFill/>
        </p:spPr>
        <p:txBody>
          <a:bodyPr wrap="square" lIns="0" tIns="0" rIns="0" bIns="0" anchor="t">
            <a:spAutoFit/>
          </a:bodyPr>
          <a:lstStyle/>
          <a:p>
            <a:pPr algn="l">
              <a:lnSpc>
                <a:spcPct val="122000"/>
              </a:lnSpc>
              <a:spcBef>
                <a:spcPts val="0"/>
              </a:spcBef>
              <a:spcAft>
                <a:spcPts val="400"/>
              </a:spcAft>
            </a:pPr>
            <a:r>
              <a:rPr sz="1700" b="1" i="0">
                <a:solidFill>
                  <a:srgbClr val="FFFFFF"/>
                </a:solidFill>
                <a:latin typeface="Segoe UI"/>
              </a:rPr>
              <a:t>Our answer: </a:t>
            </a:r>
            <a:r>
              <a:rPr sz="1700" b="1" i="0">
                <a:solidFill>
                  <a:srgbClr val="93C5FD"/>
                </a:solidFill>
                <a:latin typeface="Segoe UI"/>
              </a:rPr>
              <a:t>sometimes — but only when costs and risk are taken seriously.</a:t>
            </a:r>
          </a:p>
          <a:p>
            <a:pPr algn="l">
              <a:lnSpc>
                <a:spcPct val="122000"/>
              </a:lnSpc>
              <a:spcBef>
                <a:spcPts val="0"/>
              </a:spcBef>
              <a:spcAft>
                <a:spcPts val="400"/>
              </a:spcAft>
            </a:pPr>
            <a:r>
              <a:rPr sz="600" b="0" i="0">
                <a:solidFill>
                  <a:srgbClr val="0F172A"/>
                </a:solidFill>
                <a:latin typeface="Segoe UI"/>
              </a:rPr>
              <a:t> </a:t>
            </a:r>
          </a:p>
          <a:p>
            <a:pPr algn="l">
              <a:lnSpc>
                <a:spcPct val="122000"/>
              </a:lnSpc>
              <a:spcBef>
                <a:spcPts val="0"/>
              </a:spcBef>
              <a:spcAft>
                <a:spcPts val="400"/>
              </a:spcAft>
            </a:pPr>
            <a:r>
              <a:rPr sz="1300" b="0" i="0">
                <a:solidFill>
                  <a:srgbClr val="C7D2FE"/>
                </a:solidFill>
                <a:latin typeface="Segoe UI"/>
              </a:rPr>
              <a:t>A simple, transparent rule can show a real, measurable edge on the right stock in the right market — yet no single strategy won everywhere, and after India’s trading costs, even matching “buy and hold” proved genuinely hard. The lasting value of this project is the honest, end-to-end system we built to find that out.</a:t>
            </a:r>
          </a:p>
        </p:txBody>
      </p:sp>
      <p:sp>
        <p:nvSpPr>
          <p:cNvPr id="9" name="Rounded Rectangle 8"/>
          <p:cNvSpPr/>
          <p:nvPr/>
        </p:nvSpPr>
        <p:spPr>
          <a:xfrm>
            <a:off x="777240" y="4846320"/>
            <a:ext cx="3456432" cy="1005840"/>
          </a:xfrm>
          <a:prstGeom prst="roundRect">
            <a:avLst>
              <a:gd name="adj" fmla="val 8000"/>
            </a:avLst>
          </a:prstGeom>
          <a:solidFill>
            <a:srgbClr val="1B2540"/>
          </a:solidFill>
          <a:ln w="12700">
            <a:solidFill>
              <a:srgbClr val="334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005840" y="5029200"/>
            <a:ext cx="457200" cy="457200"/>
          </a:xfrm>
          <a:prstGeom prst="roundRect">
            <a:avLst>
              <a:gd name="adj" fmla="val 3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5074920"/>
            <a:ext cx="457200" cy="365760"/>
          </a:xfrm>
          <a:prstGeom prst="rect">
            <a:avLst/>
          </a:prstGeom>
          <a:noFill/>
        </p:spPr>
        <p:txBody>
          <a:bodyPr wrap="square" lIns="0" tIns="0" rIns="0" bIns="0" anchor="ctr">
            <a:spAutoFit/>
          </a:bodyPr>
          <a:lstStyle/>
          <a:p>
            <a:pPr algn="ctr">
              <a:lnSpc>
                <a:spcPct val="100000"/>
              </a:lnSpc>
              <a:spcBef>
                <a:spcPts val="0"/>
              </a:spcBef>
              <a:spcAft>
                <a:spcPts val="400"/>
              </a:spcAft>
            </a:pPr>
            <a:r>
              <a:rPr sz="2000" b="0" i="0">
                <a:solidFill>
                  <a:srgbClr val="FFFFFF"/>
                </a:solidFill>
                <a:latin typeface="Segoe UI"/>
              </a:rPr>
              <a:t>✓</a:t>
            </a:r>
          </a:p>
        </p:txBody>
      </p:sp>
      <p:sp>
        <p:nvSpPr>
          <p:cNvPr id="12" name="TextBox 11"/>
          <p:cNvSpPr txBox="1"/>
          <p:nvPr/>
        </p:nvSpPr>
        <p:spPr>
          <a:xfrm>
            <a:off x="1600200" y="5029200"/>
            <a:ext cx="2450591" cy="685800"/>
          </a:xfrm>
          <a:prstGeom prst="rect">
            <a:avLst/>
          </a:prstGeom>
          <a:noFill/>
        </p:spPr>
        <p:txBody>
          <a:bodyPr wrap="square" lIns="0" tIns="0" rIns="0" bIns="0" anchor="ctr">
            <a:spAutoFit/>
          </a:bodyPr>
          <a:lstStyle/>
          <a:p>
            <a:pPr algn="l">
              <a:lnSpc>
                <a:spcPct val="105000"/>
              </a:lnSpc>
              <a:spcBef>
                <a:spcPts val="0"/>
              </a:spcBef>
              <a:spcAft>
                <a:spcPts val="400"/>
              </a:spcAft>
            </a:pPr>
            <a:r>
              <a:rPr sz="1200" b="0" i="0">
                <a:solidFill>
                  <a:srgbClr val="FFFFFF"/>
                </a:solidFill>
                <a:latin typeface="Segoe UI"/>
              </a:rPr>
              <a:t>Built a real, end-to-end trading system</a:t>
            </a:r>
          </a:p>
        </p:txBody>
      </p:sp>
      <p:sp>
        <p:nvSpPr>
          <p:cNvPr id="13" name="Rounded Rectangle 12"/>
          <p:cNvSpPr/>
          <p:nvPr/>
        </p:nvSpPr>
        <p:spPr>
          <a:xfrm>
            <a:off x="4480559" y="4846320"/>
            <a:ext cx="3456432" cy="1005840"/>
          </a:xfrm>
          <a:prstGeom prst="roundRect">
            <a:avLst>
              <a:gd name="adj" fmla="val 8000"/>
            </a:avLst>
          </a:prstGeom>
          <a:solidFill>
            <a:srgbClr val="1B2540"/>
          </a:solidFill>
          <a:ln w="12700">
            <a:solidFill>
              <a:srgbClr val="334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709159" y="5029200"/>
            <a:ext cx="457200" cy="457200"/>
          </a:xfrm>
          <a:prstGeom prst="roundRect">
            <a:avLst>
              <a:gd name="adj" fmla="val 3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09159" y="5074920"/>
            <a:ext cx="457200" cy="365760"/>
          </a:xfrm>
          <a:prstGeom prst="rect">
            <a:avLst/>
          </a:prstGeom>
          <a:noFill/>
        </p:spPr>
        <p:txBody>
          <a:bodyPr wrap="square" lIns="0" tIns="0" rIns="0" bIns="0" anchor="ctr">
            <a:spAutoFit/>
          </a:bodyPr>
          <a:lstStyle/>
          <a:p>
            <a:pPr algn="ctr">
              <a:lnSpc>
                <a:spcPct val="100000"/>
              </a:lnSpc>
              <a:spcBef>
                <a:spcPts val="0"/>
              </a:spcBef>
              <a:spcAft>
                <a:spcPts val="400"/>
              </a:spcAft>
            </a:pPr>
            <a:r>
              <a:rPr sz="2000" b="0" i="0">
                <a:solidFill>
                  <a:srgbClr val="FFFFFF"/>
                </a:solidFill>
                <a:latin typeface="Segoe UI"/>
              </a:rPr>
              <a:t>✓</a:t>
            </a:r>
          </a:p>
        </p:txBody>
      </p:sp>
      <p:sp>
        <p:nvSpPr>
          <p:cNvPr id="16" name="TextBox 15"/>
          <p:cNvSpPr txBox="1"/>
          <p:nvPr/>
        </p:nvSpPr>
        <p:spPr>
          <a:xfrm>
            <a:off x="5303520" y="5029200"/>
            <a:ext cx="2450591" cy="685800"/>
          </a:xfrm>
          <a:prstGeom prst="rect">
            <a:avLst/>
          </a:prstGeom>
          <a:noFill/>
        </p:spPr>
        <p:txBody>
          <a:bodyPr wrap="square" lIns="0" tIns="0" rIns="0" bIns="0" anchor="ctr">
            <a:spAutoFit/>
          </a:bodyPr>
          <a:lstStyle/>
          <a:p>
            <a:pPr algn="l">
              <a:lnSpc>
                <a:spcPct val="105000"/>
              </a:lnSpc>
              <a:spcBef>
                <a:spcPts val="0"/>
              </a:spcBef>
              <a:spcAft>
                <a:spcPts val="400"/>
              </a:spcAft>
            </a:pPr>
            <a:r>
              <a:rPr sz="1200" b="0" i="0">
                <a:solidFill>
                  <a:srgbClr val="FFFFFF"/>
                </a:solidFill>
                <a:latin typeface="Segoe UI"/>
              </a:rPr>
              <a:t>Made costs &amp; risk first-class citizens</a:t>
            </a:r>
          </a:p>
        </p:txBody>
      </p:sp>
      <p:sp>
        <p:nvSpPr>
          <p:cNvPr id="17" name="Rounded Rectangle 16"/>
          <p:cNvSpPr/>
          <p:nvPr/>
        </p:nvSpPr>
        <p:spPr>
          <a:xfrm>
            <a:off x="8183879" y="4846320"/>
            <a:ext cx="3456432" cy="1005840"/>
          </a:xfrm>
          <a:prstGeom prst="roundRect">
            <a:avLst>
              <a:gd name="adj" fmla="val 8000"/>
            </a:avLst>
          </a:prstGeom>
          <a:solidFill>
            <a:srgbClr val="1B2540"/>
          </a:solidFill>
          <a:ln w="12700">
            <a:solidFill>
              <a:srgbClr val="334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412480" y="5029200"/>
            <a:ext cx="457200" cy="457200"/>
          </a:xfrm>
          <a:prstGeom prst="roundRect">
            <a:avLst>
              <a:gd name="adj" fmla="val 3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0" y="5074920"/>
            <a:ext cx="457200" cy="365760"/>
          </a:xfrm>
          <a:prstGeom prst="rect">
            <a:avLst/>
          </a:prstGeom>
          <a:noFill/>
        </p:spPr>
        <p:txBody>
          <a:bodyPr wrap="square" lIns="0" tIns="0" rIns="0" bIns="0" anchor="ctr">
            <a:spAutoFit/>
          </a:bodyPr>
          <a:lstStyle/>
          <a:p>
            <a:pPr algn="ctr">
              <a:lnSpc>
                <a:spcPct val="100000"/>
              </a:lnSpc>
              <a:spcBef>
                <a:spcPts val="0"/>
              </a:spcBef>
              <a:spcAft>
                <a:spcPts val="400"/>
              </a:spcAft>
            </a:pPr>
            <a:r>
              <a:rPr sz="2000" b="0" i="0">
                <a:solidFill>
                  <a:srgbClr val="FFFFFF"/>
                </a:solidFill>
                <a:latin typeface="Segoe UI"/>
              </a:rPr>
              <a:t>✓</a:t>
            </a:r>
          </a:p>
        </p:txBody>
      </p:sp>
      <p:sp>
        <p:nvSpPr>
          <p:cNvPr id="20" name="TextBox 19"/>
          <p:cNvSpPr txBox="1"/>
          <p:nvPr/>
        </p:nvSpPr>
        <p:spPr>
          <a:xfrm>
            <a:off x="9006840" y="5029200"/>
            <a:ext cx="2450591" cy="685800"/>
          </a:xfrm>
          <a:prstGeom prst="rect">
            <a:avLst/>
          </a:prstGeom>
          <a:noFill/>
        </p:spPr>
        <p:txBody>
          <a:bodyPr wrap="square" lIns="0" tIns="0" rIns="0" bIns="0" anchor="ctr">
            <a:spAutoFit/>
          </a:bodyPr>
          <a:lstStyle/>
          <a:p>
            <a:pPr algn="l">
              <a:lnSpc>
                <a:spcPct val="105000"/>
              </a:lnSpc>
              <a:spcBef>
                <a:spcPts val="0"/>
              </a:spcBef>
              <a:spcAft>
                <a:spcPts val="400"/>
              </a:spcAft>
            </a:pPr>
            <a:r>
              <a:rPr sz="1200" b="0" i="0">
                <a:solidFill>
                  <a:srgbClr val="FFFFFF"/>
                </a:solidFill>
                <a:latin typeface="Segoe UI"/>
              </a:rPr>
              <a:t>Measured the edge honestly, not hopefully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75488"/>
            <a:ext cx="146304" cy="47548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29768"/>
            <a:ext cx="1078992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0" i="0">
                <a:solidFill>
                  <a:srgbClr val="2563EB"/>
                </a:solidFill>
                <a:latin typeface="Segoe UI"/>
              </a:rPr>
              <a:t>GROUP 6</a:t>
            </a:r>
          </a:p>
        </p:txBody>
      </p:sp>
      <p:sp>
        <p:nvSpPr>
          <p:cNvPr id="5" name="TextBox 4"/>
          <p:cNvSpPr txBox="1"/>
          <p:nvPr/>
        </p:nvSpPr>
        <p:spPr>
          <a:xfrm>
            <a:off x="850392" y="68580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2400" b="0" i="0">
                <a:solidFill>
                  <a:srgbClr val="0F172A"/>
                </a:solidFill>
                <a:latin typeface="Segoe UI"/>
              </a:rPr>
              <a:t>The team &amp; acknowledgements</a:t>
            </a:r>
          </a:p>
        </p:txBody>
      </p:sp>
      <p:sp>
        <p:nvSpPr>
          <p:cNvPr id="6" name="Rectangle 5"/>
          <p:cNvSpPr/>
          <p:nvPr/>
        </p:nvSpPr>
        <p:spPr>
          <a:xfrm>
            <a:off x="594360" y="1353312"/>
            <a:ext cx="11002975" cy="16459"/>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473952"/>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850" b="1" i="0">
                <a:solidFill>
                  <a:srgbClr val="2563EB"/>
                </a:solidFill>
                <a:latin typeface="Segoe UI"/>
              </a:rPr>
              <a:t>AlgoLab</a:t>
            </a:r>
            <a:r>
              <a:rPr sz="850" b="0" i="0">
                <a:solidFill>
                  <a:srgbClr val="94A3B8"/>
                </a:solidFill>
                <a:latin typeface="Segoe UI"/>
              </a:rPr>
              <a:t>  ·  End-to-End Algorithmic Trading System  ·  IIM Mumbai Capstone · Group 6</a:t>
            </a:r>
          </a:p>
        </p:txBody>
      </p:sp>
      <p:sp>
        <p:nvSpPr>
          <p:cNvPr id="8" name="TextBox 7"/>
          <p:cNvSpPr txBox="1"/>
          <p:nvPr/>
        </p:nvSpPr>
        <p:spPr>
          <a:xfrm>
            <a:off x="10911535" y="6473952"/>
            <a:ext cx="685800" cy="274320"/>
          </a:xfrm>
          <a:prstGeom prst="rect">
            <a:avLst/>
          </a:prstGeom>
          <a:noFill/>
        </p:spPr>
        <p:txBody>
          <a:bodyPr wrap="square" lIns="0" tIns="0" rIns="0" bIns="0" anchor="t">
            <a:spAutoFit/>
          </a:bodyPr>
          <a:lstStyle/>
          <a:p>
            <a:pPr algn="r">
              <a:lnSpc>
                <a:spcPct val="100000"/>
              </a:lnSpc>
              <a:spcBef>
                <a:spcPts val="0"/>
              </a:spcBef>
              <a:spcAft>
                <a:spcPts val="400"/>
              </a:spcAft>
            </a:pPr>
            <a:r>
              <a:rPr sz="850" b="0" i="0">
                <a:solidFill>
                  <a:srgbClr val="94A3B8"/>
                </a:solidFill>
                <a:latin typeface="Segoe UI"/>
              </a:rPr>
              <a:t>23</a:t>
            </a:r>
          </a:p>
        </p:txBody>
      </p:sp>
      <p:sp>
        <p:nvSpPr>
          <p:cNvPr id="9" name="Rounded Rectangle 8"/>
          <p:cNvSpPr/>
          <p:nvPr/>
        </p:nvSpPr>
        <p:spPr>
          <a:xfrm>
            <a:off x="594360" y="1691640"/>
            <a:ext cx="3657600" cy="4434840"/>
          </a:xfrm>
          <a:prstGeom prst="roundRect">
            <a:avLst>
              <a:gd name="adj" fmla="val 5000"/>
            </a:avLst>
          </a:prstGeom>
          <a:solidFill>
            <a:srgbClr val="DBEAFE"/>
          </a:solidFill>
          <a:ln w="12700">
            <a:solidFill>
              <a:srgbClr val="DDE2EA"/>
            </a:solidFill>
          </a:ln>
          <a:effectLst>
            <a:outerShdw blurRad="90000" dist="38100" dir="5400000" rotWithShape="0">
              <a:srgbClr val="0F172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94360" y="1837944"/>
            <a:ext cx="64008" cy="4142231"/>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463040" y="2057400"/>
            <a:ext cx="1920240" cy="192024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63040" y="2057400"/>
            <a:ext cx="1920240" cy="1920240"/>
          </a:xfrm>
          <a:prstGeom prst="rect">
            <a:avLst/>
          </a:prstGeom>
          <a:noFill/>
        </p:spPr>
        <p:txBody>
          <a:bodyPr wrap="square" lIns="0" tIns="0" rIns="0" bIns="0" anchor="ctr">
            <a:spAutoFit/>
          </a:bodyPr>
          <a:lstStyle/>
          <a:p>
            <a:pPr algn="ctr">
              <a:lnSpc>
                <a:spcPct val="100000"/>
              </a:lnSpc>
              <a:spcBef>
                <a:spcPts val="0"/>
              </a:spcBef>
              <a:spcAft>
                <a:spcPts val="400"/>
              </a:spcAft>
            </a:pPr>
            <a:r>
              <a:rPr sz="5400" b="0" i="0">
                <a:solidFill>
                  <a:srgbClr val="FFFFFF"/>
                </a:solidFill>
                <a:latin typeface="Segoe UI"/>
              </a:rPr>
              <a:t>RV</a:t>
            </a:r>
          </a:p>
        </p:txBody>
      </p:sp>
      <p:sp>
        <p:nvSpPr>
          <p:cNvPr id="13" name="TextBox 12"/>
          <p:cNvSpPr txBox="1"/>
          <p:nvPr/>
        </p:nvSpPr>
        <p:spPr>
          <a:xfrm>
            <a:off x="777240" y="4160520"/>
            <a:ext cx="3291840" cy="365760"/>
          </a:xfrm>
          <a:prstGeom prst="rect">
            <a:avLst/>
          </a:prstGeom>
          <a:noFill/>
        </p:spPr>
        <p:txBody>
          <a:bodyPr wrap="square" lIns="0" tIns="0" rIns="0" bIns="0" anchor="t">
            <a:spAutoFit/>
          </a:bodyPr>
          <a:lstStyle/>
          <a:p>
            <a:pPr algn="ctr">
              <a:lnSpc>
                <a:spcPct val="100000"/>
              </a:lnSpc>
              <a:spcBef>
                <a:spcPts val="0"/>
              </a:spcBef>
              <a:spcAft>
                <a:spcPts val="400"/>
              </a:spcAft>
            </a:pPr>
            <a:r>
              <a:rPr sz="1700" b="0" i="0">
                <a:solidFill>
                  <a:srgbClr val="0F172A"/>
                </a:solidFill>
                <a:latin typeface="Segoe UI"/>
              </a:rPr>
              <a:t>Prof. Rakesh Verma</a:t>
            </a:r>
          </a:p>
        </p:txBody>
      </p:sp>
      <p:sp>
        <p:nvSpPr>
          <p:cNvPr id="14" name="TextBox 13"/>
          <p:cNvSpPr txBox="1"/>
          <p:nvPr/>
        </p:nvSpPr>
        <p:spPr>
          <a:xfrm>
            <a:off x="777240" y="4526280"/>
            <a:ext cx="3291840" cy="320040"/>
          </a:xfrm>
          <a:prstGeom prst="rect">
            <a:avLst/>
          </a:prstGeom>
          <a:noFill/>
        </p:spPr>
        <p:txBody>
          <a:bodyPr wrap="square" lIns="0" tIns="0" rIns="0" bIns="0" anchor="t">
            <a:spAutoFit/>
          </a:bodyPr>
          <a:lstStyle/>
          <a:p>
            <a:pPr algn="ctr">
              <a:lnSpc>
                <a:spcPct val="100000"/>
              </a:lnSpc>
              <a:spcBef>
                <a:spcPts val="0"/>
              </a:spcBef>
              <a:spcAft>
                <a:spcPts val="400"/>
              </a:spcAft>
            </a:pPr>
            <a:r>
              <a:rPr sz="1200" b="0" i="0">
                <a:solidFill>
                  <a:srgbClr val="1D4ED8"/>
                </a:solidFill>
                <a:latin typeface="Segoe UI"/>
              </a:rPr>
              <a:t>Faculty Advisor</a:t>
            </a:r>
          </a:p>
        </p:txBody>
      </p:sp>
      <p:sp>
        <p:nvSpPr>
          <p:cNvPr id="15" name="TextBox 14"/>
          <p:cNvSpPr txBox="1"/>
          <p:nvPr/>
        </p:nvSpPr>
        <p:spPr>
          <a:xfrm>
            <a:off x="822960" y="4983480"/>
            <a:ext cx="3200400" cy="1005840"/>
          </a:xfrm>
          <a:prstGeom prst="rect">
            <a:avLst/>
          </a:prstGeom>
          <a:noFill/>
        </p:spPr>
        <p:txBody>
          <a:bodyPr wrap="square" lIns="0" tIns="0" rIns="0" bIns="0" anchor="t">
            <a:spAutoFit/>
          </a:bodyPr>
          <a:lstStyle/>
          <a:p>
            <a:pPr algn="ctr">
              <a:lnSpc>
                <a:spcPct val="112000"/>
              </a:lnSpc>
              <a:spcBef>
                <a:spcPts val="0"/>
              </a:spcBef>
              <a:spcAft>
                <a:spcPts val="400"/>
              </a:spcAft>
            </a:pPr>
            <a:r>
              <a:rPr sz="1100" b="0" i="0">
                <a:solidFill>
                  <a:srgbClr val="4B5563"/>
                </a:solidFill>
                <a:latin typeface="Segoe UI"/>
              </a:rPr>
              <a:t>For the guidance, the rigour, and pushing us to question every assumption — thank you, Sir.</a:t>
            </a:r>
          </a:p>
        </p:txBody>
      </p:sp>
      <p:sp>
        <p:nvSpPr>
          <p:cNvPr id="16" name="TextBox 15"/>
          <p:cNvSpPr txBox="1"/>
          <p:nvPr/>
        </p:nvSpPr>
        <p:spPr>
          <a:xfrm>
            <a:off x="4526280" y="1783080"/>
            <a:ext cx="7132320" cy="365760"/>
          </a:xfrm>
          <a:prstGeom prst="rect">
            <a:avLst/>
          </a:prstGeom>
          <a:noFill/>
        </p:spPr>
        <p:txBody>
          <a:bodyPr wrap="square" lIns="0" tIns="0" rIns="0" bIns="0" anchor="t">
            <a:spAutoFit/>
          </a:bodyPr>
          <a:lstStyle/>
          <a:p>
            <a:pPr algn="l">
              <a:lnSpc>
                <a:spcPct val="100000"/>
              </a:lnSpc>
              <a:spcBef>
                <a:spcPts val="0"/>
              </a:spcBef>
              <a:spcAft>
                <a:spcPts val="400"/>
              </a:spcAft>
            </a:pPr>
            <a:r>
              <a:rPr sz="1200" b="0" i="0">
                <a:solidFill>
                  <a:srgbClr val="94A3B8"/>
                </a:solidFill>
                <a:latin typeface="Segoe UI"/>
              </a:rPr>
              <a:t>GROUP 6 — MEMBERS</a:t>
            </a:r>
          </a:p>
        </p:txBody>
      </p:sp>
      <p:sp>
        <p:nvSpPr>
          <p:cNvPr id="17" name="Rounded Rectangle 16"/>
          <p:cNvSpPr/>
          <p:nvPr/>
        </p:nvSpPr>
        <p:spPr>
          <a:xfrm>
            <a:off x="4526280" y="2240280"/>
            <a:ext cx="3456432" cy="713232"/>
          </a:xfrm>
          <a:prstGeom prst="roundRect">
            <a:avLst>
              <a:gd name="adj" fmla="val 12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690872" y="2395728"/>
            <a:ext cx="402336" cy="402336"/>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90872" y="2414016"/>
            <a:ext cx="402336" cy="365760"/>
          </a:xfrm>
          <a:prstGeom prst="rect">
            <a:avLst/>
          </a:prstGeom>
          <a:noFill/>
        </p:spPr>
        <p:txBody>
          <a:bodyPr wrap="square" lIns="0" tIns="0" rIns="0" bIns="0" anchor="ctr">
            <a:spAutoFit/>
          </a:bodyPr>
          <a:lstStyle/>
          <a:p>
            <a:pPr algn="ctr">
              <a:lnSpc>
                <a:spcPct val="100000"/>
              </a:lnSpc>
              <a:spcBef>
                <a:spcPts val="0"/>
              </a:spcBef>
              <a:spcAft>
                <a:spcPts val="400"/>
              </a:spcAft>
            </a:pPr>
            <a:r>
              <a:rPr sz="1200" b="0" i="0">
                <a:solidFill>
                  <a:srgbClr val="2563EB"/>
                </a:solidFill>
                <a:latin typeface="Segoe UI"/>
              </a:rPr>
              <a:t>S</a:t>
            </a:r>
          </a:p>
        </p:txBody>
      </p:sp>
      <p:sp>
        <p:nvSpPr>
          <p:cNvPr id="20" name="TextBox 19"/>
          <p:cNvSpPr txBox="1"/>
          <p:nvPr/>
        </p:nvSpPr>
        <p:spPr>
          <a:xfrm>
            <a:off x="5239512" y="2240280"/>
            <a:ext cx="2633472" cy="713232"/>
          </a:xfrm>
          <a:prstGeom prst="rect">
            <a:avLst/>
          </a:prstGeom>
          <a:noFill/>
        </p:spPr>
        <p:txBody>
          <a:bodyPr wrap="square" lIns="0" tIns="0" rIns="0" bIns="0" anchor="ctr">
            <a:spAutoFit/>
          </a:bodyPr>
          <a:lstStyle/>
          <a:p>
            <a:pPr algn="l">
              <a:lnSpc>
                <a:spcPct val="100000"/>
              </a:lnSpc>
              <a:spcBef>
                <a:spcPts val="0"/>
              </a:spcBef>
              <a:spcAft>
                <a:spcPts val="400"/>
              </a:spcAft>
            </a:pPr>
            <a:r>
              <a:rPr sz="1200" b="0" i="0">
                <a:solidFill>
                  <a:srgbClr val="0F172A"/>
                </a:solidFill>
                <a:latin typeface="Segoe UI"/>
              </a:rPr>
              <a:t>Srivathsa</a:t>
            </a:r>
          </a:p>
        </p:txBody>
      </p:sp>
      <p:sp>
        <p:nvSpPr>
          <p:cNvPr id="21" name="Rounded Rectangle 20"/>
          <p:cNvSpPr/>
          <p:nvPr/>
        </p:nvSpPr>
        <p:spPr>
          <a:xfrm>
            <a:off x="8147304" y="2240280"/>
            <a:ext cx="3456432" cy="713232"/>
          </a:xfrm>
          <a:prstGeom prst="roundRect">
            <a:avLst>
              <a:gd name="adj" fmla="val 12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311896" y="2395728"/>
            <a:ext cx="402336" cy="402336"/>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11896" y="2414016"/>
            <a:ext cx="402336" cy="365760"/>
          </a:xfrm>
          <a:prstGeom prst="rect">
            <a:avLst/>
          </a:prstGeom>
          <a:noFill/>
        </p:spPr>
        <p:txBody>
          <a:bodyPr wrap="square" lIns="0" tIns="0" rIns="0" bIns="0" anchor="ctr">
            <a:spAutoFit/>
          </a:bodyPr>
          <a:lstStyle/>
          <a:p>
            <a:pPr algn="ctr">
              <a:lnSpc>
                <a:spcPct val="100000"/>
              </a:lnSpc>
              <a:spcBef>
                <a:spcPts val="0"/>
              </a:spcBef>
              <a:spcAft>
                <a:spcPts val="400"/>
              </a:spcAft>
            </a:pPr>
            <a:r>
              <a:rPr sz="1200" b="0" i="0">
                <a:solidFill>
                  <a:srgbClr val="059669"/>
                </a:solidFill>
                <a:latin typeface="Segoe UI"/>
              </a:rPr>
              <a:t>JS</a:t>
            </a:r>
          </a:p>
        </p:txBody>
      </p:sp>
      <p:sp>
        <p:nvSpPr>
          <p:cNvPr id="24" name="TextBox 23"/>
          <p:cNvSpPr txBox="1"/>
          <p:nvPr/>
        </p:nvSpPr>
        <p:spPr>
          <a:xfrm>
            <a:off x="8860536" y="2240280"/>
            <a:ext cx="2633472" cy="713232"/>
          </a:xfrm>
          <a:prstGeom prst="rect">
            <a:avLst/>
          </a:prstGeom>
          <a:noFill/>
        </p:spPr>
        <p:txBody>
          <a:bodyPr wrap="square" lIns="0" tIns="0" rIns="0" bIns="0" anchor="ctr">
            <a:spAutoFit/>
          </a:bodyPr>
          <a:lstStyle/>
          <a:p>
            <a:pPr algn="l">
              <a:lnSpc>
                <a:spcPct val="100000"/>
              </a:lnSpc>
              <a:spcBef>
                <a:spcPts val="0"/>
              </a:spcBef>
              <a:spcAft>
                <a:spcPts val="400"/>
              </a:spcAft>
            </a:pPr>
            <a:r>
              <a:rPr sz="1200" b="0" i="0">
                <a:solidFill>
                  <a:srgbClr val="0F172A"/>
                </a:solidFill>
                <a:latin typeface="Segoe UI"/>
              </a:rPr>
              <a:t>Jitasha Shastri</a:t>
            </a:r>
          </a:p>
        </p:txBody>
      </p:sp>
      <p:sp>
        <p:nvSpPr>
          <p:cNvPr id="25" name="Rounded Rectangle 24"/>
          <p:cNvSpPr/>
          <p:nvPr/>
        </p:nvSpPr>
        <p:spPr>
          <a:xfrm>
            <a:off x="4526280" y="3099816"/>
            <a:ext cx="3456432" cy="713232"/>
          </a:xfrm>
          <a:prstGeom prst="roundRect">
            <a:avLst>
              <a:gd name="adj" fmla="val 12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690872" y="3255264"/>
            <a:ext cx="402336" cy="402336"/>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90872" y="3273552"/>
            <a:ext cx="402336" cy="365760"/>
          </a:xfrm>
          <a:prstGeom prst="rect">
            <a:avLst/>
          </a:prstGeom>
          <a:noFill/>
        </p:spPr>
        <p:txBody>
          <a:bodyPr wrap="square" lIns="0" tIns="0" rIns="0" bIns="0" anchor="ctr">
            <a:spAutoFit/>
          </a:bodyPr>
          <a:lstStyle/>
          <a:p>
            <a:pPr algn="ctr">
              <a:lnSpc>
                <a:spcPct val="100000"/>
              </a:lnSpc>
              <a:spcBef>
                <a:spcPts val="0"/>
              </a:spcBef>
              <a:spcAft>
                <a:spcPts val="400"/>
              </a:spcAft>
            </a:pPr>
            <a:r>
              <a:rPr sz="1200" b="0" i="0">
                <a:solidFill>
                  <a:srgbClr val="D97706"/>
                </a:solidFill>
                <a:latin typeface="Segoe UI"/>
              </a:rPr>
              <a:t>NM</a:t>
            </a:r>
          </a:p>
        </p:txBody>
      </p:sp>
      <p:sp>
        <p:nvSpPr>
          <p:cNvPr id="28" name="TextBox 27"/>
          <p:cNvSpPr txBox="1"/>
          <p:nvPr/>
        </p:nvSpPr>
        <p:spPr>
          <a:xfrm>
            <a:off x="5239512" y="3099816"/>
            <a:ext cx="2633472" cy="713232"/>
          </a:xfrm>
          <a:prstGeom prst="rect">
            <a:avLst/>
          </a:prstGeom>
          <a:noFill/>
        </p:spPr>
        <p:txBody>
          <a:bodyPr wrap="square" lIns="0" tIns="0" rIns="0" bIns="0" anchor="ctr">
            <a:spAutoFit/>
          </a:bodyPr>
          <a:lstStyle/>
          <a:p>
            <a:pPr algn="l">
              <a:lnSpc>
                <a:spcPct val="100000"/>
              </a:lnSpc>
              <a:spcBef>
                <a:spcPts val="0"/>
              </a:spcBef>
              <a:spcAft>
                <a:spcPts val="400"/>
              </a:spcAft>
            </a:pPr>
            <a:r>
              <a:rPr sz="1200" b="0" i="0">
                <a:solidFill>
                  <a:srgbClr val="0F172A"/>
                </a:solidFill>
                <a:latin typeface="Segoe UI"/>
              </a:rPr>
              <a:t>Neeraj Mahajan</a:t>
            </a:r>
          </a:p>
        </p:txBody>
      </p:sp>
      <p:sp>
        <p:nvSpPr>
          <p:cNvPr id="29" name="Rounded Rectangle 28"/>
          <p:cNvSpPr/>
          <p:nvPr/>
        </p:nvSpPr>
        <p:spPr>
          <a:xfrm>
            <a:off x="8147304" y="3099816"/>
            <a:ext cx="3456432" cy="713232"/>
          </a:xfrm>
          <a:prstGeom prst="roundRect">
            <a:avLst>
              <a:gd name="adj" fmla="val 12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311896" y="3255264"/>
            <a:ext cx="402336" cy="40233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11896" y="3273552"/>
            <a:ext cx="402336" cy="365760"/>
          </a:xfrm>
          <a:prstGeom prst="rect">
            <a:avLst/>
          </a:prstGeom>
          <a:noFill/>
        </p:spPr>
        <p:txBody>
          <a:bodyPr wrap="square" lIns="0" tIns="0" rIns="0" bIns="0" anchor="ctr">
            <a:spAutoFit/>
          </a:bodyPr>
          <a:lstStyle/>
          <a:p>
            <a:pPr algn="ctr">
              <a:lnSpc>
                <a:spcPct val="100000"/>
              </a:lnSpc>
              <a:spcBef>
                <a:spcPts val="0"/>
              </a:spcBef>
              <a:spcAft>
                <a:spcPts val="400"/>
              </a:spcAft>
            </a:pPr>
            <a:r>
              <a:rPr sz="1200" b="0" i="0">
                <a:solidFill>
                  <a:srgbClr val="7C3AED"/>
                </a:solidFill>
                <a:latin typeface="Segoe UI"/>
              </a:rPr>
              <a:t>KD</a:t>
            </a:r>
          </a:p>
        </p:txBody>
      </p:sp>
      <p:sp>
        <p:nvSpPr>
          <p:cNvPr id="32" name="TextBox 31"/>
          <p:cNvSpPr txBox="1"/>
          <p:nvPr/>
        </p:nvSpPr>
        <p:spPr>
          <a:xfrm>
            <a:off x="8860536" y="3099816"/>
            <a:ext cx="2633472" cy="713232"/>
          </a:xfrm>
          <a:prstGeom prst="rect">
            <a:avLst/>
          </a:prstGeom>
          <a:noFill/>
        </p:spPr>
        <p:txBody>
          <a:bodyPr wrap="square" lIns="0" tIns="0" rIns="0" bIns="0" anchor="ctr">
            <a:spAutoFit/>
          </a:bodyPr>
          <a:lstStyle/>
          <a:p>
            <a:pPr algn="l">
              <a:lnSpc>
                <a:spcPct val="100000"/>
              </a:lnSpc>
              <a:spcBef>
                <a:spcPts val="0"/>
              </a:spcBef>
              <a:spcAft>
                <a:spcPts val="400"/>
              </a:spcAft>
            </a:pPr>
            <a:r>
              <a:rPr sz="1200" b="0" i="0">
                <a:solidFill>
                  <a:srgbClr val="0F172A"/>
                </a:solidFill>
                <a:latin typeface="Segoe UI"/>
              </a:rPr>
              <a:t>Kalpesh Dangare</a:t>
            </a:r>
          </a:p>
        </p:txBody>
      </p:sp>
      <p:sp>
        <p:nvSpPr>
          <p:cNvPr id="33" name="Rounded Rectangle 32"/>
          <p:cNvSpPr/>
          <p:nvPr/>
        </p:nvSpPr>
        <p:spPr>
          <a:xfrm>
            <a:off x="4526280" y="3959352"/>
            <a:ext cx="3456432" cy="713232"/>
          </a:xfrm>
          <a:prstGeom prst="roundRect">
            <a:avLst>
              <a:gd name="adj" fmla="val 12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4690872" y="4114800"/>
            <a:ext cx="402336" cy="402336"/>
          </a:xfrm>
          <a:prstGeom prst="roundRect">
            <a:avLst>
              <a:gd name="adj" fmla="val 50000"/>
            </a:avLst>
          </a:prstGeom>
          <a:solidFill>
            <a:srgbClr val="FC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90872" y="4133088"/>
            <a:ext cx="402336" cy="365760"/>
          </a:xfrm>
          <a:prstGeom prst="rect">
            <a:avLst/>
          </a:prstGeom>
          <a:noFill/>
        </p:spPr>
        <p:txBody>
          <a:bodyPr wrap="square" lIns="0" tIns="0" rIns="0" bIns="0" anchor="ctr">
            <a:spAutoFit/>
          </a:bodyPr>
          <a:lstStyle/>
          <a:p>
            <a:pPr algn="ctr">
              <a:lnSpc>
                <a:spcPct val="100000"/>
              </a:lnSpc>
              <a:spcBef>
                <a:spcPts val="0"/>
              </a:spcBef>
              <a:spcAft>
                <a:spcPts val="400"/>
              </a:spcAft>
            </a:pPr>
            <a:r>
              <a:rPr sz="1200" b="0" i="0">
                <a:solidFill>
                  <a:srgbClr val="DB2777"/>
                </a:solidFill>
                <a:latin typeface="Segoe UI"/>
              </a:rPr>
              <a:t>HD</a:t>
            </a:r>
          </a:p>
        </p:txBody>
      </p:sp>
      <p:sp>
        <p:nvSpPr>
          <p:cNvPr id="36" name="TextBox 35"/>
          <p:cNvSpPr txBox="1"/>
          <p:nvPr/>
        </p:nvSpPr>
        <p:spPr>
          <a:xfrm>
            <a:off x="5239512" y="3959352"/>
            <a:ext cx="2633472" cy="713232"/>
          </a:xfrm>
          <a:prstGeom prst="rect">
            <a:avLst/>
          </a:prstGeom>
          <a:noFill/>
        </p:spPr>
        <p:txBody>
          <a:bodyPr wrap="square" lIns="0" tIns="0" rIns="0" bIns="0" anchor="ctr">
            <a:spAutoFit/>
          </a:bodyPr>
          <a:lstStyle/>
          <a:p>
            <a:pPr algn="l">
              <a:lnSpc>
                <a:spcPct val="100000"/>
              </a:lnSpc>
              <a:spcBef>
                <a:spcPts val="0"/>
              </a:spcBef>
              <a:spcAft>
                <a:spcPts val="400"/>
              </a:spcAft>
            </a:pPr>
            <a:r>
              <a:rPr sz="1200" b="0" i="0">
                <a:solidFill>
                  <a:srgbClr val="0F172A"/>
                </a:solidFill>
                <a:latin typeface="Segoe UI"/>
              </a:rPr>
              <a:t>Hema D</a:t>
            </a:r>
          </a:p>
        </p:txBody>
      </p:sp>
      <p:sp>
        <p:nvSpPr>
          <p:cNvPr id="37" name="Rounded Rectangle 36"/>
          <p:cNvSpPr/>
          <p:nvPr/>
        </p:nvSpPr>
        <p:spPr>
          <a:xfrm>
            <a:off x="8147304" y="3959352"/>
            <a:ext cx="3456432" cy="713232"/>
          </a:xfrm>
          <a:prstGeom prst="roundRect">
            <a:avLst>
              <a:gd name="adj" fmla="val 12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8311896" y="4114800"/>
            <a:ext cx="402336" cy="402336"/>
          </a:xfrm>
          <a:prstGeom prst="roundRect">
            <a:avLst>
              <a:gd name="adj" fmla="val 50000"/>
            </a:avLst>
          </a:prstGeom>
          <a:solidFill>
            <a:srgbClr val="CF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311896" y="4133088"/>
            <a:ext cx="402336" cy="365760"/>
          </a:xfrm>
          <a:prstGeom prst="rect">
            <a:avLst/>
          </a:prstGeom>
          <a:noFill/>
        </p:spPr>
        <p:txBody>
          <a:bodyPr wrap="square" lIns="0" tIns="0" rIns="0" bIns="0" anchor="ctr">
            <a:spAutoFit/>
          </a:bodyPr>
          <a:lstStyle/>
          <a:p>
            <a:pPr algn="ctr">
              <a:lnSpc>
                <a:spcPct val="100000"/>
              </a:lnSpc>
              <a:spcBef>
                <a:spcPts val="0"/>
              </a:spcBef>
              <a:spcAft>
                <a:spcPts val="400"/>
              </a:spcAft>
            </a:pPr>
            <a:r>
              <a:rPr sz="1200" b="0" i="0">
                <a:solidFill>
                  <a:srgbClr val="0891B2"/>
                </a:solidFill>
                <a:latin typeface="Segoe UI"/>
              </a:rPr>
              <a:t>HP</a:t>
            </a:r>
          </a:p>
        </p:txBody>
      </p:sp>
      <p:sp>
        <p:nvSpPr>
          <p:cNvPr id="40" name="TextBox 39"/>
          <p:cNvSpPr txBox="1"/>
          <p:nvPr/>
        </p:nvSpPr>
        <p:spPr>
          <a:xfrm>
            <a:off x="8860536" y="3959352"/>
            <a:ext cx="2633472" cy="713232"/>
          </a:xfrm>
          <a:prstGeom prst="rect">
            <a:avLst/>
          </a:prstGeom>
          <a:noFill/>
        </p:spPr>
        <p:txBody>
          <a:bodyPr wrap="square" lIns="0" tIns="0" rIns="0" bIns="0" anchor="ctr">
            <a:spAutoFit/>
          </a:bodyPr>
          <a:lstStyle/>
          <a:p>
            <a:pPr algn="l">
              <a:lnSpc>
                <a:spcPct val="100000"/>
              </a:lnSpc>
              <a:spcBef>
                <a:spcPts val="0"/>
              </a:spcBef>
              <a:spcAft>
                <a:spcPts val="400"/>
              </a:spcAft>
            </a:pPr>
            <a:r>
              <a:rPr sz="1200" b="0" i="0">
                <a:solidFill>
                  <a:srgbClr val="0F172A"/>
                </a:solidFill>
                <a:latin typeface="Segoe UI"/>
              </a:rPr>
              <a:t>Hardik Parchani</a:t>
            </a:r>
          </a:p>
        </p:txBody>
      </p:sp>
      <p:sp>
        <p:nvSpPr>
          <p:cNvPr id="41" name="Rounded Rectangle 40"/>
          <p:cNvSpPr/>
          <p:nvPr/>
        </p:nvSpPr>
        <p:spPr>
          <a:xfrm>
            <a:off x="4526280" y="4818888"/>
            <a:ext cx="3456432" cy="713232"/>
          </a:xfrm>
          <a:prstGeom prst="roundRect">
            <a:avLst>
              <a:gd name="adj" fmla="val 12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4690872" y="4974336"/>
            <a:ext cx="402336" cy="402336"/>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690872" y="4992624"/>
            <a:ext cx="402336" cy="365760"/>
          </a:xfrm>
          <a:prstGeom prst="rect">
            <a:avLst/>
          </a:prstGeom>
          <a:noFill/>
        </p:spPr>
        <p:txBody>
          <a:bodyPr wrap="square" lIns="0" tIns="0" rIns="0" bIns="0" anchor="ctr">
            <a:spAutoFit/>
          </a:bodyPr>
          <a:lstStyle/>
          <a:p>
            <a:pPr algn="ctr">
              <a:lnSpc>
                <a:spcPct val="100000"/>
              </a:lnSpc>
              <a:spcBef>
                <a:spcPts val="0"/>
              </a:spcBef>
              <a:spcAft>
                <a:spcPts val="400"/>
              </a:spcAft>
            </a:pPr>
            <a:r>
              <a:rPr sz="1200" b="0" i="0">
                <a:solidFill>
                  <a:srgbClr val="1D4ED8"/>
                </a:solidFill>
                <a:latin typeface="Segoe UI"/>
              </a:rPr>
              <a:t>SD</a:t>
            </a:r>
          </a:p>
        </p:txBody>
      </p:sp>
      <p:sp>
        <p:nvSpPr>
          <p:cNvPr id="44" name="TextBox 43"/>
          <p:cNvSpPr txBox="1"/>
          <p:nvPr/>
        </p:nvSpPr>
        <p:spPr>
          <a:xfrm>
            <a:off x="5239512" y="4818888"/>
            <a:ext cx="2633472" cy="713232"/>
          </a:xfrm>
          <a:prstGeom prst="rect">
            <a:avLst/>
          </a:prstGeom>
          <a:noFill/>
        </p:spPr>
        <p:txBody>
          <a:bodyPr wrap="square" lIns="0" tIns="0" rIns="0" bIns="0" anchor="ctr">
            <a:spAutoFit/>
          </a:bodyPr>
          <a:lstStyle/>
          <a:p>
            <a:pPr algn="l">
              <a:lnSpc>
                <a:spcPct val="100000"/>
              </a:lnSpc>
              <a:spcBef>
                <a:spcPts val="0"/>
              </a:spcBef>
              <a:spcAft>
                <a:spcPts val="400"/>
              </a:spcAft>
            </a:pPr>
            <a:r>
              <a:rPr sz="1200" b="0" i="0">
                <a:solidFill>
                  <a:srgbClr val="0F172A"/>
                </a:solidFill>
                <a:latin typeface="Segoe UI"/>
              </a:rPr>
              <a:t>Sidharth Dhanuka</a:t>
            </a:r>
          </a:p>
        </p:txBody>
      </p:sp>
      <p:sp>
        <p:nvSpPr>
          <p:cNvPr id="45" name="Rounded Rectangle 44"/>
          <p:cNvSpPr/>
          <p:nvPr/>
        </p:nvSpPr>
        <p:spPr>
          <a:xfrm>
            <a:off x="8147304" y="4818888"/>
            <a:ext cx="3456432" cy="713232"/>
          </a:xfrm>
          <a:prstGeom prst="roundRect">
            <a:avLst>
              <a:gd name="adj" fmla="val 12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8311896" y="4974336"/>
            <a:ext cx="402336" cy="402336"/>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311896" y="4992624"/>
            <a:ext cx="402336" cy="365760"/>
          </a:xfrm>
          <a:prstGeom prst="rect">
            <a:avLst/>
          </a:prstGeom>
          <a:noFill/>
        </p:spPr>
        <p:txBody>
          <a:bodyPr wrap="square" lIns="0" tIns="0" rIns="0" bIns="0" anchor="ctr">
            <a:spAutoFit/>
          </a:bodyPr>
          <a:lstStyle/>
          <a:p>
            <a:pPr algn="ctr">
              <a:lnSpc>
                <a:spcPct val="100000"/>
              </a:lnSpc>
              <a:spcBef>
                <a:spcPts val="0"/>
              </a:spcBef>
              <a:spcAft>
                <a:spcPts val="400"/>
              </a:spcAft>
            </a:pPr>
            <a:r>
              <a:rPr sz="1200" b="0" i="0">
                <a:solidFill>
                  <a:srgbClr val="059669"/>
                </a:solidFill>
                <a:latin typeface="Segoe UI"/>
              </a:rPr>
              <a:t>NN</a:t>
            </a:r>
          </a:p>
        </p:txBody>
      </p:sp>
      <p:sp>
        <p:nvSpPr>
          <p:cNvPr id="48" name="TextBox 47"/>
          <p:cNvSpPr txBox="1"/>
          <p:nvPr/>
        </p:nvSpPr>
        <p:spPr>
          <a:xfrm>
            <a:off x="8860536" y="4818888"/>
            <a:ext cx="2633472" cy="713232"/>
          </a:xfrm>
          <a:prstGeom prst="rect">
            <a:avLst/>
          </a:prstGeom>
          <a:noFill/>
        </p:spPr>
        <p:txBody>
          <a:bodyPr wrap="square" lIns="0" tIns="0" rIns="0" bIns="0" anchor="ctr">
            <a:spAutoFit/>
          </a:bodyPr>
          <a:lstStyle/>
          <a:p>
            <a:pPr algn="l">
              <a:lnSpc>
                <a:spcPct val="100000"/>
              </a:lnSpc>
              <a:spcBef>
                <a:spcPts val="0"/>
              </a:spcBef>
              <a:spcAft>
                <a:spcPts val="400"/>
              </a:spcAft>
            </a:pPr>
            <a:r>
              <a:rPr sz="1200" b="0" i="0">
                <a:solidFill>
                  <a:srgbClr val="0F172A"/>
                </a:solidFill>
                <a:latin typeface="Segoe UI"/>
              </a:rPr>
              <a:t>Nihar Nitin Bhosale</a:t>
            </a:r>
          </a:p>
        </p:txBody>
      </p:sp>
      <p:sp>
        <p:nvSpPr>
          <p:cNvPr id="49" name="Rounded Rectangle 48"/>
          <p:cNvSpPr/>
          <p:nvPr/>
        </p:nvSpPr>
        <p:spPr>
          <a:xfrm>
            <a:off x="4526280" y="5678424"/>
            <a:ext cx="3456432" cy="713232"/>
          </a:xfrm>
          <a:prstGeom prst="roundRect">
            <a:avLst>
              <a:gd name="adj" fmla="val 12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4690872" y="5833872"/>
            <a:ext cx="402336" cy="402336"/>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690872" y="5852160"/>
            <a:ext cx="402336" cy="365760"/>
          </a:xfrm>
          <a:prstGeom prst="rect">
            <a:avLst/>
          </a:prstGeom>
          <a:noFill/>
        </p:spPr>
        <p:txBody>
          <a:bodyPr wrap="square" lIns="0" tIns="0" rIns="0" bIns="0" anchor="ctr">
            <a:spAutoFit/>
          </a:bodyPr>
          <a:lstStyle/>
          <a:p>
            <a:pPr algn="ctr">
              <a:lnSpc>
                <a:spcPct val="100000"/>
              </a:lnSpc>
              <a:spcBef>
                <a:spcPts val="0"/>
              </a:spcBef>
              <a:spcAft>
                <a:spcPts val="400"/>
              </a:spcAft>
            </a:pPr>
            <a:r>
              <a:rPr sz="1200" b="0" i="0">
                <a:solidFill>
                  <a:srgbClr val="D97706"/>
                </a:solidFill>
                <a:latin typeface="Segoe UI"/>
              </a:rPr>
              <a:t>GS</a:t>
            </a:r>
          </a:p>
        </p:txBody>
      </p:sp>
      <p:sp>
        <p:nvSpPr>
          <p:cNvPr id="52" name="TextBox 51"/>
          <p:cNvSpPr txBox="1"/>
          <p:nvPr/>
        </p:nvSpPr>
        <p:spPr>
          <a:xfrm>
            <a:off x="5239512" y="5678424"/>
            <a:ext cx="2633472" cy="713232"/>
          </a:xfrm>
          <a:prstGeom prst="rect">
            <a:avLst/>
          </a:prstGeom>
          <a:noFill/>
        </p:spPr>
        <p:txBody>
          <a:bodyPr wrap="square" lIns="0" tIns="0" rIns="0" bIns="0" anchor="ctr">
            <a:spAutoFit/>
          </a:bodyPr>
          <a:lstStyle/>
          <a:p>
            <a:pPr algn="l">
              <a:lnSpc>
                <a:spcPct val="100000"/>
              </a:lnSpc>
              <a:spcBef>
                <a:spcPts val="0"/>
              </a:spcBef>
              <a:spcAft>
                <a:spcPts val="400"/>
              </a:spcAft>
            </a:pPr>
            <a:r>
              <a:rPr sz="1200" b="0" i="0">
                <a:solidFill>
                  <a:srgbClr val="0F172A"/>
                </a:solidFill>
                <a:latin typeface="Segoe UI"/>
              </a:rPr>
              <a:t>Gurpreet Singh Saluja</a:t>
            </a:r>
          </a:p>
        </p:txBody>
      </p:sp>
      <p:sp>
        <p:nvSpPr>
          <p:cNvPr id="53" name="Rounded Rectangle 52"/>
          <p:cNvSpPr/>
          <p:nvPr/>
        </p:nvSpPr>
        <p:spPr>
          <a:xfrm>
            <a:off x="8147304" y="5678424"/>
            <a:ext cx="3456432" cy="713232"/>
          </a:xfrm>
          <a:prstGeom prst="roundRect">
            <a:avLst>
              <a:gd name="adj" fmla="val 12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8311896" y="5833872"/>
            <a:ext cx="402336" cy="40233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311896" y="5852160"/>
            <a:ext cx="402336" cy="365760"/>
          </a:xfrm>
          <a:prstGeom prst="rect">
            <a:avLst/>
          </a:prstGeom>
          <a:noFill/>
        </p:spPr>
        <p:txBody>
          <a:bodyPr wrap="square" lIns="0" tIns="0" rIns="0" bIns="0" anchor="ctr">
            <a:spAutoFit/>
          </a:bodyPr>
          <a:lstStyle/>
          <a:p>
            <a:pPr algn="ctr">
              <a:lnSpc>
                <a:spcPct val="100000"/>
              </a:lnSpc>
              <a:spcBef>
                <a:spcPts val="0"/>
              </a:spcBef>
              <a:spcAft>
                <a:spcPts val="400"/>
              </a:spcAft>
            </a:pPr>
            <a:r>
              <a:rPr sz="1200" b="0" i="0">
                <a:solidFill>
                  <a:srgbClr val="7C3AED"/>
                </a:solidFill>
                <a:latin typeface="Segoe UI"/>
              </a:rPr>
              <a:t>RR</a:t>
            </a:r>
          </a:p>
        </p:txBody>
      </p:sp>
      <p:sp>
        <p:nvSpPr>
          <p:cNvPr id="56" name="TextBox 55"/>
          <p:cNvSpPr txBox="1"/>
          <p:nvPr/>
        </p:nvSpPr>
        <p:spPr>
          <a:xfrm>
            <a:off x="8860536" y="5678424"/>
            <a:ext cx="2633472" cy="713232"/>
          </a:xfrm>
          <a:prstGeom prst="rect">
            <a:avLst/>
          </a:prstGeom>
          <a:noFill/>
        </p:spPr>
        <p:txBody>
          <a:bodyPr wrap="square" lIns="0" tIns="0" rIns="0" bIns="0" anchor="ctr">
            <a:spAutoFit/>
          </a:bodyPr>
          <a:lstStyle/>
          <a:p>
            <a:pPr algn="l">
              <a:lnSpc>
                <a:spcPct val="100000"/>
              </a:lnSpc>
              <a:spcBef>
                <a:spcPts val="0"/>
              </a:spcBef>
              <a:spcAft>
                <a:spcPts val="400"/>
              </a:spcAft>
            </a:pPr>
            <a:r>
              <a:rPr sz="1200" b="0" i="0">
                <a:solidFill>
                  <a:srgbClr val="0F172A"/>
                </a:solidFill>
                <a:latin typeface="Segoe UI"/>
              </a:rPr>
              <a:t>Riya Rajesh Saraiya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91440"/>
            <a:ext cx="12374575" cy="704088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2194560"/>
            <a:ext cx="12191695" cy="1097280"/>
          </a:xfrm>
          <a:prstGeom prst="rect">
            <a:avLst/>
          </a:prstGeom>
          <a:noFill/>
        </p:spPr>
        <p:txBody>
          <a:bodyPr wrap="square" lIns="0" tIns="0" rIns="0" bIns="0" anchor="t">
            <a:spAutoFit/>
          </a:bodyPr>
          <a:lstStyle/>
          <a:p>
            <a:pPr algn="ctr">
              <a:lnSpc>
                <a:spcPct val="100000"/>
              </a:lnSpc>
              <a:spcBef>
                <a:spcPts val="0"/>
              </a:spcBef>
              <a:spcAft>
                <a:spcPts val="400"/>
              </a:spcAft>
            </a:pPr>
            <a:r>
              <a:rPr sz="5800" b="0" i="0">
                <a:solidFill>
                  <a:srgbClr val="FFFFFF"/>
                </a:solidFill>
                <a:latin typeface="Segoe UI"/>
              </a:rPr>
              <a:t>Thank you</a:t>
            </a:r>
          </a:p>
        </p:txBody>
      </p:sp>
      <p:sp>
        <p:nvSpPr>
          <p:cNvPr id="5" name="TextBox 4"/>
          <p:cNvSpPr txBox="1"/>
          <p:nvPr/>
        </p:nvSpPr>
        <p:spPr>
          <a:xfrm>
            <a:off x="0" y="3383280"/>
            <a:ext cx="12191695" cy="548640"/>
          </a:xfrm>
          <a:prstGeom prst="rect">
            <a:avLst/>
          </a:prstGeom>
          <a:noFill/>
        </p:spPr>
        <p:txBody>
          <a:bodyPr wrap="square" lIns="0" tIns="0" rIns="0" bIns="0" anchor="t">
            <a:spAutoFit/>
          </a:bodyPr>
          <a:lstStyle/>
          <a:p>
            <a:pPr algn="ctr">
              <a:lnSpc>
                <a:spcPct val="100000"/>
              </a:lnSpc>
              <a:spcBef>
                <a:spcPts val="0"/>
              </a:spcBef>
              <a:spcAft>
                <a:spcPts val="400"/>
              </a:spcAft>
            </a:pPr>
            <a:r>
              <a:rPr sz="1800" b="0" i="0">
                <a:solidFill>
                  <a:srgbClr val="93C5FD"/>
                </a:solidFill>
                <a:latin typeface="Segoe UI"/>
              </a:rPr>
              <a:t>Questions &amp; discussion welcome</a:t>
            </a:r>
          </a:p>
        </p:txBody>
      </p:sp>
      <p:sp>
        <p:nvSpPr>
          <p:cNvPr id="6" name="Rectangle 5"/>
          <p:cNvSpPr/>
          <p:nvPr/>
        </p:nvSpPr>
        <p:spPr>
          <a:xfrm>
            <a:off x="4724247" y="4114800"/>
            <a:ext cx="2743200" cy="18288"/>
          </a:xfrm>
          <a:prstGeom prst="rect">
            <a:avLst/>
          </a:prstGeom>
          <a:solidFill>
            <a:srgbClr val="334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0" y="4343400"/>
            <a:ext cx="12191695" cy="457200"/>
          </a:xfrm>
          <a:prstGeom prst="rect">
            <a:avLst/>
          </a:prstGeom>
          <a:noFill/>
        </p:spPr>
        <p:txBody>
          <a:bodyPr wrap="square" lIns="0" tIns="0" rIns="0" bIns="0" anchor="t">
            <a:spAutoFit/>
          </a:bodyPr>
          <a:lstStyle/>
          <a:p>
            <a:pPr algn="ctr">
              <a:lnSpc>
                <a:spcPct val="100000"/>
              </a:lnSpc>
              <a:spcBef>
                <a:spcPts val="0"/>
              </a:spcBef>
              <a:spcAft>
                <a:spcPts val="400"/>
              </a:spcAft>
            </a:pPr>
            <a:r>
              <a:rPr sz="1400" b="1" i="0">
                <a:solidFill>
                  <a:srgbClr val="FFFFFF"/>
                </a:solidFill>
                <a:latin typeface="Segoe UI"/>
              </a:rPr>
              <a:t>AlgoLab</a:t>
            </a:r>
            <a:r>
              <a:rPr sz="1400" b="0" i="0">
                <a:solidFill>
                  <a:srgbClr val="C7D2FE"/>
                </a:solidFill>
                <a:latin typeface="Segoe UI"/>
              </a:rPr>
              <a:t>  —  End-to-End Algorithmic Trading System with Backtesting &amp; Risk Control</a:t>
            </a:r>
          </a:p>
        </p:txBody>
      </p:sp>
      <p:sp>
        <p:nvSpPr>
          <p:cNvPr id="8" name="TextBox 7"/>
          <p:cNvSpPr txBox="1"/>
          <p:nvPr/>
        </p:nvSpPr>
        <p:spPr>
          <a:xfrm>
            <a:off x="0" y="4846320"/>
            <a:ext cx="12191695" cy="365760"/>
          </a:xfrm>
          <a:prstGeom prst="rect">
            <a:avLst/>
          </a:prstGeom>
          <a:noFill/>
        </p:spPr>
        <p:txBody>
          <a:bodyPr wrap="square" lIns="0" tIns="0" rIns="0" bIns="0" anchor="t">
            <a:spAutoFit/>
          </a:bodyPr>
          <a:lstStyle/>
          <a:p>
            <a:pPr algn="ctr">
              <a:lnSpc>
                <a:spcPct val="100000"/>
              </a:lnSpc>
              <a:spcBef>
                <a:spcPts val="0"/>
              </a:spcBef>
              <a:spcAft>
                <a:spcPts val="400"/>
              </a:spcAft>
            </a:pPr>
            <a:r>
              <a:rPr sz="1150" b="0" i="0">
                <a:solidFill>
                  <a:srgbClr val="94A3B8"/>
                </a:solidFill>
                <a:latin typeface="Segoe UI"/>
              </a:rPr>
              <a:t>IIM Mumbai  ·  Capstone Project  ·  Group 6  ·  Advisor: Prof. Rakesh Verma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4761</Words>
  <Application>Microsoft Office PowerPoint</Application>
  <PresentationFormat>Widescreen</PresentationFormat>
  <Paragraphs>370</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Gurpreet Saluja</cp:lastModifiedBy>
  <cp:revision>1</cp:revision>
  <dcterms:created xsi:type="dcterms:W3CDTF">2013-01-27T09:14:16Z</dcterms:created>
  <dcterms:modified xsi:type="dcterms:W3CDTF">2026-05-24T12:43:18Z</dcterms:modified>
  <cp:category/>
</cp:coreProperties>
</file>